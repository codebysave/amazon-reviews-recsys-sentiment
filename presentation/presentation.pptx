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Recensioni</c:v>
                </c:pt>
              </c:strCache>
            </c:strRef>
          </c:tx>
          <c:spPr>
            <a:solidFill>
              <a:srgbClr val="1D4E89"/>
            </a:solidFill>
            <a:effectLst/>
          </c:spPr>
          <c:invertIfNegative val="0"/>
          <c:dLbls>
            <c:numFmt formatCode="#,##0" sourceLinked="0"/>
            <c:txPr>
              <a:bodyPr/>
              <a:lstStyle/>
              <a:p>
                <a:pPr>
                  <a:defRPr b="0" i="0" strike="noStrike" sz="1000" u="none">
                    <a:solidFill>
                      <a:srgbClr val="1F2A37"/>
                    </a:solidFill>
                    <a:latin typeface="Calibri"/>
                  </a:defRPr>
                </a:pPr>
              </a:p>
            </c:txPr>
            <c:showLegendKey val="0"/>
            <c:showVal val="0"/>
            <c:showCatName val="0"/>
            <c:showSerName val="0"/>
            <c:showPercent val="0"/>
            <c:showBubbleSize val="0"/>
            <c:showLeaderLines val="0"/>
          </c:dLbls>
          <c:dPt>
            <c:idx val="0"/>
            <c:invertIfNegative val="0"/>
            <c:bubble3D val="0"/>
            <c:spPr>
              <a:solidFill>
                <a:srgbClr val="1D4E89"/>
              </a:solidFill>
              <a:effectLst/>
            </c:spPr>
          </c:dPt>
          <c:dPt>
            <c:idx val="1"/>
            <c:invertIfNegative val="0"/>
            <c:bubble3D val="0"/>
            <c:spPr>
              <a:solidFill>
                <a:srgbClr val="4C7FB8"/>
              </a:solidFill>
              <a:effectLst/>
            </c:spPr>
          </c:dPt>
          <c:dPt>
            <c:idx val="2"/>
            <c:invertIfNegative val="0"/>
            <c:bubble3D val="0"/>
            <c:spPr>
              <a:solidFill>
                <a:srgbClr val="8FB3D9"/>
              </a:solidFill>
              <a:effectLst/>
            </c:spPr>
          </c:dPt>
          <c:dPt>
            <c:idx val="3"/>
            <c:invertIfNegative val="0"/>
            <c:bubble3D val="0"/>
            <c:spPr>
              <a:solidFill>
                <a:srgbClr val="C3D7EC"/>
              </a:solidFill>
              <a:effectLst/>
            </c:spPr>
          </c:dPt>
          <c:cat>
            <c:multiLvlStrRef>
              <c:f>Sheet1!$A$2:$A$5</c:f>
              <c:multiLvlStrCache>
                <c:ptCount val="4"/>
                <c:lvl>
                  <c:pt idx="0">
                    <c:v>Tetti dimensionali   141.863</c:v>
                  </c:pt>
                  <c:pt idx="1">
                    <c:v>k-core, k = 5   463.509</c:v>
                  </c:pt>
                  <c:pt idx="2">
                    <c:v>Deduplicazione   997.406</c:v>
                  </c:pt>
                  <c:pt idx="3">
                    <c:v>Campione   1.000.000</c:v>
                  </c:pt>
                </c:lvl>
              </c:multiLvlStrCache>
            </c:multiLvlStrRef>
          </c:cat>
          <c:val>
            <c:numRef>
              <c:f>Sheet1!$B$2:$B$5</c:f>
              <c:numCache>
                <c:formatCode>General</c:formatCode>
                <c:ptCount val="4"/>
                <c:pt idx="0">
                  <c:v>141863</c:v>
                </c:pt>
                <c:pt idx="1">
                  <c:v>463509</c:v>
                </c:pt>
                <c:pt idx="2">
                  <c:v>997406</c:v>
                </c:pt>
                <c:pt idx="3">
                  <c:v>1000000</c:v>
                </c:pt>
              </c:numCache>
            </c:numRef>
          </c:val>
        </c:ser>
        <c:dLbls>
          <c:numFmt formatCode="#,##0" sourceLinked="0"/>
          <c:txPr>
            <a:bodyPr/>
            <a:lstStyle/>
            <a:p>
              <a:pPr>
                <a:defRPr b="0" i="0" strike="noStrike" sz="1000" u="none">
                  <a:solidFill>
                    <a:srgbClr val="1F2A37"/>
                  </a:solidFill>
                  <a:latin typeface="Calibri"/>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A37"/>
                </a:solidFill>
                <a:latin typeface="Calibri"/>
              </a:defRPr>
            </a:pPr>
            <a:endParaRPr lang="en-US"/>
          </a:p>
        </c:txPr>
        <c:crossAx val="2094734552"/>
        <c:crosses val="autoZero"/>
        <c:auto val="1"/>
        <c:lblAlgn val="ctr"/>
        <c:noMultiLvlLbl val="1"/>
      </c:catAx>
      <c:valAx>
        <c:axId val="2094734552"/>
        <c:scaling>
          <c:orientation val="minMax"/>
          <c:max val="1000000"/>
          <c:min val="0"/>
        </c:scaling>
        <c:delete val="0"/>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F8FAFC"/>
                </a:solidFill>
                <a:latin typeface="Calibri"/>
              </a:defRPr>
            </a:pPr>
            <a:endParaRPr lang="en-US"/>
          </a:p>
        </c:txPr>
        <c:crossAx val="2094734554"/>
        <c:crosses val="autoZero"/>
        <c:crossBetween val="between"/>
        <c:majorUnit val="1000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RMSE</c:v>
                </c:pt>
              </c:strCache>
            </c:strRef>
          </c:tx>
          <c:spPr>
            <a:solidFill>
              <a:srgbClr val="1D4E89"/>
            </a:solidFill>
            <a:effectLst/>
          </c:spPr>
          <c:invertIfNegative val="0"/>
          <c:dLbls>
            <c:numFmt formatCode="0.0000" sourceLinked="0"/>
            <c:txPr>
              <a:bodyPr/>
              <a:lstStyle/>
              <a:p>
                <a:pPr>
                  <a:defRPr b="0" i="0" strike="noStrike" sz="1000" u="none">
                    <a:solidFill>
                      <a:srgbClr val="1F2A3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SVD</c:v>
                  </c:pt>
                  <c:pt idx="1">
                    <c:v>K-NN (KNNBasic)</c:v>
                  </c:pt>
                </c:lvl>
              </c:multiLvlStrCache>
            </c:multiLvlStrRef>
          </c:cat>
          <c:val>
            <c:numRef>
              <c:f>Sheet1!$B$2:$B$3</c:f>
              <c:numCache>
                <c:formatCode>General</c:formatCode>
                <c:ptCount val="2"/>
                <c:pt idx="0">
                  <c:v>0.9401</c:v>
                </c:pt>
                <c:pt idx="1">
                  <c:v>1.063</c:v>
                </c:pt>
              </c:numCache>
            </c:numRef>
          </c:val>
        </c:ser>
        <c:ser>
          <c:idx val="1"/>
          <c:order val="1"/>
          <c:tx>
            <c:strRef>
              <c:f>Sheet1!$C$1</c:f>
              <c:strCache>
                <c:ptCount val="1"/>
                <c:pt idx="0">
                  <c:v>MSE</c:v>
                </c:pt>
              </c:strCache>
            </c:strRef>
          </c:tx>
          <c:spPr>
            <a:solidFill>
              <a:srgbClr val="BBD0E6"/>
            </a:solidFill>
            <a:effectLst/>
          </c:spPr>
          <c:invertIfNegative val="0"/>
          <c:dLbls>
            <c:numFmt formatCode="0.0000" sourceLinked="0"/>
            <c:txPr>
              <a:bodyPr/>
              <a:lstStyle/>
              <a:p>
                <a:pPr>
                  <a:defRPr b="0" i="0" strike="noStrike" sz="1000" u="none">
                    <a:solidFill>
                      <a:srgbClr val="1F2A3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SVD</c:v>
                  </c:pt>
                  <c:pt idx="1">
                    <c:v>K-NN (KNNBasic)</c:v>
                  </c:pt>
                </c:lvl>
              </c:multiLvlStrCache>
            </c:multiLvlStrRef>
          </c:cat>
          <c:val>
            <c:numRef>
              <c:f>Sheet1!$C$2:$C$3</c:f>
              <c:numCache>
                <c:formatCode>General</c:formatCode>
                <c:ptCount val="2"/>
                <c:pt idx="0">
                  <c:v>0.8838</c:v>
                </c:pt>
                <c:pt idx="1">
                  <c:v>1.1299</c:v>
                </c:pt>
              </c:numCache>
            </c:numRef>
          </c:val>
        </c:ser>
        <c:dLbls>
          <c:numFmt formatCode="0.0000" sourceLinked="0"/>
          <c:txPr>
            <a:bodyPr/>
            <a:lstStyle/>
            <a:p>
              <a:pPr>
                <a:defRPr b="0" i="0" strike="noStrike" sz="1000" u="none">
                  <a:solidFill>
                    <a:srgbClr val="1F2A3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1F2A37"/>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12700" cap="flat">
              <a:solidFill>
                <a:srgbClr val="E4EA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787"/>
                </a:solidFill>
                <a:latin typeface="Calibri"/>
              </a:defRPr>
            </a:pPr>
            <a:endParaRPr lang="en-US"/>
          </a:p>
        </c:txPr>
        <c:crossAx val="2094734554"/>
        <c:crosses val="autoZero"/>
        <c:crossBetween val="between"/>
        <c:majorUnit val="0.3"/>
      </c:valAx>
      <c:spPr>
        <a:noFill/>
        <a:ln>
          <a:noFill/>
        </a:ln>
        <a:effectLst/>
      </c:spPr>
    </c:plotArea>
    <c:legend>
      <c:legendPos val="t"/>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RMSE</c:v>
                </c:pt>
              </c:strCache>
            </c:strRef>
          </c:tx>
          <c:spPr>
            <a:solidFill>
              <a:srgbClr val="1D4E89"/>
            </a:solidFill>
            <a:effectLst/>
          </c:spPr>
          <c:invertIfNegative val="0"/>
          <c:dLbls>
            <c:numFmt formatCode="0.0000" sourceLinked="0"/>
            <c:txPr>
              <a:bodyPr/>
              <a:lstStyle/>
              <a:p>
                <a:pPr>
                  <a:defRPr b="0" i="0" strike="noStrike" sz="1000" u="none">
                    <a:solidFill>
                      <a:srgbClr val="1F2A37"/>
                    </a:solidFill>
                    <a:latin typeface="Calibri"/>
                  </a:defRPr>
                </a:pPr>
              </a:p>
            </c:txPr>
            <c:showLegendKey val="0"/>
            <c:showVal val="1"/>
            <c:showCatName val="0"/>
            <c:showSerName val="0"/>
            <c:showPercent val="0"/>
            <c:showBubbleSize val="0"/>
            <c:showLeaderLines val="0"/>
          </c:dLbls>
          <c:dPt>
            <c:idx val="0"/>
            <c:invertIfNegative val="0"/>
            <c:bubble3D val="0"/>
            <c:spPr>
              <a:solidFill>
                <a:srgbClr val="1D4E89"/>
              </a:solidFill>
              <a:effectLst/>
            </c:spPr>
          </c:dPt>
          <c:dPt>
            <c:idx val="1"/>
            <c:invertIfNegative val="0"/>
            <c:bubble3D val="0"/>
            <c:spPr>
              <a:solidFill>
                <a:srgbClr val="E0A93A"/>
              </a:solidFill>
              <a:effectLst/>
            </c:spPr>
          </c:dPt>
          <c:dPt>
            <c:idx val="2"/>
            <c:invertIfNegative val="0"/>
            <c:bubble3D val="0"/>
            <c:spPr>
              <a:solidFill>
                <a:srgbClr val="E0A93A"/>
              </a:solidFill>
              <a:effectLst/>
            </c:spPr>
          </c:dPt>
          <c:dPt>
            <c:idx val="3"/>
            <c:invertIfNegative val="0"/>
            <c:bubble3D val="0"/>
            <c:spPr>
              <a:solidFill>
                <a:srgbClr val="BFC7D0"/>
              </a:solidFill>
              <a:effectLst/>
            </c:spPr>
          </c:dPt>
          <c:cat>
            <c:multiLvlStrRef>
              <c:f>Sheet1!$A$2:$A$5</c:f>
              <c:multiLvlStrCache>
                <c:ptCount val="4"/>
                <c:lvl>
                  <c:pt idx="0">
                    <c:v>CF · SVD</c:v>
                  </c:pt>
                  <c:pt idx="1">
                    <c:v>CB · DistilBERT</c:v>
                  </c:pt>
                  <c:pt idx="2">
                    <c:v>CB · TF-IDF</c:v>
                  </c:pt>
                  <c:pt idx="3">
                    <c:v>CF · K-NN</c:v>
                  </c:pt>
                </c:lvl>
              </c:multiLvlStrCache>
            </c:multiLvlStrRef>
          </c:cat>
          <c:val>
            <c:numRef>
              <c:f>Sheet1!$B$2:$B$5</c:f>
              <c:numCache>
                <c:formatCode>General</c:formatCode>
                <c:ptCount val="4"/>
                <c:pt idx="0">
                  <c:v>0.9498</c:v>
                </c:pt>
                <c:pt idx="1">
                  <c:v>0.9835</c:v>
                </c:pt>
                <c:pt idx="2">
                  <c:v>0.9836</c:v>
                </c:pt>
                <c:pt idx="3">
                  <c:v>1.071</c:v>
                </c:pt>
              </c:numCache>
            </c:numRef>
          </c:val>
        </c:ser>
        <c:dLbls>
          <c:numFmt formatCode="0.0000" sourceLinked="0"/>
          <c:txPr>
            <a:bodyPr/>
            <a:lstStyle/>
            <a:p>
              <a:pPr>
                <a:defRPr b="0" i="0" strike="noStrike" sz="1000" u="none">
                  <a:solidFill>
                    <a:srgbClr val="1F2A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1F2A37"/>
                </a:solidFill>
                <a:latin typeface="Calibri"/>
              </a:defRPr>
            </a:pPr>
            <a:endParaRPr lang="en-US"/>
          </a:p>
        </c:txPr>
        <c:crossAx val="2094734552"/>
        <c:crosses val="autoZero"/>
        <c:auto val="1"/>
        <c:lblAlgn val="ctr"/>
        <c:noMultiLvlLbl val="1"/>
      </c:catAx>
      <c:valAx>
        <c:axId val="2094734552"/>
        <c:scaling>
          <c:orientation val="minMax"/>
          <c:max val="1.1"/>
          <c:min val="0.9"/>
        </c:scaling>
        <c:delete val="0"/>
        <c:axPos val="b"/>
        <c:majorGridlines>
          <c:spPr>
            <a:ln w="12700" cap="flat">
              <a:solidFill>
                <a:srgbClr val="E4EAF1"/>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6B7787"/>
                </a:solidFill>
                <a:latin typeface="Calibri"/>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Random Forest</c:v>
                </c:pt>
              </c:strCache>
            </c:strRef>
          </c:tx>
          <c:spPr>
            <a:solidFill>
              <a:srgbClr val="B7C4D1"/>
            </a:solidFill>
            <a:effectLst/>
          </c:spPr>
          <c:invertIfNegative val="0"/>
          <c:dLbls>
            <c:numFmt formatCode="0.000" sourceLinked="0"/>
            <c:txPr>
              <a:bodyPr/>
              <a:lstStyle/>
              <a:p>
                <a:pPr>
                  <a:defRPr b="0" i="0" strike="noStrike" sz="950" u="none">
                    <a:solidFill>
                      <a:srgbClr val="1F2A3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negativo</c:v>
                  </c:pt>
                  <c:pt idx="1">
                    <c:v>neutro</c:v>
                  </c:pt>
                  <c:pt idx="2">
                    <c:v>positivo</c:v>
                  </c:pt>
                </c:lvl>
              </c:multiLvlStrCache>
            </c:multiLvlStrRef>
          </c:cat>
          <c:val>
            <c:numRef>
              <c:f>Sheet1!$B$2:$B$4</c:f>
              <c:numCache>
                <c:formatCode>General</c:formatCode>
                <c:ptCount val="3"/>
                <c:pt idx="0">
                  <c:v>0.468</c:v>
                </c:pt>
                <c:pt idx="1">
                  <c:v>0.341</c:v>
                </c:pt>
                <c:pt idx="2">
                  <c:v>0.906</c:v>
                </c:pt>
              </c:numCache>
            </c:numRef>
          </c:val>
        </c:ser>
        <c:ser>
          <c:idx val="1"/>
          <c:order val="1"/>
          <c:tx>
            <c:strRef>
              <c:f>Sheet1!$C$1</c:f>
              <c:strCache>
                <c:ptCount val="1"/>
                <c:pt idx="0">
                  <c:v>LLM zero-shot</c:v>
                </c:pt>
              </c:strCache>
            </c:strRef>
          </c:tx>
          <c:spPr>
            <a:solidFill>
              <a:srgbClr val="1B8476"/>
            </a:solidFill>
            <a:effectLst/>
          </c:spPr>
          <c:invertIfNegative val="0"/>
          <c:dLbls>
            <c:numFmt formatCode="0.000" sourceLinked="0"/>
            <c:txPr>
              <a:bodyPr/>
              <a:lstStyle/>
              <a:p>
                <a:pPr>
                  <a:defRPr b="0" i="0" strike="noStrike" sz="950" u="none">
                    <a:solidFill>
                      <a:srgbClr val="1F2A3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negativo</c:v>
                  </c:pt>
                  <c:pt idx="1">
                    <c:v>neutro</c:v>
                  </c:pt>
                  <c:pt idx="2">
                    <c:v>positivo</c:v>
                  </c:pt>
                </c:lvl>
              </c:multiLvlStrCache>
            </c:multiLvlStrRef>
          </c:cat>
          <c:val>
            <c:numRef>
              <c:f>Sheet1!$C$2:$C$4</c:f>
              <c:numCache>
                <c:formatCode>General</c:formatCode>
                <c:ptCount val="3"/>
                <c:pt idx="0">
                  <c:v>0.762</c:v>
                </c:pt>
                <c:pt idx="1">
                  <c:v>0.545</c:v>
                </c:pt>
                <c:pt idx="2">
                  <c:v>0.954</c:v>
                </c:pt>
              </c:numCache>
            </c:numRef>
          </c:val>
        </c:ser>
        <c:dLbls>
          <c:numFmt formatCode="0.000" sourceLinked="0"/>
          <c:txPr>
            <a:bodyPr/>
            <a:lstStyle/>
            <a:p>
              <a:pPr>
                <a:defRPr b="0" i="0" strike="noStrike" sz="950" u="none">
                  <a:solidFill>
                    <a:srgbClr val="1F2A3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1F2A37"/>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4EA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787"/>
                </a:solidFill>
                <a:latin typeface="Calibri"/>
              </a:defRPr>
            </a:pPr>
            <a:endParaRPr lang="en-US"/>
          </a:p>
        </c:txPr>
        <c:crossAx val="2094734554"/>
        <c:crosses val="autoZero"/>
        <c:crossBetween val="between"/>
        <c:majorUnit val="0.25"/>
      </c:valAx>
      <c:spPr>
        <a:noFill/>
        <a:ln>
          <a:noFill/>
        </a:ln>
        <a:effectLst/>
      </c:spPr>
    </c:plotArea>
    <c:legend>
      <c:legendPos val="t"/>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Buongiorno. Presento il progetto di livello avanzato: un sistema di raccomandazione e un'analisi del sentiment costruiti sulla categoria Movies_and_TV di Amazon Reviews 2023, il dataset del gruppo McAuley-Lab. Il lavoro e organizzato in tre fasi incrementali, con in piu un capitolo di analisi aggiuntive oltre il programma dei laboratori.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lavoro e incrementale: le tre fasi usano informazioni sempre piu ricche. La base lavora sui soli voti, la intermedia aggiunge i metadati testuali dei film, l'avanzata lavora sul testo delle recensioni. Ho scelto di restare sui metodi e sulle librerie dei laboratori: Lab 8 per i recommender, Lab 9 per l'NLP a frequenza, Lab 10 per i transformer, Lab 6 per la classificazione, Lab 7 per il clustering, Lab 11 per l'LLM. I tre colori che vedete qui tornano su tutte le slide successive: blu per il collaborative filtering, ambra per il content-based, verde acqua per la sentiment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categoria conta 17,3 milioni di voti: troppi per la memoria di Colab. Ho letto il file in streaming con un buffer di mescolamento da 100.000 righe e seed 42, fermandomi a un milione: un campione casuale e riproducibile, non le prime righe del file che sarebbero ordinate. Poi ho tolto i duplicati utente-film tenendo il giudizio piu recente. Il filtro k-core e la scelta chiave: la matrice grezza ha una densita dello 0,0025%, cioe una cella piena su quarantamila, e il 41,6% degli utenti ha scritto una sola recensione. Con k=5 arrivo a 0,045% e dopo i tetti dimensionali a 0,284%, dieci volte la densita di partenza. I tetti su utenti e prodotti nascono dal costo quadratico delle matrici di similarita del K-NN.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collaborative filtering parte da un'idea semplice: se io e un altro utente abbiamo dato voti simili agli stessi film, mi piaceranno anche i film piaciuti a lui. Non serve sapere nulla dei film. Per il K-NN ho fatto una grid search su tre similarita, user e item-based e k in 20-30-40: vince item-based con cosine e k=40, perche i profili dei film sono piu ricchi e stabili di quelli degli utenti. Per l'SVD ho testato 50 e 100 fattori con due valori di regolarizzazione: vince la configurazione piu semplice, perche con 4.000 utenti raddoppiare i parametri produce overfitting. Attenzione a non confondere le due configurazioni: cosine e k=40 sono del K-NN, i 50 fattori sono dell'SVD. Un dettaglio del filling che mostra il limite del K-NN: sulle stesse celle riempite il K-NN produce 137.097 valori distinti, l'SVD 1.744.633, perche quando il K-NN non trova vicini ripiega sulla media globale.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raggruppare gli utenti servivano due decisioni. La prima: come rappresentarli. I voti osservati non funzionano, perche ognuno ha visto film diversi e i vettori non sono confrontabili; uso quindi il profilo ricostruito dal filling, denso per costruzione, compresso con PCA a 20 dimensioni e normalizzato L2 cosi che il K-Means lavori di fatto con la similarita coseno. La seconda: quanti gruppi, e l'ho chiesto ai dati con Elbow e Silhouette. La lettura in ottica business e che un 4 dato da un critico vale piu di un 4 dato da un generoso, e le soglie per decidere se raccomandare andrebbero calibrate sui due gruppi. Una precisazione onesta: la silhouette e misurata sui profili ricostruiti dal modello, quindi in uno spazio che l'SVD stesso favorisce.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content-based cambia la fonte del segnale: non cosa hanno votato gli utenti simili a te, ma che cosa contiene questo film. Come materiale uso titolo e descrizione dei metadati, disponibili per tutti i 12.500 film. Due embedding con filosofie opposte: TF-IDF a 20.000 termini, che pesa le parole rare e distintive, e DistilBERT, che comprime il significato in 768 numeri. Al TF-IDF do il testo pulito, al transformer il testo grezzo, perche togliere stopword e coniugazioni lo priva del contesto che lo rende forte. Per il confronto fra paradigmi ho riallenato il collaborative filtering sullo stesso split e sulle stesse coppie: nessun numero di questa slide viene da protocolli diversi, e ho usato l'SVD con i parametri predefiniti, una scelta conservativa che penalizza il CF e rende il risultato piu solido. Notate che la barra vincente e blu, cioe del colore della parte 1: vince il collaborative filtering anche nella slide del content-based.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 il problema cambia natura: non piu regressione ma classificazione a tre classi, con le etichette ricavate dal voto come chiede la traccia. Il vero avversario e lo sbilanciamento: le recensioni neutre sono la classe piu rara, perche chi ha un'opinione tiepida semplicemente non scrive. Per questo la metrica di riferimento e la F1 macro e non l'accuracy. Ho testato quattro classificatori su due rappresentazioni, TF-IDF a 10.000 termini e DistilBERT, gestendo lo sbilanciamento con class_weight bilanciato dove supportato e con oversampling dove no, sempre e solo sul training. Vince il Random Forest su TF-IDF, seguito dal Decision Tree a 0,587 e dal K-NN sugli embedding del transformer a 0,552. La matrice di confusione mostra il punto critico: delle recensioni neutre solo il 22% viene riconosciuto, il 72% finisce fra le positive, per una ragione insieme statistica e linguistica, perche una recensione da tre stelle usa spesso le stesse parole di una da quattro.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bonus risponde a una domanda attuale: un modello generalista, senza alcun addestramento sui miei dati, sa classificare il sentiment quanto un modello addestrato apposta? Ho preso 300 recensioni del test e le ho classificate una a una via Groq con langchain-groq. Il confronto e onesto perche il Random Forest e valutato sulle stesse 300 recensioni, dove fa 0,572: sull'intero test set fa 0,621, ma quel numero non sarebbe confrontabile. Tre accorgimenti scoperti sul campo si sono rivelati necessari: passare il testo grezzo, perche il preprocessing danneggia l'LLM; gestire i modelli di tipo reasoning, che nel ragionamento citano piu etichette, estraendo l'ultima menzionata; e una pausa fra le chiamate per i limiti del piano gratuito. Una avvertenza di lettura: su 300 esempi le classi rare compaiono in manciate di unita, quindi il divario e un'indicazione di direzione, non una misura precisa.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lo sviluppo mi sono venuti dei dubbi del tipo e se avessi usato. Invece di lasciarli cadere ho preparato una versione estesa del notebook in cui li ho messi alla prova in modo controllato, con lo stesso protocollo, cosi ogni differenza nei numeri e attribuibile solo alla tecnica in esame. Il secondo test e quello a cui tengo di piu: i tetti dimensionali erano nati come compromesso di memoria e mi aspettavo che togliendoli il modello migliorasse. E successo il contrario, perche piu dati non vuol dire dati migliori: gli utenti rimessi dentro sono i meno attivi e la densita crolla dallo 0,284% allo 0,045%. Il quarto e l'unico che cambierebbe una scelta progettuale: un LinearSVC ben pesato guadagna quasi nove punti di F1 macro sul Random Forest, e li guadagna proprio sulla classe che il progetto principale non doma, e in piu si addestra in un secondo contro i novantaquattro del Random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Chiudo con i tre risultati principali e con quello che mi porto a casa. Sul primo: la matrix factorization batte il K-NN dell'11,6% perche sui dati sparsi i fattori latenti generalizzano dove i vicini osservati non bastano. Sul secondo: a parita di protocollo il collaborative filtering supera il content-based, ma il distacco e di tre centesimi e il content-based resta l'unica risposta al cold-start. Sul terzo, e qui sono preciso sui numeri: il confronto fra Random Forest e LLM vale sulle stesse 300 recensioni, dove il Random Forest fa 0,572 e l'LLM 0,754; sull'intero test set il Random Forest fa 0,621, ma quel numero non e confrontabile con l'LLM perche viene da una base diversa. Grazie, resto a disposizione per le domande.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6324F"/>
          </a:solidFill>
          <a:ln w="12700">
            <a:solidFill>
              <a:srgbClr val="16324F"/>
            </a:solidFill>
            <a:prstDash val="solid"/>
          </a:ln>
        </p:spPr>
      </p:sp>
      <p:pic>
        <p:nvPicPr>
          <p:cNvPr id="3" name="Image 0" descr="/home/claude/work/uicons/watching-a-movie.png">    </p:cNvPr>
          <p:cNvPicPr>
            <a:picLocks noChangeAspect="1"/>
          </p:cNvPicPr>
          <p:nvPr/>
        </p:nvPicPr>
        <p:blipFill>
          <a:blip r:embed="rId1"/>
          <a:stretch>
            <a:fillRect/>
          </a:stretch>
        </p:blipFill>
        <p:spPr>
          <a:xfrm>
            <a:off x="548640" y="685800"/>
            <a:ext cx="1371600" cy="1371600"/>
          </a:xfrm>
          <a:prstGeom prst="rect">
            <a:avLst/>
          </a:prstGeom>
        </p:spPr>
      </p:pic>
      <p:sp>
        <p:nvSpPr>
          <p:cNvPr id="4" name="Text 1"/>
          <p:cNvSpPr txBox="1"/>
          <p:nvPr/>
        </p:nvSpPr>
        <p:spPr>
          <a:xfrm>
            <a:off x="548640" y="2743200"/>
            <a:ext cx="2743200" cy="237744"/>
          </a:xfrm>
          <a:prstGeom prst="rect">
            <a:avLst/>
          </a:prstGeom>
          <a:noFill/>
          <a:ln/>
        </p:spPr>
        <p:txBody>
          <a:bodyPr wrap="square" lIns="0" tIns="0" rIns="0" bIns="0" rtlCol="0" anchor="ctr"/>
          <a:lstStyle/>
          <a:p>
            <a:pPr indent="0" marL="0">
              <a:buNone/>
            </a:pPr>
            <a:r>
              <a:rPr lang="en-US" sz="1000" b="1" spc="200" kern="0" dirty="0">
                <a:solidFill>
                  <a:srgbClr val="BBD0E6"/>
                </a:solidFill>
                <a:latin typeface="Calibri" pitchFamily="34" charset="0"/>
                <a:ea typeface="Calibri" pitchFamily="34" charset="-122"/>
                <a:cs typeface="Calibri" pitchFamily="34" charset="-120"/>
              </a:rPr>
              <a:t>PROGETTO D'ESAME</a:t>
            </a:r>
            <a:endParaRPr lang="en-US" sz="1000" dirty="0"/>
          </a:p>
        </p:txBody>
      </p:sp>
      <p:sp>
        <p:nvSpPr>
          <p:cNvPr id="5" name="Text 2"/>
          <p:cNvSpPr txBox="1"/>
          <p:nvPr/>
        </p:nvSpPr>
        <p:spPr>
          <a:xfrm>
            <a:off x="548640" y="3017520"/>
            <a:ext cx="27432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Livello Avanzato</a:t>
            </a:r>
            <a:endParaRPr lang="en-US" sz="2200" dirty="0"/>
          </a:p>
        </p:txBody>
      </p:sp>
      <p:sp>
        <p:nvSpPr>
          <p:cNvPr id="6" name="Text 3"/>
          <p:cNvSpPr txBox="1"/>
          <p:nvPr/>
        </p:nvSpPr>
        <p:spPr>
          <a:xfrm>
            <a:off x="548640" y="3456432"/>
            <a:ext cx="2743200" cy="237744"/>
          </a:xfrm>
          <a:prstGeom prst="rect">
            <a:avLst/>
          </a:prstGeom>
          <a:noFill/>
          <a:ln/>
        </p:spPr>
        <p:txBody>
          <a:bodyPr wrap="square" lIns="0" tIns="0" rIns="0" bIns="0" rtlCol="0" anchor="ctr"/>
          <a:lstStyle/>
          <a:p>
            <a:pPr indent="0" marL="0">
              <a:buNone/>
            </a:pPr>
            <a:r>
              <a:rPr lang="en-US" sz="1050" dirty="0">
                <a:solidFill>
                  <a:srgbClr val="97AABF"/>
                </a:solidFill>
                <a:latin typeface="Calibri" pitchFamily="34" charset="0"/>
                <a:ea typeface="Calibri" pitchFamily="34" charset="-122"/>
                <a:cs typeface="Calibri" pitchFamily="34" charset="-120"/>
              </a:rPr>
              <a:t>valutazione fino a 30 e lode</a:t>
            </a:r>
            <a:endParaRPr lang="en-US" sz="1050" dirty="0"/>
          </a:p>
        </p:txBody>
      </p:sp>
      <p:sp>
        <p:nvSpPr>
          <p:cNvPr id="7" name="Shape 4"/>
          <p:cNvSpPr/>
          <p:nvPr/>
        </p:nvSpPr>
        <p:spPr>
          <a:xfrm>
            <a:off x="548640" y="5760720"/>
            <a:ext cx="274320" cy="274320"/>
          </a:xfrm>
          <a:prstGeom prst="ellipse">
            <a:avLst/>
          </a:prstGeom>
          <a:solidFill>
            <a:srgbClr val="3D7AB8"/>
          </a:solidFill>
          <a:ln w="12700">
            <a:solidFill>
              <a:srgbClr val="3D7AB8"/>
            </a:solidFill>
            <a:prstDash val="solid"/>
          </a:ln>
        </p:spPr>
      </p:sp>
      <p:sp>
        <p:nvSpPr>
          <p:cNvPr id="8" name="Text 5"/>
          <p:cNvSpPr txBox="1"/>
          <p:nvPr/>
        </p:nvSpPr>
        <p:spPr>
          <a:xfrm>
            <a:off x="932688" y="5760720"/>
            <a:ext cx="2286000" cy="274320"/>
          </a:xfrm>
          <a:prstGeom prst="rect">
            <a:avLst/>
          </a:prstGeom>
          <a:noFill/>
          <a:ln/>
        </p:spPr>
        <p:txBody>
          <a:bodyPr wrap="square" lIns="0" tIns="0" rIns="0" bIns="0" rtlCol="0" anchor="ctr"/>
          <a:lstStyle/>
          <a:p>
            <a:pPr indent="0" marL="0">
              <a:buNone/>
            </a:pPr>
            <a:r>
              <a:rPr lang="en-US" sz="1100" dirty="0">
                <a:solidFill>
                  <a:srgbClr val="D5E3F0"/>
                </a:solidFill>
                <a:latin typeface="Calibri" pitchFamily="34" charset="0"/>
                <a:ea typeface="Calibri" pitchFamily="34" charset="-122"/>
                <a:cs typeface="Calibri" pitchFamily="34" charset="-120"/>
              </a:rPr>
              <a:t>A.A. 2025 / 2026</a:t>
            </a:r>
            <a:endParaRPr lang="en-US" sz="1100" dirty="0"/>
          </a:p>
        </p:txBody>
      </p:sp>
      <p:sp>
        <p:nvSpPr>
          <p:cNvPr id="9" name="Text 6"/>
          <p:cNvSpPr txBox="1"/>
          <p:nvPr/>
        </p:nvSpPr>
        <p:spPr>
          <a:xfrm>
            <a:off x="4343400" y="1371600"/>
            <a:ext cx="7315200" cy="274320"/>
          </a:xfrm>
          <a:prstGeom prst="rect">
            <a:avLst/>
          </a:prstGeom>
          <a:noFill/>
          <a:ln/>
        </p:spPr>
        <p:txBody>
          <a:bodyPr wrap="square" lIns="0" tIns="0" rIns="0" bIns="0" rtlCol="0" anchor="ctr"/>
          <a:lstStyle/>
          <a:p>
            <a:pPr indent="0" marL="0">
              <a:buNone/>
            </a:pPr>
            <a:r>
              <a:rPr lang="en-US" sz="1100" b="1" spc="200" kern="0" dirty="0">
                <a:solidFill>
                  <a:srgbClr val="1D4E89"/>
                </a:solidFill>
                <a:latin typeface="Calibri" pitchFamily="34" charset="0"/>
                <a:ea typeface="Calibri" pitchFamily="34" charset="-122"/>
                <a:cs typeface="Calibri" pitchFamily="34" charset="-120"/>
              </a:rPr>
              <a:t>METODI INFORMATICI PER LA GESTIONE AZIENDALE</a:t>
            </a:r>
            <a:endParaRPr lang="en-US" sz="1100" dirty="0"/>
          </a:p>
        </p:txBody>
      </p:sp>
      <p:sp>
        <p:nvSpPr>
          <p:cNvPr id="10" name="Text 7"/>
          <p:cNvSpPr txBox="1"/>
          <p:nvPr/>
        </p:nvSpPr>
        <p:spPr>
          <a:xfrm>
            <a:off x="4343400" y="1783080"/>
            <a:ext cx="7498080" cy="1371600"/>
          </a:xfrm>
          <a:prstGeom prst="rect">
            <a:avLst/>
          </a:prstGeom>
          <a:noFill/>
          <a:ln/>
        </p:spPr>
        <p:txBody>
          <a:bodyPr wrap="square" lIns="0" tIns="0" rIns="0" bIns="0" rtlCol="0" anchor="ctr"/>
          <a:lstStyle/>
          <a:p>
            <a:pPr indent="0" marL="0">
              <a:lnSpc>
                <a:spcPct val="105000"/>
              </a:lnSpc>
              <a:buNone/>
            </a:pPr>
            <a:r>
              <a:rPr lang="en-US" sz="3800" b="1" dirty="0">
                <a:solidFill>
                  <a:srgbClr val="16324F"/>
                </a:solidFill>
                <a:latin typeface="Cambria" pitchFamily="34" charset="0"/>
                <a:ea typeface="Cambria" pitchFamily="34" charset="-122"/>
                <a:cs typeface="Cambria" pitchFamily="34" charset="-120"/>
              </a:rPr>
              <a:t>Sistema di raccomandazione</a:t>
            </a:r>
            <a:endParaRPr lang="en-US" sz="3800" dirty="0"/>
          </a:p>
          <a:p>
            <a:pPr indent="0" marL="0">
              <a:lnSpc>
                <a:spcPct val="105000"/>
              </a:lnSpc>
              <a:buNone/>
            </a:pPr>
            <a:r>
              <a:rPr lang="en-US" sz="3800" b="1" dirty="0">
                <a:solidFill>
                  <a:srgbClr val="16324F"/>
                </a:solidFill>
                <a:latin typeface="Cambria" pitchFamily="34" charset="0"/>
                <a:ea typeface="Cambria" pitchFamily="34" charset="-122"/>
                <a:cs typeface="Cambria" pitchFamily="34" charset="-120"/>
              </a:rPr>
              <a:t>e analisi del sentiment</a:t>
            </a:r>
            <a:endParaRPr lang="en-US" sz="3800" dirty="0"/>
          </a:p>
        </p:txBody>
      </p:sp>
      <p:sp>
        <p:nvSpPr>
          <p:cNvPr id="11" name="Text 8"/>
          <p:cNvSpPr txBox="1"/>
          <p:nvPr/>
        </p:nvSpPr>
        <p:spPr>
          <a:xfrm>
            <a:off x="4343400" y="3246120"/>
            <a:ext cx="7315200" cy="292608"/>
          </a:xfrm>
          <a:prstGeom prst="rect">
            <a:avLst/>
          </a:prstGeom>
          <a:noFill/>
          <a:ln/>
        </p:spPr>
        <p:txBody>
          <a:bodyPr wrap="square" lIns="0" tIns="0" rIns="0" bIns="0" rtlCol="0" anchor="ctr"/>
          <a:lstStyle/>
          <a:p>
            <a:pPr indent="0" marL="0">
              <a:buNone/>
            </a:pPr>
            <a:r>
              <a:rPr lang="en-US" sz="1400" i="1" dirty="0">
                <a:solidFill>
                  <a:srgbClr val="6B7787"/>
                </a:solidFill>
                <a:latin typeface="Calibri" pitchFamily="34" charset="0"/>
                <a:ea typeface="Calibri" pitchFamily="34" charset="-122"/>
                <a:cs typeface="Calibri" pitchFamily="34" charset="-120"/>
              </a:rPr>
              <a:t>Un caso di studio sulle recensioni Amazon 2023</a:t>
            </a:r>
            <a:endParaRPr lang="en-US" sz="1400" dirty="0"/>
          </a:p>
        </p:txBody>
      </p:sp>
      <p:sp>
        <p:nvSpPr>
          <p:cNvPr id="12" name="Shape 9"/>
          <p:cNvSpPr/>
          <p:nvPr/>
        </p:nvSpPr>
        <p:spPr>
          <a:xfrm>
            <a:off x="4343400" y="3703320"/>
            <a:ext cx="2606040" cy="457200"/>
          </a:xfrm>
          <a:prstGeom prst="roundRect">
            <a:avLst>
              <a:gd name="adj" fmla="val 14000"/>
            </a:avLst>
          </a:prstGeom>
          <a:solidFill>
            <a:srgbClr val="EDF2F8"/>
          </a:solidFill>
          <a:ln w="12700">
            <a:solidFill>
              <a:srgbClr val="D5DFEA"/>
            </a:solidFill>
            <a:prstDash val="solid"/>
          </a:ln>
        </p:spPr>
      </p:sp>
      <p:sp>
        <p:nvSpPr>
          <p:cNvPr id="13" name="Text 10"/>
          <p:cNvSpPr txBox="1"/>
          <p:nvPr/>
        </p:nvSpPr>
        <p:spPr>
          <a:xfrm>
            <a:off x="4343400" y="3703320"/>
            <a:ext cx="2606040" cy="457200"/>
          </a:xfrm>
          <a:prstGeom prst="rect">
            <a:avLst/>
          </a:prstGeom>
          <a:noFill/>
          <a:ln/>
        </p:spPr>
        <p:txBody>
          <a:bodyPr wrap="square" lIns="0" tIns="0" rIns="0" bIns="0" rtlCol="0" anchor="ctr"/>
          <a:lstStyle/>
          <a:p>
            <a:pPr algn="ctr" indent="0" marL="0">
              <a:buNone/>
            </a:pPr>
            <a:r>
              <a:rPr lang="en-US" sz="1150" b="1" dirty="0">
                <a:solidFill>
                  <a:srgbClr val="16324F"/>
                </a:solidFill>
                <a:latin typeface="Calibri" pitchFamily="34" charset="0"/>
                <a:ea typeface="Calibri" pitchFamily="34" charset="-122"/>
                <a:cs typeface="Calibri" pitchFamily="34" charset="-120"/>
              </a:rPr>
              <a:t>Categoria  ·  Movies_and_TV</a:t>
            </a:r>
            <a:endParaRPr lang="en-US" sz="1150" dirty="0"/>
          </a:p>
        </p:txBody>
      </p:sp>
      <p:sp>
        <p:nvSpPr>
          <p:cNvPr id="14" name="Text 11"/>
          <p:cNvSpPr txBox="1"/>
          <p:nvPr/>
        </p:nvSpPr>
        <p:spPr>
          <a:xfrm>
            <a:off x="4343400" y="5257800"/>
            <a:ext cx="3200400" cy="219456"/>
          </a:xfrm>
          <a:prstGeom prst="rect">
            <a:avLst/>
          </a:prstGeom>
          <a:noFill/>
          <a:ln/>
        </p:spPr>
        <p:txBody>
          <a:bodyPr wrap="square" lIns="0" tIns="0" rIns="0" bIns="0" rtlCol="0" anchor="ctr"/>
          <a:lstStyle/>
          <a:p>
            <a:pPr indent="0" marL="0">
              <a:buNone/>
            </a:pPr>
            <a:r>
              <a:rPr lang="en-US" sz="950" b="1" spc="150" kern="0" dirty="0">
                <a:solidFill>
                  <a:srgbClr val="6B7787"/>
                </a:solidFill>
                <a:latin typeface="Calibri" pitchFamily="34" charset="0"/>
                <a:ea typeface="Calibri" pitchFamily="34" charset="-122"/>
                <a:cs typeface="Calibri" pitchFamily="34" charset="-120"/>
              </a:rPr>
              <a:t>AUTORE</a:t>
            </a:r>
            <a:endParaRPr lang="en-US" sz="950" dirty="0"/>
          </a:p>
        </p:txBody>
      </p:sp>
      <p:sp>
        <p:nvSpPr>
          <p:cNvPr id="15" name="Text 12"/>
          <p:cNvSpPr txBox="1"/>
          <p:nvPr/>
        </p:nvSpPr>
        <p:spPr>
          <a:xfrm>
            <a:off x="4343400" y="5486400"/>
            <a:ext cx="3200400" cy="292608"/>
          </a:xfrm>
          <a:prstGeom prst="rect">
            <a:avLst/>
          </a:prstGeom>
          <a:noFill/>
          <a:ln/>
        </p:spPr>
        <p:txBody>
          <a:bodyPr wrap="square" lIns="0" tIns="0" rIns="0" bIns="0" rtlCol="0" anchor="ctr"/>
          <a:lstStyle/>
          <a:p>
            <a:pPr indent="0" marL="0">
              <a:buNone/>
            </a:pPr>
            <a:r>
              <a:rPr lang="en-US" sz="1500" b="1" dirty="0">
                <a:solidFill>
                  <a:srgbClr val="16324F"/>
                </a:solidFill>
                <a:latin typeface="Cambria" pitchFamily="34" charset="0"/>
                <a:ea typeface="Cambria" pitchFamily="34" charset="-122"/>
                <a:cs typeface="Cambria" pitchFamily="34" charset="-120"/>
              </a:rPr>
              <a:t>Andrea Saverino</a:t>
            </a:r>
            <a:endParaRPr lang="en-US" sz="1500" dirty="0"/>
          </a:p>
        </p:txBody>
      </p:sp>
      <p:sp>
        <p:nvSpPr>
          <p:cNvPr id="16" name="Text 13"/>
          <p:cNvSpPr txBox="1"/>
          <p:nvPr/>
        </p:nvSpPr>
        <p:spPr>
          <a:xfrm>
            <a:off x="4343400" y="5797296"/>
            <a:ext cx="3200400" cy="237744"/>
          </a:xfrm>
          <a:prstGeom prst="rect">
            <a:avLst/>
          </a:prstGeom>
          <a:noFill/>
          <a:ln/>
        </p:spPr>
        <p:txBody>
          <a:bodyPr wrap="square" lIns="0" tIns="0" rIns="0" bIns="0" rtlCol="0" anchor="ctr"/>
          <a:lstStyle/>
          <a:p>
            <a:pPr indent="0" marL="0">
              <a:buNone/>
            </a:pPr>
            <a:r>
              <a:rPr lang="en-US" sz="1050" dirty="0">
                <a:solidFill>
                  <a:srgbClr val="6B7787"/>
                </a:solidFill>
                <a:latin typeface="Calibri" pitchFamily="34" charset="0"/>
                <a:ea typeface="Calibri" pitchFamily="34" charset="-122"/>
                <a:cs typeface="Calibri" pitchFamily="34" charset="-120"/>
              </a:rPr>
              <a:t>Matricola 914388</a:t>
            </a:r>
            <a:endParaRPr lang="en-US" sz="1050" dirty="0"/>
          </a:p>
        </p:txBody>
      </p:sp>
      <p:sp>
        <p:nvSpPr>
          <p:cNvPr id="17" name="Text 14"/>
          <p:cNvSpPr txBox="1"/>
          <p:nvPr/>
        </p:nvSpPr>
        <p:spPr>
          <a:xfrm>
            <a:off x="8138160" y="5257800"/>
            <a:ext cx="3429000" cy="219456"/>
          </a:xfrm>
          <a:prstGeom prst="rect">
            <a:avLst/>
          </a:prstGeom>
          <a:noFill/>
          <a:ln/>
        </p:spPr>
        <p:txBody>
          <a:bodyPr wrap="square" lIns="0" tIns="0" rIns="0" bIns="0" rtlCol="0" anchor="ctr"/>
          <a:lstStyle/>
          <a:p>
            <a:pPr algn="r" indent="0" marL="0">
              <a:buNone/>
            </a:pPr>
            <a:r>
              <a:rPr lang="en-US" sz="950" b="1" spc="150" kern="0" dirty="0">
                <a:solidFill>
                  <a:srgbClr val="6B7787"/>
                </a:solidFill>
                <a:latin typeface="Calibri" pitchFamily="34" charset="0"/>
                <a:ea typeface="Calibri" pitchFamily="34" charset="-122"/>
                <a:cs typeface="Calibri" pitchFamily="34" charset="-120"/>
              </a:rPr>
              <a:t>DATASET</a:t>
            </a:r>
            <a:endParaRPr lang="en-US" sz="950" dirty="0"/>
          </a:p>
        </p:txBody>
      </p:sp>
      <p:sp>
        <p:nvSpPr>
          <p:cNvPr id="18" name="Text 15"/>
          <p:cNvSpPr txBox="1"/>
          <p:nvPr/>
        </p:nvSpPr>
        <p:spPr>
          <a:xfrm>
            <a:off x="8138160" y="5486400"/>
            <a:ext cx="3429000" cy="292608"/>
          </a:xfrm>
          <a:prstGeom prst="rect">
            <a:avLst/>
          </a:prstGeom>
          <a:noFill/>
          <a:ln/>
        </p:spPr>
        <p:txBody>
          <a:bodyPr wrap="square" lIns="0" tIns="0" rIns="0" bIns="0" rtlCol="0" anchor="ctr"/>
          <a:lstStyle/>
          <a:p>
            <a:pPr algn="r" indent="0" marL="0">
              <a:buNone/>
            </a:pPr>
            <a:r>
              <a:rPr lang="en-US" sz="1500" b="1" dirty="0">
                <a:solidFill>
                  <a:srgbClr val="16324F"/>
                </a:solidFill>
                <a:latin typeface="Cambria" pitchFamily="34" charset="0"/>
                <a:ea typeface="Cambria" pitchFamily="34" charset="-122"/>
                <a:cs typeface="Cambria" pitchFamily="34" charset="-120"/>
              </a:rPr>
              <a:t>Amazon Reviews 2023</a:t>
            </a:r>
            <a:endParaRPr lang="en-US" sz="1500" dirty="0"/>
          </a:p>
        </p:txBody>
      </p:sp>
      <p:sp>
        <p:nvSpPr>
          <p:cNvPr id="19" name="Text 16"/>
          <p:cNvSpPr txBox="1"/>
          <p:nvPr/>
        </p:nvSpPr>
        <p:spPr>
          <a:xfrm>
            <a:off x="8138160" y="5797296"/>
            <a:ext cx="3429000" cy="237744"/>
          </a:xfrm>
          <a:prstGeom prst="rect">
            <a:avLst/>
          </a:prstGeom>
          <a:noFill/>
          <a:ln/>
        </p:spPr>
        <p:txBody>
          <a:bodyPr wrap="square" lIns="0" tIns="0" rIns="0" bIns="0" rtlCol="0" anchor="ctr"/>
          <a:lstStyle/>
          <a:p>
            <a:pPr algn="r" indent="0" marL="0">
              <a:buNone/>
            </a:pPr>
            <a:r>
              <a:rPr lang="en-US" sz="1050" dirty="0">
                <a:solidFill>
                  <a:srgbClr val="6B7787"/>
                </a:solidFill>
                <a:latin typeface="Calibri" pitchFamily="34" charset="0"/>
                <a:ea typeface="Calibri" pitchFamily="34" charset="-122"/>
                <a:cs typeface="Calibri" pitchFamily="34" charset="-120"/>
              </a:rPr>
              <a:t>McAuley-Lab  ·  17,3 milioni di recensioni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pic>
        <p:nvPicPr>
          <p:cNvPr id="2" name="Image 0" descr="/home/claude/work/uicons/film-slate.png">    </p:cNvPr>
          <p:cNvPicPr>
            <a:picLocks noChangeAspect="1"/>
          </p:cNvPicPr>
          <p:nvPr/>
        </p:nvPicPr>
        <p:blipFill>
          <a:blip r:embed="rId1"/>
          <a:stretch>
            <a:fillRect/>
          </a:stretch>
        </p:blipFill>
        <p:spPr>
          <a:xfrm>
            <a:off x="11076127" y="384048"/>
            <a:ext cx="475488" cy="475488"/>
          </a:xfrm>
          <a:prstGeom prst="rect">
            <a:avLst/>
          </a:prstGeom>
        </p:spPr>
      </p:pic>
      <p:sp>
        <p:nvSpPr>
          <p:cNvPr id="3" name="Text 0"/>
          <p:cNvSpPr txBox="1"/>
          <p:nvPr/>
        </p:nvSpPr>
        <p:spPr>
          <a:xfrm>
            <a:off x="640080" y="438912"/>
            <a:ext cx="10088575" cy="237744"/>
          </a:xfrm>
          <a:prstGeom prst="rect">
            <a:avLst/>
          </a:prstGeom>
          <a:noFill/>
          <a:ln/>
        </p:spPr>
        <p:txBody>
          <a:bodyPr wrap="square" lIns="0" tIns="0" rIns="0" bIns="0" rtlCol="0" anchor="ctr"/>
          <a:lstStyle/>
          <a:p>
            <a:pPr indent="0" marL="0">
              <a:buNone/>
            </a:pPr>
            <a:r>
              <a:rPr lang="en-US" sz="1050" b="1" spc="200" kern="0" dirty="0">
                <a:solidFill>
                  <a:srgbClr val="16324F"/>
                </a:solidFill>
                <a:latin typeface="Calibri" pitchFamily="34" charset="0"/>
                <a:ea typeface="Calibri" pitchFamily="34" charset="-122"/>
                <a:cs typeface="Calibri" pitchFamily="34" charset="-120"/>
              </a:rPr>
              <a:t>IMPOSTAZIONE DEL LAVORO</a:t>
            </a:r>
            <a:endParaRPr lang="en-US" sz="1050" dirty="0"/>
          </a:p>
        </p:txBody>
      </p:sp>
      <p:sp>
        <p:nvSpPr>
          <p:cNvPr id="4" name="Text 1"/>
          <p:cNvSpPr txBox="1"/>
          <p:nvPr/>
        </p:nvSpPr>
        <p:spPr>
          <a:xfrm>
            <a:off x="640080" y="731520"/>
            <a:ext cx="10088575" cy="566928"/>
          </a:xfrm>
          <a:prstGeom prst="rect">
            <a:avLst/>
          </a:prstGeom>
          <a:noFill/>
          <a:ln/>
        </p:spPr>
        <p:txBody>
          <a:bodyPr wrap="square" lIns="0" tIns="0" rIns="0" bIns="0" rtlCol="0" anchor="ctr"/>
          <a:lstStyle/>
          <a:p>
            <a:pPr indent="0" marL="0">
              <a:buNone/>
            </a:pPr>
            <a:r>
              <a:rPr lang="en-US" sz="2900" b="1" dirty="0">
                <a:solidFill>
                  <a:srgbClr val="16324F"/>
                </a:solidFill>
                <a:latin typeface="Cambria" pitchFamily="34" charset="0"/>
                <a:ea typeface="Cambria" pitchFamily="34" charset="-122"/>
                <a:cs typeface="Cambria" pitchFamily="34" charset="-120"/>
              </a:rPr>
              <a:t>Tre fasi, informazione via via più ricca</a:t>
            </a:r>
            <a:endParaRPr lang="en-US" sz="2900" dirty="0"/>
          </a:p>
        </p:txBody>
      </p:sp>
      <p:sp>
        <p:nvSpPr>
          <p:cNvPr id="5" name="Text 2"/>
          <p:cNvSpPr txBox="1"/>
          <p:nvPr/>
        </p:nvSpPr>
        <p:spPr>
          <a:xfrm>
            <a:off x="640080" y="1371600"/>
            <a:ext cx="10088575" cy="274320"/>
          </a:xfrm>
          <a:prstGeom prst="rect">
            <a:avLst/>
          </a:prstGeom>
          <a:noFill/>
          <a:ln/>
        </p:spPr>
        <p:txBody>
          <a:bodyPr wrap="square" lIns="0" tIns="0" rIns="0" bIns="0" rtlCol="0" anchor="ctr"/>
          <a:lstStyle/>
          <a:p>
            <a:pPr indent="0" marL="0">
              <a:buNone/>
            </a:pPr>
            <a:r>
              <a:rPr lang="en-US" sz="1250" i="1" dirty="0">
                <a:solidFill>
                  <a:srgbClr val="6B7787"/>
                </a:solidFill>
                <a:latin typeface="Calibri" pitchFamily="34" charset="0"/>
                <a:ea typeface="Calibri" pitchFamily="34" charset="-122"/>
                <a:cs typeface="Calibri" pitchFamily="34" charset="-120"/>
              </a:rPr>
              <a:t>Ogni fase aggiunge una fonte di segnale e risponde a una domanda diversa</a:t>
            </a:r>
            <a:endParaRPr lang="en-US" sz="1250" dirty="0"/>
          </a:p>
        </p:txBody>
      </p:sp>
      <p:sp>
        <p:nvSpPr>
          <p:cNvPr id="6" name="Text 3"/>
          <p:cNvSpPr txBox="1"/>
          <p:nvPr/>
        </p:nvSpPr>
        <p:spPr>
          <a:xfrm>
            <a:off x="640080" y="6473952"/>
            <a:ext cx="4572000" cy="237744"/>
          </a:xfrm>
          <a:prstGeom prst="rect">
            <a:avLst/>
          </a:prstGeom>
          <a:noFill/>
          <a:ln/>
        </p:spPr>
        <p:txBody>
          <a:bodyPr wrap="square" lIns="0" tIns="0" rIns="0" bIns="0" rtlCol="0" anchor="ctr"/>
          <a:lstStyle/>
          <a:p>
            <a:pPr indent="0" marL="0">
              <a:buNone/>
            </a:pPr>
            <a:r>
              <a:rPr lang="en-US" sz="900" dirty="0">
                <a:solidFill>
                  <a:srgbClr val="A7B3C1"/>
                </a:solidFill>
                <a:latin typeface="Calibri" pitchFamily="34" charset="0"/>
                <a:ea typeface="Calibri" pitchFamily="34" charset="-122"/>
                <a:cs typeface="Calibri" pitchFamily="34" charset="-120"/>
              </a:rPr>
              <a:t>Progetto MIGA  ·  A. Saverino</a:t>
            </a:r>
            <a:endParaRPr lang="en-US" sz="900" dirty="0"/>
          </a:p>
        </p:txBody>
      </p:sp>
      <p:sp>
        <p:nvSpPr>
          <p:cNvPr id="7" name="Text 4"/>
          <p:cNvSpPr txBox="1"/>
          <p:nvPr/>
        </p:nvSpPr>
        <p:spPr>
          <a:xfrm>
            <a:off x="8808415" y="6473952"/>
            <a:ext cx="2743200" cy="237744"/>
          </a:xfrm>
          <a:prstGeom prst="rect">
            <a:avLst/>
          </a:prstGeom>
          <a:noFill/>
          <a:ln/>
        </p:spPr>
        <p:txBody>
          <a:bodyPr wrap="square" lIns="0" tIns="0" rIns="0" bIns="0" rtlCol="0" anchor="ctr"/>
          <a:lstStyle/>
          <a:p>
            <a:pPr algn="r" indent="0" marL="0">
              <a:buNone/>
            </a:pPr>
            <a:r>
              <a:rPr lang="en-US" sz="900" dirty="0">
                <a:solidFill>
                  <a:srgbClr val="A7B3C1"/>
                </a:solidFill>
                <a:latin typeface="Calibri" pitchFamily="34" charset="0"/>
                <a:ea typeface="Calibri" pitchFamily="34" charset="-122"/>
                <a:cs typeface="Calibri" pitchFamily="34" charset="-120"/>
              </a:rPr>
              <a:t>2 / 10</a:t>
            </a:r>
            <a:endParaRPr lang="en-US" sz="900" dirty="0"/>
          </a:p>
        </p:txBody>
      </p:sp>
      <p:sp>
        <p:nvSpPr>
          <p:cNvPr id="8" name="Shape 5"/>
          <p:cNvSpPr/>
          <p:nvPr/>
        </p:nvSpPr>
        <p:spPr>
          <a:xfrm>
            <a:off x="640080" y="1965960"/>
            <a:ext cx="3503066" cy="3520440"/>
          </a:xfrm>
          <a:prstGeom prst="roundRect">
            <a:avLst>
              <a:gd name="adj" fmla="val 1827"/>
            </a:avLst>
          </a:prstGeom>
          <a:solidFill>
            <a:srgbClr val="EDF2F8"/>
          </a:solidFill>
          <a:ln w="12700">
            <a:solidFill>
              <a:srgbClr val="D5DFEA"/>
            </a:solidFill>
            <a:prstDash val="solid"/>
          </a:ln>
        </p:spPr>
      </p:sp>
      <p:pic>
        <p:nvPicPr>
          <p:cNvPr id="9" name="Image 1" descr="/home/claude/work/uicons/five-star-rating.png">    </p:cNvPr>
          <p:cNvPicPr>
            <a:picLocks noChangeAspect="1"/>
          </p:cNvPicPr>
          <p:nvPr/>
        </p:nvPicPr>
        <p:blipFill>
          <a:blip r:embed="rId2"/>
          <a:stretch>
            <a:fillRect/>
          </a:stretch>
        </p:blipFill>
        <p:spPr>
          <a:xfrm>
            <a:off x="932688" y="2212848"/>
            <a:ext cx="603504" cy="603504"/>
          </a:xfrm>
          <a:prstGeom prst="rect">
            <a:avLst/>
          </a:prstGeom>
        </p:spPr>
      </p:pic>
      <p:sp>
        <p:nvSpPr>
          <p:cNvPr id="10" name="Text 6"/>
          <p:cNvSpPr txBox="1"/>
          <p:nvPr/>
        </p:nvSpPr>
        <p:spPr>
          <a:xfrm>
            <a:off x="3137306" y="2212848"/>
            <a:ext cx="713232" cy="603504"/>
          </a:xfrm>
          <a:prstGeom prst="rect">
            <a:avLst/>
          </a:prstGeom>
          <a:noFill/>
          <a:ln/>
        </p:spPr>
        <p:txBody>
          <a:bodyPr wrap="square" lIns="0" tIns="0" rIns="0" bIns="0" rtlCol="0" anchor="ctr"/>
          <a:lstStyle/>
          <a:p>
            <a:pPr algn="r" indent="0" marL="0">
              <a:buNone/>
            </a:pPr>
            <a:r>
              <a:rPr lang="en-US" sz="2600" b="1" dirty="0">
                <a:solidFill>
                  <a:srgbClr val="1D4E89"/>
                </a:solidFill>
                <a:latin typeface="Cambria" pitchFamily="34" charset="0"/>
                <a:ea typeface="Cambria" pitchFamily="34" charset="-122"/>
                <a:cs typeface="Cambria" pitchFamily="34" charset="-120"/>
              </a:rPr>
              <a:t>01</a:t>
            </a:r>
            <a:endParaRPr lang="en-US" sz="2600" dirty="0"/>
          </a:p>
        </p:txBody>
      </p:sp>
      <p:sp>
        <p:nvSpPr>
          <p:cNvPr id="11" name="Text 7"/>
          <p:cNvSpPr txBox="1"/>
          <p:nvPr/>
        </p:nvSpPr>
        <p:spPr>
          <a:xfrm>
            <a:off x="932688" y="2999232"/>
            <a:ext cx="2917850" cy="219456"/>
          </a:xfrm>
          <a:prstGeom prst="rect">
            <a:avLst/>
          </a:prstGeom>
          <a:noFill/>
          <a:ln/>
        </p:spPr>
        <p:txBody>
          <a:bodyPr wrap="square" lIns="0" tIns="0" rIns="0" bIns="0" rtlCol="0" anchor="ctr"/>
          <a:lstStyle/>
          <a:p>
            <a:pPr indent="0" marL="0">
              <a:buNone/>
            </a:pPr>
            <a:r>
              <a:rPr lang="en-US" sz="950" b="1" spc="180" kern="0" dirty="0">
                <a:solidFill>
                  <a:srgbClr val="1D4E89"/>
                </a:solidFill>
                <a:latin typeface="Calibri" pitchFamily="34" charset="0"/>
                <a:ea typeface="Calibri" pitchFamily="34" charset="-122"/>
                <a:cs typeface="Calibri" pitchFamily="34" charset="-120"/>
              </a:rPr>
              <a:t>BASE</a:t>
            </a:r>
            <a:endParaRPr lang="en-US" sz="950" dirty="0"/>
          </a:p>
        </p:txBody>
      </p:sp>
      <p:sp>
        <p:nvSpPr>
          <p:cNvPr id="12" name="Text 8"/>
          <p:cNvSpPr txBox="1"/>
          <p:nvPr/>
        </p:nvSpPr>
        <p:spPr>
          <a:xfrm>
            <a:off x="932688" y="3255264"/>
            <a:ext cx="2917850" cy="384048"/>
          </a:xfrm>
          <a:prstGeom prst="rect">
            <a:avLst/>
          </a:prstGeom>
          <a:noFill/>
          <a:ln/>
        </p:spPr>
        <p:txBody>
          <a:bodyPr wrap="square" lIns="0" tIns="0" rIns="0" bIns="0" rtlCol="0" anchor="ctr"/>
          <a:lstStyle/>
          <a:p>
            <a:pPr indent="0" marL="0">
              <a:buNone/>
            </a:pPr>
            <a:r>
              <a:rPr lang="en-US" sz="1900" b="1" dirty="0">
                <a:solidFill>
                  <a:srgbClr val="16324F"/>
                </a:solidFill>
                <a:latin typeface="Cambria" pitchFamily="34" charset="0"/>
                <a:ea typeface="Cambria" pitchFamily="34" charset="-122"/>
                <a:cs typeface="Cambria" pitchFamily="34" charset="-120"/>
              </a:rPr>
              <a:t>Collaborative Filtering</a:t>
            </a:r>
            <a:endParaRPr lang="en-US" sz="1900" dirty="0"/>
          </a:p>
        </p:txBody>
      </p:sp>
      <p:sp>
        <p:nvSpPr>
          <p:cNvPr id="13" name="Text 9"/>
          <p:cNvSpPr txBox="1"/>
          <p:nvPr/>
        </p:nvSpPr>
        <p:spPr>
          <a:xfrm>
            <a:off x="932688" y="3730752"/>
            <a:ext cx="2917850" cy="1005840"/>
          </a:xfrm>
          <a:prstGeom prst="rect">
            <a:avLst/>
          </a:prstGeom>
          <a:noFill/>
          <a:ln/>
        </p:spPr>
        <p:txBody>
          <a:bodyPr wrap="square" lIns="0" tIns="0" rIns="0" bIns="0" rtlCol="0" anchor="ctr"/>
          <a:lstStyle/>
          <a:p>
            <a:pPr indent="0" marL="0">
              <a:lnSpc>
                <a:spcPct val="125000"/>
              </a:lnSpc>
              <a:buNone/>
            </a:pPr>
            <a:r>
              <a:rPr lang="en-US" sz="1200" dirty="0">
                <a:solidFill>
                  <a:srgbClr val="1F2A37"/>
                </a:solidFill>
                <a:latin typeface="Calibri" pitchFamily="34" charset="0"/>
                <a:ea typeface="Calibri" pitchFamily="34" charset="-122"/>
                <a:cs typeface="Calibri" pitchFamily="34" charset="-120"/>
              </a:rPr>
              <a:t>Uso soltanto la matrice dei voti: chi ha votato che cosa. È il segnale essenziale e fa da termine di paragone per tutto il resto.</a:t>
            </a:r>
            <a:endParaRPr lang="en-US" sz="1200" dirty="0"/>
          </a:p>
        </p:txBody>
      </p:sp>
      <p:sp>
        <p:nvSpPr>
          <p:cNvPr id="14" name="Shape 10"/>
          <p:cNvSpPr/>
          <p:nvPr/>
        </p:nvSpPr>
        <p:spPr>
          <a:xfrm>
            <a:off x="932688" y="4864608"/>
            <a:ext cx="2917850" cy="438912"/>
          </a:xfrm>
          <a:prstGeom prst="roundRect">
            <a:avLst>
              <a:gd name="adj" fmla="val 12500"/>
            </a:avLst>
          </a:prstGeom>
          <a:solidFill>
            <a:srgbClr val="1D4E89"/>
          </a:solidFill>
          <a:ln w="12700">
            <a:solidFill>
              <a:srgbClr val="1D4E89"/>
            </a:solidFill>
            <a:prstDash val="solid"/>
          </a:ln>
        </p:spPr>
      </p:sp>
      <p:sp>
        <p:nvSpPr>
          <p:cNvPr id="15" name="Text 11"/>
          <p:cNvSpPr txBox="1"/>
          <p:nvPr/>
        </p:nvSpPr>
        <p:spPr>
          <a:xfrm>
            <a:off x="932688" y="4864608"/>
            <a:ext cx="2917850" cy="4389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Surprise · K-NN · SVD · K-Means</a:t>
            </a:r>
            <a:endParaRPr lang="en-US" sz="1050" dirty="0"/>
          </a:p>
        </p:txBody>
      </p:sp>
      <p:sp>
        <p:nvSpPr>
          <p:cNvPr id="16" name="Shape 12"/>
          <p:cNvSpPr/>
          <p:nvPr/>
        </p:nvSpPr>
        <p:spPr>
          <a:xfrm>
            <a:off x="4344314" y="1965960"/>
            <a:ext cx="3503066" cy="3520440"/>
          </a:xfrm>
          <a:prstGeom prst="roundRect">
            <a:avLst>
              <a:gd name="adj" fmla="val 1827"/>
            </a:avLst>
          </a:prstGeom>
          <a:solidFill>
            <a:srgbClr val="EDF2F8"/>
          </a:solidFill>
          <a:ln w="12700">
            <a:solidFill>
              <a:srgbClr val="D5DFEA"/>
            </a:solidFill>
            <a:prstDash val="solid"/>
          </a:ln>
        </p:spPr>
      </p:sp>
      <p:pic>
        <p:nvPicPr>
          <p:cNvPr id="17" name="Image 2" descr="/home/claude/work/uicons/film-slate.png">    </p:cNvPr>
          <p:cNvPicPr>
            <a:picLocks noChangeAspect="1"/>
          </p:cNvPicPr>
          <p:nvPr/>
        </p:nvPicPr>
        <p:blipFill>
          <a:blip r:embed="rId3"/>
          <a:stretch>
            <a:fillRect/>
          </a:stretch>
        </p:blipFill>
        <p:spPr>
          <a:xfrm>
            <a:off x="4636922" y="2212848"/>
            <a:ext cx="603504" cy="603504"/>
          </a:xfrm>
          <a:prstGeom prst="rect">
            <a:avLst/>
          </a:prstGeom>
        </p:spPr>
      </p:pic>
      <p:sp>
        <p:nvSpPr>
          <p:cNvPr id="18" name="Text 13"/>
          <p:cNvSpPr txBox="1"/>
          <p:nvPr/>
        </p:nvSpPr>
        <p:spPr>
          <a:xfrm>
            <a:off x="6841541" y="2212848"/>
            <a:ext cx="713232" cy="603504"/>
          </a:xfrm>
          <a:prstGeom prst="rect">
            <a:avLst/>
          </a:prstGeom>
          <a:noFill/>
          <a:ln/>
        </p:spPr>
        <p:txBody>
          <a:bodyPr wrap="square" lIns="0" tIns="0" rIns="0" bIns="0" rtlCol="0" anchor="ctr"/>
          <a:lstStyle/>
          <a:p>
            <a:pPr algn="r" indent="0" marL="0">
              <a:buNone/>
            </a:pPr>
            <a:r>
              <a:rPr lang="en-US" sz="2600" b="1" dirty="0">
                <a:solidFill>
                  <a:srgbClr val="C98218"/>
                </a:solidFill>
                <a:latin typeface="Cambria" pitchFamily="34" charset="0"/>
                <a:ea typeface="Cambria" pitchFamily="34" charset="-122"/>
                <a:cs typeface="Cambria" pitchFamily="34" charset="-120"/>
              </a:rPr>
              <a:t>02</a:t>
            </a:r>
            <a:endParaRPr lang="en-US" sz="2600" dirty="0"/>
          </a:p>
        </p:txBody>
      </p:sp>
      <p:sp>
        <p:nvSpPr>
          <p:cNvPr id="19" name="Text 14"/>
          <p:cNvSpPr txBox="1"/>
          <p:nvPr/>
        </p:nvSpPr>
        <p:spPr>
          <a:xfrm>
            <a:off x="4636922" y="2999232"/>
            <a:ext cx="2917850" cy="219456"/>
          </a:xfrm>
          <a:prstGeom prst="rect">
            <a:avLst/>
          </a:prstGeom>
          <a:noFill/>
          <a:ln/>
        </p:spPr>
        <p:txBody>
          <a:bodyPr wrap="square" lIns="0" tIns="0" rIns="0" bIns="0" rtlCol="0" anchor="ctr"/>
          <a:lstStyle/>
          <a:p>
            <a:pPr indent="0" marL="0">
              <a:buNone/>
            </a:pPr>
            <a:r>
              <a:rPr lang="en-US" sz="950" b="1" spc="180" kern="0" dirty="0">
                <a:solidFill>
                  <a:srgbClr val="C98218"/>
                </a:solidFill>
                <a:latin typeface="Calibri" pitchFamily="34" charset="0"/>
                <a:ea typeface="Calibri" pitchFamily="34" charset="-122"/>
                <a:cs typeface="Calibri" pitchFamily="34" charset="-120"/>
              </a:rPr>
              <a:t>INTERMEDIA</a:t>
            </a:r>
            <a:endParaRPr lang="en-US" sz="950" dirty="0"/>
          </a:p>
        </p:txBody>
      </p:sp>
      <p:sp>
        <p:nvSpPr>
          <p:cNvPr id="20" name="Text 15"/>
          <p:cNvSpPr txBox="1"/>
          <p:nvPr/>
        </p:nvSpPr>
        <p:spPr>
          <a:xfrm>
            <a:off x="4636922" y="3255264"/>
            <a:ext cx="2917850" cy="384048"/>
          </a:xfrm>
          <a:prstGeom prst="rect">
            <a:avLst/>
          </a:prstGeom>
          <a:noFill/>
          <a:ln/>
        </p:spPr>
        <p:txBody>
          <a:bodyPr wrap="square" lIns="0" tIns="0" rIns="0" bIns="0" rtlCol="0" anchor="ctr"/>
          <a:lstStyle/>
          <a:p>
            <a:pPr indent="0" marL="0">
              <a:buNone/>
            </a:pPr>
            <a:r>
              <a:rPr lang="en-US" sz="1900" b="1" dirty="0">
                <a:solidFill>
                  <a:srgbClr val="16324F"/>
                </a:solidFill>
                <a:latin typeface="Cambria" pitchFamily="34" charset="0"/>
                <a:ea typeface="Cambria" pitchFamily="34" charset="-122"/>
                <a:cs typeface="Cambria" pitchFamily="34" charset="-120"/>
              </a:rPr>
              <a:t>Content-Based</a:t>
            </a:r>
            <a:endParaRPr lang="en-US" sz="1900" dirty="0"/>
          </a:p>
        </p:txBody>
      </p:sp>
      <p:sp>
        <p:nvSpPr>
          <p:cNvPr id="21" name="Text 16"/>
          <p:cNvSpPr txBox="1"/>
          <p:nvPr/>
        </p:nvSpPr>
        <p:spPr>
          <a:xfrm>
            <a:off x="4636922" y="3730752"/>
            <a:ext cx="2917850" cy="1005840"/>
          </a:xfrm>
          <a:prstGeom prst="rect">
            <a:avLst/>
          </a:prstGeom>
          <a:noFill/>
          <a:ln/>
        </p:spPr>
        <p:txBody>
          <a:bodyPr wrap="square" lIns="0" tIns="0" rIns="0" bIns="0" rtlCol="0" anchor="ctr"/>
          <a:lstStyle/>
          <a:p>
            <a:pPr indent="0" marL="0">
              <a:lnSpc>
                <a:spcPct val="125000"/>
              </a:lnSpc>
              <a:buNone/>
            </a:pPr>
            <a:r>
              <a:rPr lang="en-US" sz="1200" dirty="0">
                <a:solidFill>
                  <a:srgbClr val="1F2A37"/>
                </a:solidFill>
                <a:latin typeface="Calibri" pitchFamily="34" charset="0"/>
                <a:ea typeface="Calibri" pitchFamily="34" charset="-122"/>
                <a:cs typeface="Calibri" pitchFamily="34" charset="-120"/>
              </a:rPr>
              <a:t>Aggiungo il contenuto testuale dei film, titolo e descrizione: «di cosa parla» un film basta a prevedere quanto piacerà?</a:t>
            </a:r>
            <a:endParaRPr lang="en-US" sz="1200" dirty="0"/>
          </a:p>
        </p:txBody>
      </p:sp>
      <p:sp>
        <p:nvSpPr>
          <p:cNvPr id="22" name="Shape 17"/>
          <p:cNvSpPr/>
          <p:nvPr/>
        </p:nvSpPr>
        <p:spPr>
          <a:xfrm>
            <a:off x="4636922" y="4864608"/>
            <a:ext cx="2917850" cy="438912"/>
          </a:xfrm>
          <a:prstGeom prst="roundRect">
            <a:avLst>
              <a:gd name="adj" fmla="val 12500"/>
            </a:avLst>
          </a:prstGeom>
          <a:solidFill>
            <a:srgbClr val="C98218"/>
          </a:solidFill>
          <a:ln w="12700">
            <a:solidFill>
              <a:srgbClr val="C98218"/>
            </a:solidFill>
            <a:prstDash val="solid"/>
          </a:ln>
        </p:spPr>
      </p:sp>
      <p:sp>
        <p:nvSpPr>
          <p:cNvPr id="23" name="Text 18"/>
          <p:cNvSpPr txBox="1"/>
          <p:nvPr/>
        </p:nvSpPr>
        <p:spPr>
          <a:xfrm>
            <a:off x="4636922" y="4864608"/>
            <a:ext cx="2917850" cy="4389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TF-IDF · DistilBERT · K-NN per utente</a:t>
            </a:r>
            <a:endParaRPr lang="en-US" sz="1050" dirty="0"/>
          </a:p>
        </p:txBody>
      </p:sp>
      <p:sp>
        <p:nvSpPr>
          <p:cNvPr id="24" name="Shape 19"/>
          <p:cNvSpPr/>
          <p:nvPr/>
        </p:nvSpPr>
        <p:spPr>
          <a:xfrm>
            <a:off x="8048549" y="1965960"/>
            <a:ext cx="3503066" cy="3520440"/>
          </a:xfrm>
          <a:prstGeom prst="roundRect">
            <a:avLst>
              <a:gd name="adj" fmla="val 1827"/>
            </a:avLst>
          </a:prstGeom>
          <a:solidFill>
            <a:srgbClr val="EDF2F8"/>
          </a:solidFill>
          <a:ln w="12700">
            <a:solidFill>
              <a:srgbClr val="D5DFEA"/>
            </a:solidFill>
            <a:prstDash val="solid"/>
          </a:ln>
        </p:spPr>
      </p:sp>
      <p:pic>
        <p:nvPicPr>
          <p:cNvPr id="25" name="Image 3" descr="/home/claude/work/uicons/feedback.png">    </p:cNvPr>
          <p:cNvPicPr>
            <a:picLocks noChangeAspect="1"/>
          </p:cNvPicPr>
          <p:nvPr/>
        </p:nvPicPr>
        <p:blipFill>
          <a:blip r:embed="rId4"/>
          <a:stretch>
            <a:fillRect/>
          </a:stretch>
        </p:blipFill>
        <p:spPr>
          <a:xfrm>
            <a:off x="8341157" y="2212848"/>
            <a:ext cx="603504" cy="603504"/>
          </a:xfrm>
          <a:prstGeom prst="rect">
            <a:avLst/>
          </a:prstGeom>
        </p:spPr>
      </p:pic>
      <p:sp>
        <p:nvSpPr>
          <p:cNvPr id="26" name="Text 20"/>
          <p:cNvSpPr txBox="1"/>
          <p:nvPr/>
        </p:nvSpPr>
        <p:spPr>
          <a:xfrm>
            <a:off x="10545775" y="2212848"/>
            <a:ext cx="713232" cy="603504"/>
          </a:xfrm>
          <a:prstGeom prst="rect">
            <a:avLst/>
          </a:prstGeom>
          <a:noFill/>
          <a:ln/>
        </p:spPr>
        <p:txBody>
          <a:bodyPr wrap="square" lIns="0" tIns="0" rIns="0" bIns="0" rtlCol="0" anchor="ctr"/>
          <a:lstStyle/>
          <a:p>
            <a:pPr algn="r" indent="0" marL="0">
              <a:buNone/>
            </a:pPr>
            <a:r>
              <a:rPr lang="en-US" sz="2600" b="1" dirty="0">
                <a:solidFill>
                  <a:srgbClr val="1B8476"/>
                </a:solidFill>
                <a:latin typeface="Cambria" pitchFamily="34" charset="0"/>
                <a:ea typeface="Cambria" pitchFamily="34" charset="-122"/>
                <a:cs typeface="Cambria" pitchFamily="34" charset="-120"/>
              </a:rPr>
              <a:t>03</a:t>
            </a:r>
            <a:endParaRPr lang="en-US" sz="2600" dirty="0"/>
          </a:p>
        </p:txBody>
      </p:sp>
      <p:sp>
        <p:nvSpPr>
          <p:cNvPr id="27" name="Text 21"/>
          <p:cNvSpPr txBox="1"/>
          <p:nvPr/>
        </p:nvSpPr>
        <p:spPr>
          <a:xfrm>
            <a:off x="8341157" y="2999232"/>
            <a:ext cx="2917850" cy="219456"/>
          </a:xfrm>
          <a:prstGeom prst="rect">
            <a:avLst/>
          </a:prstGeom>
          <a:noFill/>
          <a:ln/>
        </p:spPr>
        <p:txBody>
          <a:bodyPr wrap="square" lIns="0" tIns="0" rIns="0" bIns="0" rtlCol="0" anchor="ctr"/>
          <a:lstStyle/>
          <a:p>
            <a:pPr indent="0" marL="0">
              <a:buNone/>
            </a:pPr>
            <a:r>
              <a:rPr lang="en-US" sz="950" b="1" spc="180" kern="0" dirty="0">
                <a:solidFill>
                  <a:srgbClr val="1B8476"/>
                </a:solidFill>
                <a:latin typeface="Calibri" pitchFamily="34" charset="0"/>
                <a:ea typeface="Calibri" pitchFamily="34" charset="-122"/>
                <a:cs typeface="Calibri" pitchFamily="34" charset="-120"/>
              </a:rPr>
              <a:t>AVANZATA</a:t>
            </a:r>
            <a:endParaRPr lang="en-US" sz="950" dirty="0"/>
          </a:p>
        </p:txBody>
      </p:sp>
      <p:sp>
        <p:nvSpPr>
          <p:cNvPr id="28" name="Text 22"/>
          <p:cNvSpPr txBox="1"/>
          <p:nvPr/>
        </p:nvSpPr>
        <p:spPr>
          <a:xfrm>
            <a:off x="8341157" y="3255264"/>
            <a:ext cx="2917850" cy="384048"/>
          </a:xfrm>
          <a:prstGeom prst="rect">
            <a:avLst/>
          </a:prstGeom>
          <a:noFill/>
          <a:ln/>
        </p:spPr>
        <p:txBody>
          <a:bodyPr wrap="square" lIns="0" tIns="0" rIns="0" bIns="0" rtlCol="0" anchor="ctr"/>
          <a:lstStyle/>
          <a:p>
            <a:pPr indent="0" marL="0">
              <a:buNone/>
            </a:pPr>
            <a:r>
              <a:rPr lang="en-US" sz="1900" b="1" dirty="0">
                <a:solidFill>
                  <a:srgbClr val="16324F"/>
                </a:solidFill>
                <a:latin typeface="Cambria" pitchFamily="34" charset="0"/>
                <a:ea typeface="Cambria" pitchFamily="34" charset="-122"/>
                <a:cs typeface="Cambria" pitchFamily="34" charset="-120"/>
              </a:rPr>
              <a:t>Sentiment Analysis</a:t>
            </a:r>
            <a:endParaRPr lang="en-US" sz="1900" dirty="0"/>
          </a:p>
        </p:txBody>
      </p:sp>
      <p:sp>
        <p:nvSpPr>
          <p:cNvPr id="29" name="Text 23"/>
          <p:cNvSpPr txBox="1"/>
          <p:nvPr/>
        </p:nvSpPr>
        <p:spPr>
          <a:xfrm>
            <a:off x="8341157" y="3730752"/>
            <a:ext cx="2917850" cy="1005840"/>
          </a:xfrm>
          <a:prstGeom prst="rect">
            <a:avLst/>
          </a:prstGeom>
          <a:noFill/>
          <a:ln/>
        </p:spPr>
        <p:txBody>
          <a:bodyPr wrap="square" lIns="0" tIns="0" rIns="0" bIns="0" rtlCol="0" anchor="ctr"/>
          <a:lstStyle/>
          <a:p>
            <a:pPr indent="0" marL="0">
              <a:lnSpc>
                <a:spcPct val="125000"/>
              </a:lnSpc>
              <a:buNone/>
            </a:pPr>
            <a:r>
              <a:rPr lang="en-US" sz="1200" dirty="0">
                <a:solidFill>
                  <a:srgbClr val="1F2A37"/>
                </a:solidFill>
                <a:latin typeface="Calibri" pitchFamily="34" charset="0"/>
                <a:ea typeface="Calibri" pitchFamily="34" charset="-122"/>
                <a:cs typeface="Calibri" pitchFamily="34" charset="-120"/>
              </a:rPr>
              <a:t>Cambio prospettiva: leggo il testo delle recensioni e ne ricavo il giudizio: positivo, neutro o negativo.</a:t>
            </a:r>
            <a:endParaRPr lang="en-US" sz="1200" dirty="0"/>
          </a:p>
        </p:txBody>
      </p:sp>
      <p:sp>
        <p:nvSpPr>
          <p:cNvPr id="30" name="Shape 24"/>
          <p:cNvSpPr/>
          <p:nvPr/>
        </p:nvSpPr>
        <p:spPr>
          <a:xfrm>
            <a:off x="8341157" y="4864608"/>
            <a:ext cx="2917850" cy="438912"/>
          </a:xfrm>
          <a:prstGeom prst="roundRect">
            <a:avLst>
              <a:gd name="adj" fmla="val 12500"/>
            </a:avLst>
          </a:prstGeom>
          <a:solidFill>
            <a:srgbClr val="1B8476"/>
          </a:solidFill>
          <a:ln w="12700">
            <a:solidFill>
              <a:srgbClr val="1B8476"/>
            </a:solidFill>
            <a:prstDash val="solid"/>
          </a:ln>
        </p:spPr>
      </p:sp>
      <p:sp>
        <p:nvSpPr>
          <p:cNvPr id="31" name="Text 25"/>
          <p:cNvSpPr txBox="1"/>
          <p:nvPr/>
        </p:nvSpPr>
        <p:spPr>
          <a:xfrm>
            <a:off x="8341157" y="4864608"/>
            <a:ext cx="2917850" cy="4389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Classificatori Lab 6 · LLM via Groq</a:t>
            </a:r>
            <a:endParaRPr lang="en-US" sz="1050" dirty="0"/>
          </a:p>
        </p:txBody>
      </p:sp>
      <p:sp>
        <p:nvSpPr>
          <p:cNvPr id="32" name="Shape 26"/>
          <p:cNvSpPr/>
          <p:nvPr/>
        </p:nvSpPr>
        <p:spPr>
          <a:xfrm>
            <a:off x="640080" y="5687568"/>
            <a:ext cx="10911535" cy="566928"/>
          </a:xfrm>
          <a:prstGeom prst="roundRect">
            <a:avLst>
              <a:gd name="adj" fmla="val 11290"/>
            </a:avLst>
          </a:prstGeom>
          <a:solidFill>
            <a:srgbClr val="F3F7FB"/>
          </a:solidFill>
          <a:ln w="12700">
            <a:solidFill>
              <a:srgbClr val="D5DFEA"/>
            </a:solidFill>
            <a:prstDash val="solid"/>
          </a:ln>
        </p:spPr>
      </p:sp>
      <p:sp>
        <p:nvSpPr>
          <p:cNvPr id="33" name="Text 27"/>
          <p:cNvSpPr txBox="1"/>
          <p:nvPr/>
        </p:nvSpPr>
        <p:spPr>
          <a:xfrm>
            <a:off x="914400" y="5687568"/>
            <a:ext cx="685800" cy="566928"/>
          </a:xfrm>
          <a:prstGeom prst="rect">
            <a:avLst/>
          </a:prstGeom>
          <a:noFill/>
          <a:ln/>
        </p:spPr>
        <p:txBody>
          <a:bodyPr wrap="square" lIns="0" tIns="0" rIns="0" bIns="0" rtlCol="0" anchor="ctr"/>
          <a:lstStyle/>
          <a:p>
            <a:pPr indent="0" marL="0">
              <a:buNone/>
            </a:pPr>
            <a:r>
              <a:rPr lang="en-US" sz="1150" b="1" dirty="0">
                <a:solidFill>
                  <a:srgbClr val="16324F"/>
                </a:solidFill>
                <a:latin typeface="Calibri" pitchFamily="34" charset="0"/>
                <a:ea typeface="Calibri" pitchFamily="34" charset="-122"/>
                <a:cs typeface="Calibri" pitchFamily="34" charset="-120"/>
              </a:rPr>
              <a:t>In più:</a:t>
            </a:r>
            <a:endParaRPr lang="en-US" sz="1150" dirty="0"/>
          </a:p>
        </p:txBody>
      </p:sp>
      <p:sp>
        <p:nvSpPr>
          <p:cNvPr id="34" name="Text 28"/>
          <p:cNvSpPr txBox="1"/>
          <p:nvPr/>
        </p:nvSpPr>
        <p:spPr>
          <a:xfrm>
            <a:off x="1645920" y="5687568"/>
            <a:ext cx="9631375" cy="566928"/>
          </a:xfrm>
          <a:prstGeom prst="rect">
            <a:avLst/>
          </a:prstGeom>
          <a:noFill/>
          <a:ln/>
        </p:spPr>
        <p:txBody>
          <a:bodyPr wrap="square" lIns="0" tIns="0" rIns="0" bIns="0" rtlCol="0" anchor="ctr"/>
          <a:lstStyle/>
          <a:p>
            <a:pPr indent="0" marL="0">
              <a:buNone/>
            </a:pPr>
            <a:r>
              <a:rPr lang="en-US" sz="1150" dirty="0">
                <a:solidFill>
                  <a:srgbClr val="1F2A37"/>
                </a:solidFill>
                <a:latin typeface="Calibri" pitchFamily="34" charset="0"/>
                <a:ea typeface="Calibri" pitchFamily="34" charset="-122"/>
                <a:cs typeface="Calibri" pitchFamily="34" charset="-120"/>
              </a:rPr>
              <a:t>un capitolo di analisi aggiuntive con quattro tecniche oltre il programma dei laboratori, valutate sugli stessi dati, sugli stessi split e con le stesse metriche.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pic>
        <p:nvPicPr>
          <p:cNvPr id="2" name="Image 0" descr="/home/claude/work/uicons/analytics.png">    </p:cNvPr>
          <p:cNvPicPr>
            <a:picLocks noChangeAspect="1"/>
          </p:cNvPicPr>
          <p:nvPr/>
        </p:nvPicPr>
        <p:blipFill>
          <a:blip r:embed="rId1"/>
          <a:stretch>
            <a:fillRect/>
          </a:stretch>
        </p:blipFill>
        <p:spPr>
          <a:xfrm>
            <a:off x="11076127" y="384048"/>
            <a:ext cx="475488" cy="475488"/>
          </a:xfrm>
          <a:prstGeom prst="rect">
            <a:avLst/>
          </a:prstGeom>
        </p:spPr>
      </p:pic>
      <p:sp>
        <p:nvSpPr>
          <p:cNvPr id="3" name="Text 0"/>
          <p:cNvSpPr txBox="1"/>
          <p:nvPr/>
        </p:nvSpPr>
        <p:spPr>
          <a:xfrm>
            <a:off x="640080" y="438912"/>
            <a:ext cx="10088575" cy="237744"/>
          </a:xfrm>
          <a:prstGeom prst="rect">
            <a:avLst/>
          </a:prstGeom>
          <a:noFill/>
          <a:ln/>
        </p:spPr>
        <p:txBody>
          <a:bodyPr wrap="square" lIns="0" tIns="0" rIns="0" bIns="0" rtlCol="0" anchor="ctr"/>
          <a:lstStyle/>
          <a:p>
            <a:pPr indent="0" marL="0">
              <a:buNone/>
            </a:pPr>
            <a:r>
              <a:rPr lang="en-US" sz="1050" b="1" spc="200" kern="0" dirty="0">
                <a:solidFill>
                  <a:srgbClr val="16324F"/>
                </a:solidFill>
                <a:latin typeface="Calibri" pitchFamily="34" charset="0"/>
                <a:ea typeface="Calibri" pitchFamily="34" charset="-122"/>
                <a:cs typeface="Calibri" pitchFamily="34" charset="-120"/>
              </a:rPr>
              <a:t>DATI E PREPARAZIONE</a:t>
            </a:r>
            <a:endParaRPr lang="en-US" sz="1050" dirty="0"/>
          </a:p>
        </p:txBody>
      </p:sp>
      <p:sp>
        <p:nvSpPr>
          <p:cNvPr id="4" name="Text 1"/>
          <p:cNvSpPr txBox="1"/>
          <p:nvPr/>
        </p:nvSpPr>
        <p:spPr>
          <a:xfrm>
            <a:off x="640080" y="731520"/>
            <a:ext cx="10088575" cy="566928"/>
          </a:xfrm>
          <a:prstGeom prst="rect">
            <a:avLst/>
          </a:prstGeom>
          <a:noFill/>
          <a:ln/>
        </p:spPr>
        <p:txBody>
          <a:bodyPr wrap="square" lIns="0" tIns="0" rIns="0" bIns="0" rtlCol="0" anchor="ctr"/>
          <a:lstStyle/>
          <a:p>
            <a:pPr indent="0" marL="0">
              <a:buNone/>
            </a:pPr>
            <a:r>
              <a:rPr lang="en-US" sz="2900" b="1" dirty="0">
                <a:solidFill>
                  <a:srgbClr val="16324F"/>
                </a:solidFill>
                <a:latin typeface="Cambria" pitchFamily="34" charset="0"/>
                <a:ea typeface="Cambria" pitchFamily="34" charset="-122"/>
                <a:cs typeface="Cambria" pitchFamily="34" charset="-120"/>
              </a:rPr>
              <a:t>Dal file grezzo a una matrice utilizzabile</a:t>
            </a:r>
            <a:endParaRPr lang="en-US" sz="2900" dirty="0"/>
          </a:p>
        </p:txBody>
      </p:sp>
      <p:sp>
        <p:nvSpPr>
          <p:cNvPr id="5" name="Text 2"/>
          <p:cNvSpPr txBox="1"/>
          <p:nvPr/>
        </p:nvSpPr>
        <p:spPr>
          <a:xfrm>
            <a:off x="640080" y="1371600"/>
            <a:ext cx="10088575" cy="274320"/>
          </a:xfrm>
          <a:prstGeom prst="rect">
            <a:avLst/>
          </a:prstGeom>
          <a:noFill/>
          <a:ln/>
        </p:spPr>
        <p:txBody>
          <a:bodyPr wrap="square" lIns="0" tIns="0" rIns="0" bIns="0" rtlCol="0" anchor="ctr"/>
          <a:lstStyle/>
          <a:p>
            <a:pPr indent="0" marL="0">
              <a:buNone/>
            </a:pPr>
            <a:r>
              <a:rPr lang="en-US" sz="1250" i="1" dirty="0">
                <a:solidFill>
                  <a:srgbClr val="6B7787"/>
                </a:solidFill>
                <a:latin typeface="Calibri" pitchFamily="34" charset="0"/>
                <a:ea typeface="Calibri" pitchFamily="34" charset="-122"/>
                <a:cs typeface="Calibri" pitchFamily="34" charset="-120"/>
              </a:rPr>
              <a:t>Campione riproducibile con seed fisso, poi deduplicato e filtrato: ogni passaggio è motivato</a:t>
            </a:r>
            <a:endParaRPr lang="en-US" sz="1250" dirty="0"/>
          </a:p>
        </p:txBody>
      </p:sp>
      <p:sp>
        <p:nvSpPr>
          <p:cNvPr id="6" name="Text 3"/>
          <p:cNvSpPr txBox="1"/>
          <p:nvPr/>
        </p:nvSpPr>
        <p:spPr>
          <a:xfrm>
            <a:off x="640080" y="6473952"/>
            <a:ext cx="4572000" cy="237744"/>
          </a:xfrm>
          <a:prstGeom prst="rect">
            <a:avLst/>
          </a:prstGeom>
          <a:noFill/>
          <a:ln/>
        </p:spPr>
        <p:txBody>
          <a:bodyPr wrap="square" lIns="0" tIns="0" rIns="0" bIns="0" rtlCol="0" anchor="ctr"/>
          <a:lstStyle/>
          <a:p>
            <a:pPr indent="0" marL="0">
              <a:buNone/>
            </a:pPr>
            <a:r>
              <a:rPr lang="en-US" sz="900" dirty="0">
                <a:solidFill>
                  <a:srgbClr val="A7B3C1"/>
                </a:solidFill>
                <a:latin typeface="Calibri" pitchFamily="34" charset="0"/>
                <a:ea typeface="Calibri" pitchFamily="34" charset="-122"/>
                <a:cs typeface="Calibri" pitchFamily="34" charset="-120"/>
              </a:rPr>
              <a:t>Progetto MIGA  ·  A. Saverino</a:t>
            </a:r>
            <a:endParaRPr lang="en-US" sz="900" dirty="0"/>
          </a:p>
        </p:txBody>
      </p:sp>
      <p:sp>
        <p:nvSpPr>
          <p:cNvPr id="7" name="Text 4"/>
          <p:cNvSpPr txBox="1"/>
          <p:nvPr/>
        </p:nvSpPr>
        <p:spPr>
          <a:xfrm>
            <a:off x="8808415" y="6473952"/>
            <a:ext cx="2743200" cy="237744"/>
          </a:xfrm>
          <a:prstGeom prst="rect">
            <a:avLst/>
          </a:prstGeom>
          <a:noFill/>
          <a:ln/>
        </p:spPr>
        <p:txBody>
          <a:bodyPr wrap="square" lIns="0" tIns="0" rIns="0" bIns="0" rtlCol="0" anchor="ctr"/>
          <a:lstStyle/>
          <a:p>
            <a:pPr algn="r" indent="0" marL="0">
              <a:buNone/>
            </a:pPr>
            <a:r>
              <a:rPr lang="en-US" sz="900" dirty="0">
                <a:solidFill>
                  <a:srgbClr val="A7B3C1"/>
                </a:solidFill>
                <a:latin typeface="Calibri" pitchFamily="34" charset="0"/>
                <a:ea typeface="Calibri" pitchFamily="34" charset="-122"/>
                <a:cs typeface="Calibri" pitchFamily="34" charset="-120"/>
              </a:rPr>
              <a:t>3 / 10</a:t>
            </a:r>
            <a:endParaRPr lang="en-US" sz="900" dirty="0"/>
          </a:p>
        </p:txBody>
      </p:sp>
      <p:sp>
        <p:nvSpPr>
          <p:cNvPr id="8" name="Shape 5"/>
          <p:cNvSpPr/>
          <p:nvPr/>
        </p:nvSpPr>
        <p:spPr>
          <a:xfrm>
            <a:off x="896112" y="2542032"/>
            <a:ext cx="0" cy="493776"/>
          </a:xfrm>
          <a:prstGeom prst="line">
            <a:avLst/>
          </a:prstGeom>
          <a:noFill/>
          <a:ln w="19050">
            <a:solidFill>
              <a:srgbClr val="D5DFEA"/>
            </a:solidFill>
            <a:prstDash val="solid"/>
          </a:ln>
        </p:spPr>
      </p:sp>
      <p:sp>
        <p:nvSpPr>
          <p:cNvPr id="9" name="Shape 6"/>
          <p:cNvSpPr/>
          <p:nvPr/>
        </p:nvSpPr>
        <p:spPr>
          <a:xfrm>
            <a:off x="640080" y="2011680"/>
            <a:ext cx="512064" cy="512064"/>
          </a:xfrm>
          <a:prstGeom prst="ellipse">
            <a:avLst/>
          </a:prstGeom>
          <a:solidFill>
            <a:srgbClr val="16324F"/>
          </a:solidFill>
          <a:ln w="12700">
            <a:solidFill>
              <a:srgbClr val="16324F"/>
            </a:solidFill>
            <a:prstDash val="solid"/>
          </a:ln>
        </p:spPr>
      </p:sp>
      <p:sp>
        <p:nvSpPr>
          <p:cNvPr id="10" name="Text 7"/>
          <p:cNvSpPr txBox="1"/>
          <p:nvPr/>
        </p:nvSpPr>
        <p:spPr>
          <a:xfrm>
            <a:off x="640080" y="201168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8"/>
          <p:cNvSpPr txBox="1"/>
          <p:nvPr/>
        </p:nvSpPr>
        <p:spPr>
          <a:xfrm>
            <a:off x="1353312" y="2029968"/>
            <a:ext cx="4206240" cy="274320"/>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Campione in streaming</a:t>
            </a:r>
            <a:endParaRPr lang="en-US" sz="1300" dirty="0"/>
          </a:p>
        </p:txBody>
      </p:sp>
      <p:sp>
        <p:nvSpPr>
          <p:cNvPr id="12" name="Text 9"/>
          <p:cNvSpPr txBox="1"/>
          <p:nvPr/>
        </p:nvSpPr>
        <p:spPr>
          <a:xfrm>
            <a:off x="1353312" y="2322576"/>
            <a:ext cx="4480560" cy="256032"/>
          </a:xfrm>
          <a:prstGeom prst="rect">
            <a:avLst/>
          </a:prstGeom>
          <a:noFill/>
          <a:ln/>
        </p:spPr>
        <p:txBody>
          <a:bodyPr wrap="square" lIns="0" tIns="0" rIns="0" bIns="0" rtlCol="0" anchor="ctr"/>
          <a:lstStyle/>
          <a:p>
            <a:pPr indent="0" marL="0">
              <a:buNone/>
            </a:pPr>
            <a:r>
              <a:rPr lang="en-US" sz="1100" dirty="0">
                <a:solidFill>
                  <a:srgbClr val="6B7787"/>
                </a:solidFill>
                <a:latin typeface="Calibri" pitchFamily="34" charset="0"/>
                <a:ea typeface="Calibri" pitchFamily="34" charset="-122"/>
                <a:cs typeface="Calibri" pitchFamily="34" charset="-120"/>
              </a:rPr>
              <a:t>1.000.000 di recensioni · shuffle buffer 100k · seed 42</a:t>
            </a:r>
            <a:endParaRPr lang="en-US" sz="1100" dirty="0"/>
          </a:p>
        </p:txBody>
      </p:sp>
      <p:sp>
        <p:nvSpPr>
          <p:cNvPr id="13" name="Shape 10"/>
          <p:cNvSpPr/>
          <p:nvPr/>
        </p:nvSpPr>
        <p:spPr>
          <a:xfrm>
            <a:off x="896112" y="3566160"/>
            <a:ext cx="0" cy="493776"/>
          </a:xfrm>
          <a:prstGeom prst="line">
            <a:avLst/>
          </a:prstGeom>
          <a:noFill/>
          <a:ln w="19050">
            <a:solidFill>
              <a:srgbClr val="D5DFEA"/>
            </a:solidFill>
            <a:prstDash val="solid"/>
          </a:ln>
        </p:spPr>
      </p:sp>
      <p:sp>
        <p:nvSpPr>
          <p:cNvPr id="14" name="Shape 11"/>
          <p:cNvSpPr/>
          <p:nvPr/>
        </p:nvSpPr>
        <p:spPr>
          <a:xfrm>
            <a:off x="640080" y="3035808"/>
            <a:ext cx="512064" cy="512064"/>
          </a:xfrm>
          <a:prstGeom prst="ellipse">
            <a:avLst/>
          </a:prstGeom>
          <a:solidFill>
            <a:srgbClr val="16324F"/>
          </a:solidFill>
          <a:ln w="12700">
            <a:solidFill>
              <a:srgbClr val="16324F"/>
            </a:solidFill>
            <a:prstDash val="solid"/>
          </a:ln>
        </p:spPr>
      </p:sp>
      <p:sp>
        <p:nvSpPr>
          <p:cNvPr id="15" name="Text 12"/>
          <p:cNvSpPr txBox="1"/>
          <p:nvPr/>
        </p:nvSpPr>
        <p:spPr>
          <a:xfrm>
            <a:off x="640080" y="303580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3"/>
          <p:cNvSpPr txBox="1"/>
          <p:nvPr/>
        </p:nvSpPr>
        <p:spPr>
          <a:xfrm>
            <a:off x="1353312" y="3054096"/>
            <a:ext cx="4206240" cy="274320"/>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Deduplicazione utente-film</a:t>
            </a:r>
            <a:endParaRPr lang="en-US" sz="1300" dirty="0"/>
          </a:p>
        </p:txBody>
      </p:sp>
      <p:sp>
        <p:nvSpPr>
          <p:cNvPr id="17" name="Text 14"/>
          <p:cNvSpPr txBox="1"/>
          <p:nvPr/>
        </p:nvSpPr>
        <p:spPr>
          <a:xfrm>
            <a:off x="1353312" y="3346704"/>
            <a:ext cx="4480560" cy="256032"/>
          </a:xfrm>
          <a:prstGeom prst="rect">
            <a:avLst/>
          </a:prstGeom>
          <a:noFill/>
          <a:ln/>
        </p:spPr>
        <p:txBody>
          <a:bodyPr wrap="square" lIns="0" tIns="0" rIns="0" bIns="0" rtlCol="0" anchor="ctr"/>
          <a:lstStyle/>
          <a:p>
            <a:pPr indent="0" marL="0">
              <a:buNone/>
            </a:pPr>
            <a:r>
              <a:rPr lang="en-US" sz="1100" dirty="0">
                <a:solidFill>
                  <a:srgbClr val="6B7787"/>
                </a:solidFill>
                <a:latin typeface="Calibri" pitchFamily="34" charset="0"/>
                <a:ea typeface="Calibri" pitchFamily="34" charset="-122"/>
                <a:cs typeface="Calibri" pitchFamily="34" charset="-120"/>
              </a:rPr>
              <a:t>−2.594 doppioni (0,26%)  →  997.406 recensioni</a:t>
            </a:r>
            <a:endParaRPr lang="en-US" sz="1100" dirty="0"/>
          </a:p>
        </p:txBody>
      </p:sp>
      <p:sp>
        <p:nvSpPr>
          <p:cNvPr id="18" name="Shape 15"/>
          <p:cNvSpPr/>
          <p:nvPr/>
        </p:nvSpPr>
        <p:spPr>
          <a:xfrm>
            <a:off x="896112" y="4590288"/>
            <a:ext cx="0" cy="493776"/>
          </a:xfrm>
          <a:prstGeom prst="line">
            <a:avLst/>
          </a:prstGeom>
          <a:noFill/>
          <a:ln w="19050">
            <a:solidFill>
              <a:srgbClr val="D5DFEA"/>
            </a:solidFill>
            <a:prstDash val="solid"/>
          </a:ln>
        </p:spPr>
      </p:sp>
      <p:sp>
        <p:nvSpPr>
          <p:cNvPr id="19" name="Shape 16"/>
          <p:cNvSpPr/>
          <p:nvPr/>
        </p:nvSpPr>
        <p:spPr>
          <a:xfrm>
            <a:off x="640080" y="4059936"/>
            <a:ext cx="512064" cy="512064"/>
          </a:xfrm>
          <a:prstGeom prst="ellipse">
            <a:avLst/>
          </a:prstGeom>
          <a:solidFill>
            <a:srgbClr val="16324F"/>
          </a:solidFill>
          <a:ln w="12700">
            <a:solidFill>
              <a:srgbClr val="16324F"/>
            </a:solidFill>
            <a:prstDash val="solid"/>
          </a:ln>
        </p:spPr>
      </p:sp>
      <p:sp>
        <p:nvSpPr>
          <p:cNvPr id="20" name="Text 17"/>
          <p:cNvSpPr txBox="1"/>
          <p:nvPr/>
        </p:nvSpPr>
        <p:spPr>
          <a:xfrm>
            <a:off x="640080" y="405993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Text 18"/>
          <p:cNvSpPr txBox="1"/>
          <p:nvPr/>
        </p:nvSpPr>
        <p:spPr>
          <a:xfrm>
            <a:off x="1353312" y="4078224"/>
            <a:ext cx="4206240" cy="274320"/>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Filtro k-core con k = 5</a:t>
            </a:r>
            <a:endParaRPr lang="en-US" sz="1300" dirty="0"/>
          </a:p>
        </p:txBody>
      </p:sp>
      <p:sp>
        <p:nvSpPr>
          <p:cNvPr id="22" name="Text 19"/>
          <p:cNvSpPr txBox="1"/>
          <p:nvPr/>
        </p:nvSpPr>
        <p:spPr>
          <a:xfrm>
            <a:off x="1353312" y="4370832"/>
            <a:ext cx="4480560" cy="256032"/>
          </a:xfrm>
          <a:prstGeom prst="rect">
            <a:avLst/>
          </a:prstGeom>
          <a:noFill/>
          <a:ln/>
        </p:spPr>
        <p:txBody>
          <a:bodyPr wrap="square" lIns="0" tIns="0" rIns="0" bIns="0" rtlCol="0" anchor="ctr"/>
          <a:lstStyle/>
          <a:p>
            <a:pPr indent="0" marL="0">
              <a:buNone/>
            </a:pPr>
            <a:r>
              <a:rPr lang="en-US" sz="1100" dirty="0">
                <a:solidFill>
                  <a:srgbClr val="6B7787"/>
                </a:solidFill>
                <a:latin typeface="Calibri" pitchFamily="34" charset="0"/>
                <a:ea typeface="Calibri" pitchFamily="34" charset="-122"/>
                <a:cs typeface="Calibri" pitchFamily="34" charset="-120"/>
              </a:rPr>
              <a:t>33.698 utenti · 30.923 film · 463.509 voti</a:t>
            </a:r>
            <a:endParaRPr lang="en-US" sz="1100" dirty="0"/>
          </a:p>
        </p:txBody>
      </p:sp>
      <p:sp>
        <p:nvSpPr>
          <p:cNvPr id="23" name="Shape 20"/>
          <p:cNvSpPr/>
          <p:nvPr/>
        </p:nvSpPr>
        <p:spPr>
          <a:xfrm>
            <a:off x="640080" y="5084064"/>
            <a:ext cx="512064" cy="512064"/>
          </a:xfrm>
          <a:prstGeom prst="ellipse">
            <a:avLst/>
          </a:prstGeom>
          <a:solidFill>
            <a:srgbClr val="1D4E89"/>
          </a:solidFill>
          <a:ln w="12700">
            <a:solidFill>
              <a:srgbClr val="1D4E89"/>
            </a:solidFill>
            <a:prstDash val="solid"/>
          </a:ln>
        </p:spPr>
      </p:sp>
      <p:sp>
        <p:nvSpPr>
          <p:cNvPr id="24" name="Text 21"/>
          <p:cNvSpPr txBox="1"/>
          <p:nvPr/>
        </p:nvSpPr>
        <p:spPr>
          <a:xfrm>
            <a:off x="640080" y="508406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2"/>
          <p:cNvSpPr txBox="1"/>
          <p:nvPr/>
        </p:nvSpPr>
        <p:spPr>
          <a:xfrm>
            <a:off x="1353312" y="5102352"/>
            <a:ext cx="4206240" cy="274320"/>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Tetti dimensionali</a:t>
            </a:r>
            <a:endParaRPr lang="en-US" sz="1300" dirty="0"/>
          </a:p>
        </p:txBody>
      </p:sp>
      <p:sp>
        <p:nvSpPr>
          <p:cNvPr id="26" name="Text 23"/>
          <p:cNvSpPr txBox="1"/>
          <p:nvPr/>
        </p:nvSpPr>
        <p:spPr>
          <a:xfrm>
            <a:off x="1353312" y="5394960"/>
            <a:ext cx="4480560" cy="256032"/>
          </a:xfrm>
          <a:prstGeom prst="rect">
            <a:avLst/>
          </a:prstGeom>
          <a:noFill/>
          <a:ln/>
        </p:spPr>
        <p:txBody>
          <a:bodyPr wrap="square" lIns="0" tIns="0" rIns="0" bIns="0" rtlCol="0" anchor="ctr"/>
          <a:lstStyle/>
          <a:p>
            <a:pPr indent="0" marL="0">
              <a:buNone/>
            </a:pPr>
            <a:r>
              <a:rPr lang="en-US" sz="1100" dirty="0">
                <a:solidFill>
                  <a:srgbClr val="6B7787"/>
                </a:solidFill>
                <a:latin typeface="Calibri" pitchFamily="34" charset="0"/>
                <a:ea typeface="Calibri" pitchFamily="34" charset="-122"/>
                <a:cs typeface="Calibri" pitchFamily="34" charset="-120"/>
              </a:rPr>
              <a:t>4.000 utenti · 12.500 film · 141.863 voti</a:t>
            </a:r>
            <a:endParaRPr lang="en-US" sz="1100" dirty="0"/>
          </a:p>
        </p:txBody>
      </p:sp>
      <p:sp>
        <p:nvSpPr>
          <p:cNvPr id="27" name="Text 24"/>
          <p:cNvSpPr txBox="1"/>
          <p:nvPr/>
        </p:nvSpPr>
        <p:spPr>
          <a:xfrm>
            <a:off x="640080" y="5852160"/>
            <a:ext cx="5029200" cy="457200"/>
          </a:xfrm>
          <a:prstGeom prst="rect">
            <a:avLst/>
          </a:prstGeom>
          <a:noFill/>
          <a:ln/>
        </p:spPr>
        <p:txBody>
          <a:bodyPr wrap="square" lIns="0" tIns="0" rIns="0" bIns="0" rtlCol="0" anchor="ctr"/>
          <a:lstStyle/>
          <a:p>
            <a:pPr indent="0" marL="0">
              <a:lnSpc>
                <a:spcPct val="120000"/>
              </a:lnSpc>
              <a:buNone/>
            </a:pPr>
            <a:r>
              <a:rPr lang="en-US" sz="1000" i="1" dirty="0">
                <a:solidFill>
                  <a:srgbClr val="6B7787"/>
                </a:solidFill>
                <a:latin typeface="Calibri" pitchFamily="34" charset="0"/>
                <a:ea typeface="Calibri" pitchFamily="34" charset="-122"/>
                <a:cs typeface="Calibri" pitchFamily="34" charset="-120"/>
              </a:rPr>
              <a:t>Perché k = 5: con k = 3 la matrice resta troppo vuota, con k = 10 si butta via l'85% dei dati, con k = 20 il campione si azzera.</a:t>
            </a:r>
            <a:endParaRPr lang="en-US" sz="1000" dirty="0"/>
          </a:p>
        </p:txBody>
      </p:sp>
      <p:graphicFrame>
        <p:nvGraphicFramePr>
          <p:cNvPr id="28" name="Chart 0" descr=""/>
          <p:cNvGraphicFramePr/>
          <p:nvPr/>
        </p:nvGraphicFramePr>
        <p:xfrm>
          <a:off x="5943600" y="1874520"/>
          <a:ext cx="5669280" cy="2286000"/>
        </p:xfrm>
        <a:graphic xmlns:a="http://schemas.openxmlformats.org/drawingml/2006/main">
          <a:graphicData uri="http://schemas.openxmlformats.org/drawingml/2006/chart">
            <c:chart xmlns:c="http://schemas.openxmlformats.org/drawingml/2006/chart" r:id="rId2"/>
          </a:graphicData>
        </a:graphic>
      </p:graphicFrame>
      <p:sp>
        <p:nvSpPr>
          <p:cNvPr id="29" name="Text 25"/>
          <p:cNvSpPr txBox="1"/>
          <p:nvPr/>
        </p:nvSpPr>
        <p:spPr>
          <a:xfrm>
            <a:off x="6035040" y="4206240"/>
            <a:ext cx="5486400" cy="237744"/>
          </a:xfrm>
          <a:prstGeom prst="rect">
            <a:avLst/>
          </a:prstGeom>
          <a:noFill/>
          <a:ln/>
        </p:spPr>
        <p:txBody>
          <a:bodyPr wrap="square" lIns="0" tIns="0" rIns="0" bIns="0" rtlCol="0" anchor="ctr"/>
          <a:lstStyle/>
          <a:p>
            <a:pPr algn="ctr" indent="0" marL="0">
              <a:buNone/>
            </a:pPr>
            <a:r>
              <a:rPr lang="en-US" sz="1000" i="1" dirty="0">
                <a:solidFill>
                  <a:srgbClr val="6B7787"/>
                </a:solidFill>
                <a:latin typeface="Calibri" pitchFamily="34" charset="0"/>
                <a:ea typeface="Calibri" pitchFamily="34" charset="-122"/>
                <a:cs typeface="Calibri" pitchFamily="34" charset="-120"/>
              </a:rPr>
              <a:t>Quante recensioni sopravvivono a ogni passaggio di preparazione</a:t>
            </a:r>
            <a:endParaRPr lang="en-US" sz="1000" dirty="0"/>
          </a:p>
        </p:txBody>
      </p:sp>
      <p:sp>
        <p:nvSpPr>
          <p:cNvPr id="30" name="Shape 26"/>
          <p:cNvSpPr/>
          <p:nvPr/>
        </p:nvSpPr>
        <p:spPr>
          <a:xfrm>
            <a:off x="5943600" y="4663440"/>
            <a:ext cx="5605272" cy="1234440"/>
          </a:xfrm>
          <a:prstGeom prst="roundRect">
            <a:avLst>
              <a:gd name="adj" fmla="val 5185"/>
            </a:avLst>
          </a:prstGeom>
          <a:solidFill>
            <a:srgbClr val="EDF2F8"/>
          </a:solidFill>
          <a:ln w="12700">
            <a:solidFill>
              <a:srgbClr val="D5DFEA"/>
            </a:solidFill>
            <a:prstDash val="solid"/>
          </a:ln>
        </p:spPr>
      </p:sp>
      <p:sp>
        <p:nvSpPr>
          <p:cNvPr id="31" name="Text 27"/>
          <p:cNvSpPr txBox="1"/>
          <p:nvPr/>
        </p:nvSpPr>
        <p:spPr>
          <a:xfrm>
            <a:off x="5943600" y="4864608"/>
            <a:ext cx="1865376" cy="457200"/>
          </a:xfrm>
          <a:prstGeom prst="rect">
            <a:avLst/>
          </a:prstGeom>
          <a:noFill/>
          <a:ln/>
        </p:spPr>
        <p:txBody>
          <a:bodyPr wrap="square" lIns="0" tIns="0" rIns="0" bIns="0" rtlCol="0" anchor="ctr"/>
          <a:lstStyle/>
          <a:p>
            <a:pPr algn="ctr" indent="0" marL="0">
              <a:buNone/>
            </a:pPr>
            <a:r>
              <a:rPr lang="en-US" sz="2000" b="1" dirty="0">
                <a:solidFill>
                  <a:srgbClr val="1D4E89"/>
                </a:solidFill>
                <a:latin typeface="Cambria" pitchFamily="34" charset="0"/>
                <a:ea typeface="Cambria" pitchFamily="34" charset="-122"/>
                <a:cs typeface="Cambria" pitchFamily="34" charset="-120"/>
              </a:rPr>
              <a:t>0,0025%</a:t>
            </a:r>
            <a:endParaRPr lang="en-US" sz="2000" dirty="0"/>
          </a:p>
        </p:txBody>
      </p:sp>
      <p:sp>
        <p:nvSpPr>
          <p:cNvPr id="32" name="Text 28"/>
          <p:cNvSpPr txBox="1"/>
          <p:nvPr/>
        </p:nvSpPr>
        <p:spPr>
          <a:xfrm>
            <a:off x="6035040" y="5340096"/>
            <a:ext cx="1682496" cy="384048"/>
          </a:xfrm>
          <a:prstGeom prst="rect">
            <a:avLst/>
          </a:prstGeom>
          <a:noFill/>
          <a:ln/>
        </p:spPr>
        <p:txBody>
          <a:bodyPr wrap="square" lIns="0" tIns="0" rIns="0" bIns="0" rtlCol="0" anchor="ctr"/>
          <a:lstStyle/>
          <a:p>
            <a:pPr algn="ctr" indent="0" marL="0">
              <a:lnSpc>
                <a:spcPct val="115000"/>
              </a:lnSpc>
              <a:buNone/>
            </a:pPr>
            <a:r>
              <a:rPr lang="en-US" sz="950" dirty="0">
                <a:solidFill>
                  <a:srgbClr val="6B7787"/>
                </a:solidFill>
                <a:latin typeface="Calibri" pitchFamily="34" charset="0"/>
                <a:ea typeface="Calibri" pitchFamily="34" charset="-122"/>
                <a:cs typeface="Calibri" pitchFamily="34" charset="-120"/>
              </a:rPr>
              <a:t>densità della matrice grezza</a:t>
            </a:r>
            <a:endParaRPr lang="en-US" sz="950" dirty="0"/>
          </a:p>
        </p:txBody>
      </p:sp>
      <p:sp>
        <p:nvSpPr>
          <p:cNvPr id="33" name="Text 29"/>
          <p:cNvSpPr txBox="1"/>
          <p:nvPr/>
        </p:nvSpPr>
        <p:spPr>
          <a:xfrm>
            <a:off x="7808976" y="4864608"/>
            <a:ext cx="1865376" cy="457200"/>
          </a:xfrm>
          <a:prstGeom prst="rect">
            <a:avLst/>
          </a:prstGeom>
          <a:noFill/>
          <a:ln/>
        </p:spPr>
        <p:txBody>
          <a:bodyPr wrap="square" lIns="0" tIns="0" rIns="0" bIns="0" rtlCol="0" anchor="ctr"/>
          <a:lstStyle/>
          <a:p>
            <a:pPr algn="ctr" indent="0" marL="0">
              <a:buNone/>
            </a:pPr>
            <a:r>
              <a:rPr lang="en-US" sz="2000" b="1" dirty="0">
                <a:solidFill>
                  <a:srgbClr val="1D4E89"/>
                </a:solidFill>
                <a:latin typeface="Cambria" pitchFamily="34" charset="0"/>
                <a:ea typeface="Cambria" pitchFamily="34" charset="-122"/>
                <a:cs typeface="Cambria" pitchFamily="34" charset="-120"/>
              </a:rPr>
              <a:t>0,284%</a:t>
            </a:r>
            <a:endParaRPr lang="en-US" sz="2000" dirty="0"/>
          </a:p>
        </p:txBody>
      </p:sp>
      <p:sp>
        <p:nvSpPr>
          <p:cNvPr id="34" name="Text 30"/>
          <p:cNvSpPr txBox="1"/>
          <p:nvPr/>
        </p:nvSpPr>
        <p:spPr>
          <a:xfrm>
            <a:off x="7900416" y="5340096"/>
            <a:ext cx="1682496" cy="384048"/>
          </a:xfrm>
          <a:prstGeom prst="rect">
            <a:avLst/>
          </a:prstGeom>
          <a:noFill/>
          <a:ln/>
        </p:spPr>
        <p:txBody>
          <a:bodyPr wrap="square" lIns="0" tIns="0" rIns="0" bIns="0" rtlCol="0" anchor="ctr"/>
          <a:lstStyle/>
          <a:p>
            <a:pPr algn="ctr" indent="0" marL="0">
              <a:lnSpc>
                <a:spcPct val="115000"/>
              </a:lnSpc>
              <a:buNone/>
            </a:pPr>
            <a:r>
              <a:rPr lang="en-US" sz="950" dirty="0">
                <a:solidFill>
                  <a:srgbClr val="6B7787"/>
                </a:solidFill>
                <a:latin typeface="Calibri" pitchFamily="34" charset="0"/>
                <a:ea typeface="Calibri" pitchFamily="34" charset="-122"/>
                <a:cs typeface="Calibri" pitchFamily="34" charset="-120"/>
              </a:rPr>
              <a:t>densità dopo il filtraggio</a:t>
            </a:r>
            <a:endParaRPr lang="en-US" sz="950" dirty="0"/>
          </a:p>
        </p:txBody>
      </p:sp>
      <p:sp>
        <p:nvSpPr>
          <p:cNvPr id="35" name="Text 31"/>
          <p:cNvSpPr txBox="1"/>
          <p:nvPr/>
        </p:nvSpPr>
        <p:spPr>
          <a:xfrm>
            <a:off x="9674352" y="4864608"/>
            <a:ext cx="1865376" cy="457200"/>
          </a:xfrm>
          <a:prstGeom prst="rect">
            <a:avLst/>
          </a:prstGeom>
          <a:noFill/>
          <a:ln/>
        </p:spPr>
        <p:txBody>
          <a:bodyPr wrap="square" lIns="0" tIns="0" rIns="0" bIns="0" rtlCol="0" anchor="ctr"/>
          <a:lstStyle/>
          <a:p>
            <a:pPr algn="ctr" indent="0" marL="0">
              <a:buNone/>
            </a:pPr>
            <a:r>
              <a:rPr lang="en-US" sz="2000" b="1" dirty="0">
                <a:solidFill>
                  <a:srgbClr val="1D4E89"/>
                </a:solidFill>
                <a:latin typeface="Cambria" pitchFamily="34" charset="0"/>
                <a:ea typeface="Cambria" pitchFamily="34" charset="-122"/>
                <a:cs typeface="Cambria" pitchFamily="34" charset="-120"/>
              </a:rPr>
              <a:t>41,6% / 51,1%</a:t>
            </a:r>
            <a:endParaRPr lang="en-US" sz="2000" dirty="0"/>
          </a:p>
        </p:txBody>
      </p:sp>
      <p:sp>
        <p:nvSpPr>
          <p:cNvPr id="36" name="Text 32"/>
          <p:cNvSpPr txBox="1"/>
          <p:nvPr/>
        </p:nvSpPr>
        <p:spPr>
          <a:xfrm>
            <a:off x="9765792" y="5340096"/>
            <a:ext cx="1682496" cy="384048"/>
          </a:xfrm>
          <a:prstGeom prst="rect">
            <a:avLst/>
          </a:prstGeom>
          <a:noFill/>
          <a:ln/>
        </p:spPr>
        <p:txBody>
          <a:bodyPr wrap="square" lIns="0" tIns="0" rIns="0" bIns="0" rtlCol="0" anchor="ctr"/>
          <a:lstStyle/>
          <a:p>
            <a:pPr algn="ctr" indent="0" marL="0">
              <a:lnSpc>
                <a:spcPct val="115000"/>
              </a:lnSpc>
              <a:buNone/>
            </a:pPr>
            <a:r>
              <a:rPr lang="en-US" sz="950" dirty="0">
                <a:solidFill>
                  <a:srgbClr val="6B7787"/>
                </a:solidFill>
                <a:latin typeface="Calibri" pitchFamily="34" charset="0"/>
                <a:ea typeface="Calibri" pitchFamily="34" charset="-122"/>
                <a:cs typeface="Calibri" pitchFamily="34" charset="-120"/>
              </a:rPr>
              <a:t>utenti e film con un solo voto</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pic>
        <p:nvPicPr>
          <p:cNvPr id="2" name="Image 0" descr="/home/claude/work/uicons/five-star-rating.png">    </p:cNvPr>
          <p:cNvPicPr>
            <a:picLocks noChangeAspect="1"/>
          </p:cNvPicPr>
          <p:nvPr/>
        </p:nvPicPr>
        <p:blipFill>
          <a:blip r:embed="rId1"/>
          <a:stretch>
            <a:fillRect/>
          </a:stretch>
        </p:blipFill>
        <p:spPr>
          <a:xfrm>
            <a:off x="11076127" y="384048"/>
            <a:ext cx="475488" cy="475488"/>
          </a:xfrm>
          <a:prstGeom prst="rect">
            <a:avLst/>
          </a:prstGeom>
        </p:spPr>
      </p:pic>
      <p:sp>
        <p:nvSpPr>
          <p:cNvPr id="3" name="Text 0"/>
          <p:cNvSpPr txBox="1"/>
          <p:nvPr/>
        </p:nvSpPr>
        <p:spPr>
          <a:xfrm>
            <a:off x="640080" y="438912"/>
            <a:ext cx="10088575" cy="237744"/>
          </a:xfrm>
          <a:prstGeom prst="rect">
            <a:avLst/>
          </a:prstGeom>
          <a:noFill/>
          <a:ln/>
        </p:spPr>
        <p:txBody>
          <a:bodyPr wrap="square" lIns="0" tIns="0" rIns="0" bIns="0" rtlCol="0" anchor="ctr"/>
          <a:lstStyle/>
          <a:p>
            <a:pPr indent="0" marL="0">
              <a:buNone/>
            </a:pPr>
            <a:r>
              <a:rPr lang="en-US" sz="1050" b="1" spc="200" kern="0" dirty="0">
                <a:solidFill>
                  <a:srgbClr val="1D4E89"/>
                </a:solidFill>
                <a:latin typeface="Calibri" pitchFamily="34" charset="0"/>
                <a:ea typeface="Calibri" pitchFamily="34" charset="-122"/>
                <a:cs typeface="Calibri" pitchFamily="34" charset="-120"/>
              </a:rPr>
              <a:t>PARTE 1 · COLLABORATIVE FILTERING</a:t>
            </a:r>
            <a:endParaRPr lang="en-US" sz="1050" dirty="0"/>
          </a:p>
        </p:txBody>
      </p:sp>
      <p:sp>
        <p:nvSpPr>
          <p:cNvPr id="4" name="Text 1"/>
          <p:cNvSpPr txBox="1"/>
          <p:nvPr/>
        </p:nvSpPr>
        <p:spPr>
          <a:xfrm>
            <a:off x="640080" y="731520"/>
            <a:ext cx="10088575" cy="566928"/>
          </a:xfrm>
          <a:prstGeom prst="rect">
            <a:avLst/>
          </a:prstGeom>
          <a:noFill/>
          <a:ln/>
        </p:spPr>
        <p:txBody>
          <a:bodyPr wrap="square" lIns="0" tIns="0" rIns="0" bIns="0" rtlCol="0" anchor="ctr"/>
          <a:lstStyle/>
          <a:p>
            <a:pPr indent="0" marL="0">
              <a:buNone/>
            </a:pPr>
            <a:r>
              <a:rPr lang="en-US" sz="2900" b="1" dirty="0">
                <a:solidFill>
                  <a:srgbClr val="16324F"/>
                </a:solidFill>
                <a:latin typeface="Cambria" pitchFamily="34" charset="0"/>
                <a:ea typeface="Cambria" pitchFamily="34" charset="-122"/>
                <a:cs typeface="Cambria" pitchFamily="34" charset="-120"/>
              </a:rPr>
              <a:t>K-NN e SVD sulla matrice dei voti</a:t>
            </a:r>
            <a:endParaRPr lang="en-US" sz="2900" dirty="0"/>
          </a:p>
        </p:txBody>
      </p:sp>
      <p:sp>
        <p:nvSpPr>
          <p:cNvPr id="5" name="Text 2"/>
          <p:cNvSpPr txBox="1"/>
          <p:nvPr/>
        </p:nvSpPr>
        <p:spPr>
          <a:xfrm>
            <a:off x="640080" y="1371600"/>
            <a:ext cx="10088575" cy="274320"/>
          </a:xfrm>
          <a:prstGeom prst="rect">
            <a:avLst/>
          </a:prstGeom>
          <a:noFill/>
          <a:ln/>
        </p:spPr>
        <p:txBody>
          <a:bodyPr wrap="square" lIns="0" tIns="0" rIns="0" bIns="0" rtlCol="0" anchor="ctr"/>
          <a:lstStyle/>
          <a:p>
            <a:pPr indent="0" marL="0">
              <a:buNone/>
            </a:pPr>
            <a:r>
              <a:rPr lang="en-US" sz="1250" i="1" dirty="0">
                <a:solidFill>
                  <a:srgbClr val="6B7787"/>
                </a:solidFill>
                <a:latin typeface="Calibri" pitchFamily="34" charset="0"/>
                <a:ea typeface="Calibri" pitchFamily="34" charset="-122"/>
                <a:cs typeface="Calibri" pitchFamily="34" charset="-120"/>
              </a:rPr>
              <a:t>Entrambi ottimizzati con grid search in cross-validation a 5 fold sulle stesse 141.863 valutazioni</a:t>
            </a:r>
            <a:endParaRPr lang="en-US" sz="1250" dirty="0"/>
          </a:p>
        </p:txBody>
      </p:sp>
      <p:sp>
        <p:nvSpPr>
          <p:cNvPr id="6" name="Text 3"/>
          <p:cNvSpPr txBox="1"/>
          <p:nvPr/>
        </p:nvSpPr>
        <p:spPr>
          <a:xfrm>
            <a:off x="640080" y="6473952"/>
            <a:ext cx="4572000" cy="237744"/>
          </a:xfrm>
          <a:prstGeom prst="rect">
            <a:avLst/>
          </a:prstGeom>
          <a:noFill/>
          <a:ln/>
        </p:spPr>
        <p:txBody>
          <a:bodyPr wrap="square" lIns="0" tIns="0" rIns="0" bIns="0" rtlCol="0" anchor="ctr"/>
          <a:lstStyle/>
          <a:p>
            <a:pPr indent="0" marL="0">
              <a:buNone/>
            </a:pPr>
            <a:r>
              <a:rPr lang="en-US" sz="900" dirty="0">
                <a:solidFill>
                  <a:srgbClr val="A7B3C1"/>
                </a:solidFill>
                <a:latin typeface="Calibri" pitchFamily="34" charset="0"/>
                <a:ea typeface="Calibri" pitchFamily="34" charset="-122"/>
                <a:cs typeface="Calibri" pitchFamily="34" charset="-120"/>
              </a:rPr>
              <a:t>Progetto MIGA  ·  A. Saverino</a:t>
            </a:r>
            <a:endParaRPr lang="en-US" sz="900" dirty="0"/>
          </a:p>
        </p:txBody>
      </p:sp>
      <p:sp>
        <p:nvSpPr>
          <p:cNvPr id="7" name="Text 4"/>
          <p:cNvSpPr txBox="1"/>
          <p:nvPr/>
        </p:nvSpPr>
        <p:spPr>
          <a:xfrm>
            <a:off x="8808415" y="6473952"/>
            <a:ext cx="2743200" cy="237744"/>
          </a:xfrm>
          <a:prstGeom prst="rect">
            <a:avLst/>
          </a:prstGeom>
          <a:noFill/>
          <a:ln/>
        </p:spPr>
        <p:txBody>
          <a:bodyPr wrap="square" lIns="0" tIns="0" rIns="0" bIns="0" rtlCol="0" anchor="ctr"/>
          <a:lstStyle/>
          <a:p>
            <a:pPr algn="r" indent="0" marL="0">
              <a:buNone/>
            </a:pPr>
            <a:r>
              <a:rPr lang="en-US" sz="900" dirty="0">
                <a:solidFill>
                  <a:srgbClr val="A7B3C1"/>
                </a:solidFill>
                <a:latin typeface="Calibri" pitchFamily="34" charset="0"/>
                <a:ea typeface="Calibri" pitchFamily="34" charset="-122"/>
                <a:cs typeface="Calibri" pitchFamily="34" charset="-120"/>
              </a:rPr>
              <a:t>4 / 10</a:t>
            </a:r>
            <a:endParaRPr lang="en-US" sz="900" dirty="0"/>
          </a:p>
        </p:txBody>
      </p:sp>
      <p:graphicFrame>
        <p:nvGraphicFramePr>
          <p:cNvPr id="8" name="Chart 0" descr=""/>
          <p:cNvGraphicFramePr/>
          <p:nvPr/>
        </p:nvGraphicFramePr>
        <p:xfrm>
          <a:off x="548640" y="1920240"/>
          <a:ext cx="5852160" cy="301752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640080" y="4937760"/>
            <a:ext cx="5669280" cy="237744"/>
          </a:xfrm>
          <a:prstGeom prst="rect">
            <a:avLst/>
          </a:prstGeom>
          <a:noFill/>
          <a:ln/>
        </p:spPr>
        <p:txBody>
          <a:bodyPr wrap="square" lIns="0" tIns="0" rIns="0" bIns="0" rtlCol="0" anchor="ctr"/>
          <a:lstStyle/>
          <a:p>
            <a:pPr algn="ctr" indent="0" marL="0">
              <a:buNone/>
            </a:pPr>
            <a:r>
              <a:rPr lang="en-US" sz="1000" i="1" dirty="0">
                <a:solidFill>
                  <a:srgbClr val="6B7787"/>
                </a:solidFill>
                <a:latin typeface="Calibri" pitchFamily="34" charset="0"/>
                <a:ea typeface="Calibri" pitchFamily="34" charset="-122"/>
                <a:cs typeface="Calibri" pitchFamily="34" charset="-120"/>
              </a:rPr>
              <a:t>Errore in cross-validation a 5 fold — più basso è meglio</a:t>
            </a:r>
            <a:endParaRPr lang="en-US" sz="1000" dirty="0"/>
          </a:p>
        </p:txBody>
      </p:sp>
      <p:sp>
        <p:nvSpPr>
          <p:cNvPr id="10" name="Shape 6"/>
          <p:cNvSpPr/>
          <p:nvPr/>
        </p:nvSpPr>
        <p:spPr>
          <a:xfrm>
            <a:off x="6720840" y="1920240"/>
            <a:ext cx="4828032" cy="3017520"/>
          </a:xfrm>
          <a:prstGeom prst="roundRect">
            <a:avLst>
              <a:gd name="adj" fmla="val 2121"/>
            </a:avLst>
          </a:prstGeom>
          <a:solidFill>
            <a:srgbClr val="16324F"/>
          </a:solidFill>
          <a:ln w="12700">
            <a:solidFill>
              <a:srgbClr val="16324F"/>
            </a:solidFill>
            <a:prstDash val="solid"/>
          </a:ln>
        </p:spPr>
      </p:sp>
      <p:sp>
        <p:nvSpPr>
          <p:cNvPr id="11" name="Text 7"/>
          <p:cNvSpPr txBox="1"/>
          <p:nvPr/>
        </p:nvSpPr>
        <p:spPr>
          <a:xfrm>
            <a:off x="7040880" y="2121408"/>
            <a:ext cx="4206240" cy="219456"/>
          </a:xfrm>
          <a:prstGeom prst="rect">
            <a:avLst/>
          </a:prstGeom>
          <a:noFill/>
          <a:ln/>
        </p:spPr>
        <p:txBody>
          <a:bodyPr wrap="square" lIns="0" tIns="0" rIns="0" bIns="0" rtlCol="0" anchor="ctr"/>
          <a:lstStyle/>
          <a:p>
            <a:pPr indent="0" marL="0">
              <a:buNone/>
            </a:pPr>
            <a:r>
              <a:rPr lang="en-US" sz="950" b="1" spc="150" kern="0" dirty="0">
                <a:solidFill>
                  <a:srgbClr val="7FB0DE"/>
                </a:solidFill>
                <a:latin typeface="Calibri" pitchFamily="34" charset="0"/>
                <a:ea typeface="Calibri" pitchFamily="34" charset="-122"/>
                <a:cs typeface="Calibri" pitchFamily="34" charset="-120"/>
              </a:rPr>
              <a:t>MODELLO MIGLIORE</a:t>
            </a:r>
            <a:endParaRPr lang="en-US" sz="950" dirty="0"/>
          </a:p>
        </p:txBody>
      </p:sp>
      <p:sp>
        <p:nvSpPr>
          <p:cNvPr id="12" name="Text 8"/>
          <p:cNvSpPr txBox="1"/>
          <p:nvPr/>
        </p:nvSpPr>
        <p:spPr>
          <a:xfrm>
            <a:off x="7040880" y="2359152"/>
            <a:ext cx="420624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SVD · Matrix Factorization</a:t>
            </a:r>
            <a:endParaRPr lang="en-US" sz="1700" dirty="0"/>
          </a:p>
        </p:txBody>
      </p:sp>
      <p:sp>
        <p:nvSpPr>
          <p:cNvPr id="13" name="Text 9"/>
          <p:cNvSpPr txBox="1"/>
          <p:nvPr/>
        </p:nvSpPr>
        <p:spPr>
          <a:xfrm>
            <a:off x="7040880" y="2706624"/>
            <a:ext cx="4206240" cy="7772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0,9401</a:t>
            </a:r>
            <a:endParaRPr lang="en-US" sz="4800" dirty="0"/>
          </a:p>
        </p:txBody>
      </p:sp>
      <p:sp>
        <p:nvSpPr>
          <p:cNvPr id="14" name="Text 10"/>
          <p:cNvSpPr txBox="1"/>
          <p:nvPr/>
        </p:nvSpPr>
        <p:spPr>
          <a:xfrm>
            <a:off x="7040880" y="3511296"/>
            <a:ext cx="4206240" cy="256032"/>
          </a:xfrm>
          <a:prstGeom prst="rect">
            <a:avLst/>
          </a:prstGeom>
          <a:noFill/>
          <a:ln/>
        </p:spPr>
        <p:txBody>
          <a:bodyPr wrap="square" lIns="0" tIns="0" rIns="0" bIns="0" rtlCol="0" anchor="ctr"/>
          <a:lstStyle/>
          <a:p>
            <a:pPr indent="0" marL="0">
              <a:buNone/>
            </a:pPr>
            <a:r>
              <a:rPr lang="en-US" sz="1150" dirty="0">
                <a:solidFill>
                  <a:srgbClr val="BBD0E6"/>
                </a:solidFill>
                <a:latin typeface="Calibri" pitchFamily="34" charset="0"/>
                <a:ea typeface="Calibri" pitchFamily="34" charset="-122"/>
                <a:cs typeface="Calibri" pitchFamily="34" charset="-120"/>
              </a:rPr>
              <a:t>RMSE  ·  −11,6% rispetto al K-NN (1,0630)</a:t>
            </a:r>
            <a:endParaRPr lang="en-US" sz="1150" dirty="0"/>
          </a:p>
        </p:txBody>
      </p:sp>
      <p:sp>
        <p:nvSpPr>
          <p:cNvPr id="15" name="Text 11"/>
          <p:cNvSpPr txBox="1"/>
          <p:nvPr/>
        </p:nvSpPr>
        <p:spPr>
          <a:xfrm>
            <a:off x="7040880" y="3803904"/>
            <a:ext cx="4206240" cy="457200"/>
          </a:xfrm>
          <a:prstGeom prst="rect">
            <a:avLst/>
          </a:prstGeom>
          <a:noFill/>
          <a:ln/>
        </p:spPr>
        <p:txBody>
          <a:bodyPr wrap="square" lIns="0" tIns="0" rIns="0" bIns="0" rtlCol="0" anchor="ctr"/>
          <a:lstStyle/>
          <a:p>
            <a:pPr indent="0" marL="0">
              <a:lnSpc>
                <a:spcPct val="115000"/>
              </a:lnSpc>
              <a:buNone/>
            </a:pPr>
            <a:r>
              <a:rPr lang="en-US" sz="1100" i="1" dirty="0">
                <a:solidFill>
                  <a:srgbClr val="93AFC9"/>
                </a:solidFill>
                <a:latin typeface="Calibri" pitchFamily="34" charset="0"/>
                <a:ea typeface="Calibri" pitchFamily="34" charset="-122"/>
                <a:cs typeface="Calibri" pitchFamily="34" charset="-120"/>
              </a:rPr>
              <a:t>L'RMSE è l'errore medio in stelle: 0,94 vuol dire sbagliare, in media, di poco meno di una stella su cinque.</a:t>
            </a:r>
            <a:endParaRPr lang="en-US" sz="1100" dirty="0"/>
          </a:p>
        </p:txBody>
      </p:sp>
      <p:sp>
        <p:nvSpPr>
          <p:cNvPr id="16" name="Text 12"/>
          <p:cNvSpPr txBox="1"/>
          <p:nvPr/>
        </p:nvSpPr>
        <p:spPr>
          <a:xfrm>
            <a:off x="7040880" y="4297680"/>
            <a:ext cx="4206240" cy="502920"/>
          </a:xfrm>
          <a:prstGeom prst="rect">
            <a:avLst/>
          </a:prstGeom>
          <a:noFill/>
          <a:ln/>
        </p:spPr>
        <p:txBody>
          <a:bodyPr wrap="square" lIns="0" tIns="0" rIns="0" bIns="0" rtlCol="0" anchor="ctr"/>
          <a:lstStyle/>
          <a:p>
            <a:pPr indent="0" marL="0">
              <a:lnSpc>
                <a:spcPct val="115000"/>
              </a:lnSpc>
              <a:buNone/>
            </a:pPr>
            <a:r>
              <a:rPr lang="en-US" sz="1150" dirty="0">
                <a:solidFill>
                  <a:srgbClr val="E3EDF6"/>
                </a:solidFill>
                <a:latin typeface="Calibri" pitchFamily="34" charset="0"/>
                <a:ea typeface="Calibri" pitchFamily="34" charset="-122"/>
                <a:cs typeface="Calibri" pitchFamily="34" charset="-120"/>
              </a:rPr>
              <a:t>Sulla matrice sparsa il K-NN ha pochi voti in comune su cui appoggiarsi; i fattori latenti dell'SVD generalizzano anche fra utenti che non hanno visto gli stessi film.</a:t>
            </a:r>
            <a:endParaRPr lang="en-US" sz="1150" dirty="0"/>
          </a:p>
        </p:txBody>
      </p:sp>
      <p:sp>
        <p:nvSpPr>
          <p:cNvPr id="17" name="Shape 13"/>
          <p:cNvSpPr/>
          <p:nvPr/>
        </p:nvSpPr>
        <p:spPr>
          <a:xfrm>
            <a:off x="640080" y="5257800"/>
            <a:ext cx="3503066" cy="868680"/>
          </a:xfrm>
          <a:prstGeom prst="roundRect">
            <a:avLst>
              <a:gd name="adj" fmla="val 7368"/>
            </a:avLst>
          </a:prstGeom>
          <a:solidFill>
            <a:srgbClr val="EDF2F8"/>
          </a:solidFill>
          <a:ln w="12700">
            <a:solidFill>
              <a:srgbClr val="D5DFEA"/>
            </a:solidFill>
            <a:prstDash val="solid"/>
          </a:ln>
        </p:spPr>
      </p:sp>
      <p:sp>
        <p:nvSpPr>
          <p:cNvPr id="18" name="Text 14"/>
          <p:cNvSpPr txBox="1"/>
          <p:nvPr/>
        </p:nvSpPr>
        <p:spPr>
          <a:xfrm>
            <a:off x="868680" y="5394960"/>
            <a:ext cx="3045866" cy="256032"/>
          </a:xfrm>
          <a:prstGeom prst="rect">
            <a:avLst/>
          </a:prstGeom>
          <a:noFill/>
          <a:ln/>
        </p:spPr>
        <p:txBody>
          <a:bodyPr wrap="square" lIns="0" tIns="0" rIns="0" bIns="0" rtlCol="0" anchor="ctr"/>
          <a:lstStyle/>
          <a:p>
            <a:pPr indent="0" marL="0">
              <a:buNone/>
            </a:pPr>
            <a:r>
              <a:rPr lang="en-US" sz="1150" b="1" dirty="0">
                <a:solidFill>
                  <a:srgbClr val="1D4E89"/>
                </a:solidFill>
                <a:latin typeface="Calibri" pitchFamily="34" charset="0"/>
                <a:ea typeface="Calibri" pitchFamily="34" charset="-122"/>
                <a:cs typeface="Calibri" pitchFamily="34" charset="-120"/>
              </a:rPr>
              <a:t>SVD · configurazione ottimale</a:t>
            </a:r>
            <a:endParaRPr lang="en-US" sz="1150" dirty="0"/>
          </a:p>
        </p:txBody>
      </p:sp>
      <p:sp>
        <p:nvSpPr>
          <p:cNvPr id="19" name="Text 15"/>
          <p:cNvSpPr txBox="1"/>
          <p:nvPr/>
        </p:nvSpPr>
        <p:spPr>
          <a:xfrm>
            <a:off x="868680" y="5669280"/>
            <a:ext cx="3045866" cy="274320"/>
          </a:xfrm>
          <a:prstGeom prst="rect">
            <a:avLst/>
          </a:prstGeom>
          <a:noFill/>
          <a:ln/>
        </p:spPr>
        <p:txBody>
          <a:bodyPr wrap="square" lIns="0" tIns="0" rIns="0" bIns="0" rtlCol="0" anchor="ctr"/>
          <a:lstStyle/>
          <a:p>
            <a:pPr indent="0" marL="0">
              <a:buNone/>
            </a:pPr>
            <a:r>
              <a:rPr lang="en-US" sz="1050" dirty="0">
                <a:solidFill>
                  <a:srgbClr val="6B7787"/>
                </a:solidFill>
                <a:latin typeface="Calibri" pitchFamily="34" charset="0"/>
                <a:ea typeface="Calibri" pitchFamily="34" charset="-122"/>
                <a:cs typeface="Calibri" pitchFamily="34" charset="-120"/>
              </a:rPr>
              <a:t>50 fattori latenti  ·  regolarizzazione 0,05</a:t>
            </a:r>
            <a:endParaRPr lang="en-US" sz="1050" dirty="0"/>
          </a:p>
        </p:txBody>
      </p:sp>
      <p:sp>
        <p:nvSpPr>
          <p:cNvPr id="20" name="Shape 16"/>
          <p:cNvSpPr/>
          <p:nvPr/>
        </p:nvSpPr>
        <p:spPr>
          <a:xfrm>
            <a:off x="4344314" y="5257800"/>
            <a:ext cx="3503066" cy="868680"/>
          </a:xfrm>
          <a:prstGeom prst="roundRect">
            <a:avLst>
              <a:gd name="adj" fmla="val 7368"/>
            </a:avLst>
          </a:prstGeom>
          <a:solidFill>
            <a:srgbClr val="EDF2F8"/>
          </a:solidFill>
          <a:ln w="12700">
            <a:solidFill>
              <a:srgbClr val="D5DFEA"/>
            </a:solidFill>
            <a:prstDash val="solid"/>
          </a:ln>
        </p:spPr>
      </p:sp>
      <p:sp>
        <p:nvSpPr>
          <p:cNvPr id="21" name="Text 17"/>
          <p:cNvSpPr txBox="1"/>
          <p:nvPr/>
        </p:nvSpPr>
        <p:spPr>
          <a:xfrm>
            <a:off x="4572914" y="5394960"/>
            <a:ext cx="3045866" cy="256032"/>
          </a:xfrm>
          <a:prstGeom prst="rect">
            <a:avLst/>
          </a:prstGeom>
          <a:noFill/>
          <a:ln/>
        </p:spPr>
        <p:txBody>
          <a:bodyPr wrap="square" lIns="0" tIns="0" rIns="0" bIns="0" rtlCol="0" anchor="ctr"/>
          <a:lstStyle/>
          <a:p>
            <a:pPr indent="0" marL="0">
              <a:buNone/>
            </a:pPr>
            <a:r>
              <a:rPr lang="en-US" sz="1150" b="1" dirty="0">
                <a:solidFill>
                  <a:srgbClr val="1D4E89"/>
                </a:solidFill>
                <a:latin typeface="Calibri" pitchFamily="34" charset="0"/>
                <a:ea typeface="Calibri" pitchFamily="34" charset="-122"/>
                <a:cs typeface="Calibri" pitchFamily="34" charset="-120"/>
              </a:rPr>
              <a:t>K-NN · configurazione ottimale</a:t>
            </a:r>
            <a:endParaRPr lang="en-US" sz="1150" dirty="0"/>
          </a:p>
        </p:txBody>
      </p:sp>
      <p:sp>
        <p:nvSpPr>
          <p:cNvPr id="22" name="Text 18"/>
          <p:cNvSpPr txBox="1"/>
          <p:nvPr/>
        </p:nvSpPr>
        <p:spPr>
          <a:xfrm>
            <a:off x="4572914" y="5669280"/>
            <a:ext cx="3045866" cy="274320"/>
          </a:xfrm>
          <a:prstGeom prst="rect">
            <a:avLst/>
          </a:prstGeom>
          <a:noFill/>
          <a:ln/>
        </p:spPr>
        <p:txBody>
          <a:bodyPr wrap="square" lIns="0" tIns="0" rIns="0" bIns="0" rtlCol="0" anchor="ctr"/>
          <a:lstStyle/>
          <a:p>
            <a:pPr indent="0" marL="0">
              <a:buNone/>
            </a:pPr>
            <a:r>
              <a:rPr lang="en-US" sz="1050" dirty="0">
                <a:solidFill>
                  <a:srgbClr val="6B7787"/>
                </a:solidFill>
                <a:latin typeface="Calibri" pitchFamily="34" charset="0"/>
                <a:ea typeface="Calibri" pitchFamily="34" charset="-122"/>
                <a:cs typeface="Calibri" pitchFamily="34" charset="-120"/>
              </a:rPr>
              <a:t>cosine  ·  item-based  ·  k = 40</a:t>
            </a:r>
            <a:endParaRPr lang="en-US" sz="1050" dirty="0"/>
          </a:p>
        </p:txBody>
      </p:sp>
      <p:sp>
        <p:nvSpPr>
          <p:cNvPr id="23" name="Shape 19"/>
          <p:cNvSpPr/>
          <p:nvPr/>
        </p:nvSpPr>
        <p:spPr>
          <a:xfrm>
            <a:off x="8048549" y="5257800"/>
            <a:ext cx="3503066" cy="868680"/>
          </a:xfrm>
          <a:prstGeom prst="roundRect">
            <a:avLst>
              <a:gd name="adj" fmla="val 7368"/>
            </a:avLst>
          </a:prstGeom>
          <a:solidFill>
            <a:srgbClr val="EDF2F8"/>
          </a:solidFill>
          <a:ln w="12700">
            <a:solidFill>
              <a:srgbClr val="D5DFEA"/>
            </a:solidFill>
            <a:prstDash val="solid"/>
          </a:ln>
        </p:spPr>
      </p:sp>
      <p:sp>
        <p:nvSpPr>
          <p:cNvPr id="24" name="Text 20"/>
          <p:cNvSpPr txBox="1"/>
          <p:nvPr/>
        </p:nvSpPr>
        <p:spPr>
          <a:xfrm>
            <a:off x="8277149" y="5394960"/>
            <a:ext cx="3045866" cy="256032"/>
          </a:xfrm>
          <a:prstGeom prst="rect">
            <a:avLst/>
          </a:prstGeom>
          <a:noFill/>
          <a:ln/>
        </p:spPr>
        <p:txBody>
          <a:bodyPr wrap="square" lIns="0" tIns="0" rIns="0" bIns="0" rtlCol="0" anchor="ctr"/>
          <a:lstStyle/>
          <a:p>
            <a:pPr indent="0" marL="0">
              <a:buNone/>
            </a:pPr>
            <a:r>
              <a:rPr lang="en-US" sz="1150" b="1" dirty="0">
                <a:solidFill>
                  <a:srgbClr val="1D4E89"/>
                </a:solidFill>
                <a:latin typeface="Calibri" pitchFamily="34" charset="0"/>
                <a:ea typeface="Calibri" pitchFamily="34" charset="-122"/>
                <a:cs typeface="Calibri" pitchFamily="34" charset="-120"/>
              </a:rPr>
              <a:t>Filling e liste Top-N</a:t>
            </a:r>
            <a:endParaRPr lang="en-US" sz="1150" dirty="0"/>
          </a:p>
        </p:txBody>
      </p:sp>
      <p:sp>
        <p:nvSpPr>
          <p:cNvPr id="25" name="Text 21"/>
          <p:cNvSpPr txBox="1"/>
          <p:nvPr/>
        </p:nvSpPr>
        <p:spPr>
          <a:xfrm>
            <a:off x="8277149" y="5669280"/>
            <a:ext cx="3045866" cy="274320"/>
          </a:xfrm>
          <a:prstGeom prst="rect">
            <a:avLst/>
          </a:prstGeom>
          <a:noFill/>
          <a:ln/>
        </p:spPr>
        <p:txBody>
          <a:bodyPr wrap="square" lIns="0" tIns="0" rIns="0" bIns="0" rtlCol="0" anchor="ctr"/>
          <a:lstStyle/>
          <a:p>
            <a:pPr indent="0" marL="0">
              <a:buNone/>
            </a:pPr>
            <a:r>
              <a:rPr lang="en-US" sz="1050" dirty="0">
                <a:solidFill>
                  <a:srgbClr val="6B7787"/>
                </a:solidFill>
                <a:latin typeface="Calibri" pitchFamily="34" charset="0"/>
                <a:ea typeface="Calibri" pitchFamily="34" charset="-122"/>
                <a:cs typeface="Calibri" pitchFamily="34" charset="-120"/>
              </a:rPr>
              <a:t>10 titoli per 2.000 utenti, dal riempimento SVD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pic>
        <p:nvPicPr>
          <p:cNvPr id="2" name="Image 0" descr="/home/claude/work/uicons/five-star-rating.png">    </p:cNvPr>
          <p:cNvPicPr>
            <a:picLocks noChangeAspect="1"/>
          </p:cNvPicPr>
          <p:nvPr/>
        </p:nvPicPr>
        <p:blipFill>
          <a:blip r:embed="rId1"/>
          <a:stretch>
            <a:fillRect/>
          </a:stretch>
        </p:blipFill>
        <p:spPr>
          <a:xfrm>
            <a:off x="11076127" y="384048"/>
            <a:ext cx="475488" cy="475488"/>
          </a:xfrm>
          <a:prstGeom prst="rect">
            <a:avLst/>
          </a:prstGeom>
        </p:spPr>
      </p:pic>
      <p:sp>
        <p:nvSpPr>
          <p:cNvPr id="3" name="Text 0"/>
          <p:cNvSpPr txBox="1"/>
          <p:nvPr/>
        </p:nvSpPr>
        <p:spPr>
          <a:xfrm>
            <a:off x="640080" y="438912"/>
            <a:ext cx="10088575" cy="237744"/>
          </a:xfrm>
          <a:prstGeom prst="rect">
            <a:avLst/>
          </a:prstGeom>
          <a:noFill/>
          <a:ln/>
        </p:spPr>
        <p:txBody>
          <a:bodyPr wrap="square" lIns="0" tIns="0" rIns="0" bIns="0" rtlCol="0" anchor="ctr"/>
          <a:lstStyle/>
          <a:p>
            <a:pPr indent="0" marL="0">
              <a:buNone/>
            </a:pPr>
            <a:r>
              <a:rPr lang="en-US" sz="1050" b="1" spc="200" kern="0" dirty="0">
                <a:solidFill>
                  <a:srgbClr val="1D4E89"/>
                </a:solidFill>
                <a:latin typeface="Calibri" pitchFamily="34" charset="0"/>
                <a:ea typeface="Calibri" pitchFamily="34" charset="-122"/>
                <a:cs typeface="Calibri" pitchFamily="34" charset="-120"/>
              </a:rPr>
              <a:t>PARTE 1 · SEGMENTAZIONE UTENTI</a:t>
            </a:r>
            <a:endParaRPr lang="en-US" sz="1050" dirty="0"/>
          </a:p>
        </p:txBody>
      </p:sp>
      <p:sp>
        <p:nvSpPr>
          <p:cNvPr id="4" name="Text 1"/>
          <p:cNvSpPr txBox="1"/>
          <p:nvPr/>
        </p:nvSpPr>
        <p:spPr>
          <a:xfrm>
            <a:off x="640080" y="731520"/>
            <a:ext cx="10088575" cy="566928"/>
          </a:xfrm>
          <a:prstGeom prst="rect">
            <a:avLst/>
          </a:prstGeom>
          <a:noFill/>
          <a:ln/>
        </p:spPr>
        <p:txBody>
          <a:bodyPr wrap="square" lIns="0" tIns="0" rIns="0" bIns="0" rtlCol="0" anchor="ctr"/>
          <a:lstStyle/>
          <a:p>
            <a:pPr indent="0" marL="0">
              <a:buNone/>
            </a:pPr>
            <a:r>
              <a:rPr lang="en-US" sz="2900" b="1" dirty="0">
                <a:solidFill>
                  <a:srgbClr val="16324F"/>
                </a:solidFill>
                <a:latin typeface="Cambria" pitchFamily="34" charset="0"/>
                <a:ea typeface="Cambria" pitchFamily="34" charset="-122"/>
                <a:cs typeface="Cambria" pitchFamily="34" charset="-120"/>
              </a:rPr>
              <a:t>Due profili di voto, nettamente separati</a:t>
            </a:r>
            <a:endParaRPr lang="en-US" sz="2900" dirty="0"/>
          </a:p>
        </p:txBody>
      </p:sp>
      <p:sp>
        <p:nvSpPr>
          <p:cNvPr id="5" name="Text 2"/>
          <p:cNvSpPr txBox="1"/>
          <p:nvPr/>
        </p:nvSpPr>
        <p:spPr>
          <a:xfrm>
            <a:off x="640080" y="1371600"/>
            <a:ext cx="10088575" cy="274320"/>
          </a:xfrm>
          <a:prstGeom prst="rect">
            <a:avLst/>
          </a:prstGeom>
          <a:noFill/>
          <a:ln/>
        </p:spPr>
        <p:txBody>
          <a:bodyPr wrap="square" lIns="0" tIns="0" rIns="0" bIns="0" rtlCol="0" anchor="ctr"/>
          <a:lstStyle/>
          <a:p>
            <a:pPr indent="0" marL="0">
              <a:buNone/>
            </a:pPr>
            <a:r>
              <a:rPr lang="en-US" sz="1250" i="1" dirty="0">
                <a:solidFill>
                  <a:srgbClr val="6B7787"/>
                </a:solidFill>
                <a:latin typeface="Calibri" pitchFamily="34" charset="0"/>
                <a:ea typeface="Calibri" pitchFamily="34" charset="-122"/>
                <a:cs typeface="Calibri" pitchFamily="34" charset="-120"/>
              </a:rPr>
              <a:t>K-Means sui profili ricostruiti dall'SVD · numero di cluster scelto con Elbow e Silhouette</a:t>
            </a:r>
            <a:endParaRPr lang="en-US" sz="1250" dirty="0"/>
          </a:p>
        </p:txBody>
      </p:sp>
      <p:sp>
        <p:nvSpPr>
          <p:cNvPr id="6" name="Text 3"/>
          <p:cNvSpPr txBox="1"/>
          <p:nvPr/>
        </p:nvSpPr>
        <p:spPr>
          <a:xfrm>
            <a:off x="640080" y="6473952"/>
            <a:ext cx="4572000" cy="237744"/>
          </a:xfrm>
          <a:prstGeom prst="rect">
            <a:avLst/>
          </a:prstGeom>
          <a:noFill/>
          <a:ln/>
        </p:spPr>
        <p:txBody>
          <a:bodyPr wrap="square" lIns="0" tIns="0" rIns="0" bIns="0" rtlCol="0" anchor="ctr"/>
          <a:lstStyle/>
          <a:p>
            <a:pPr indent="0" marL="0">
              <a:buNone/>
            </a:pPr>
            <a:r>
              <a:rPr lang="en-US" sz="900" dirty="0">
                <a:solidFill>
                  <a:srgbClr val="A7B3C1"/>
                </a:solidFill>
                <a:latin typeface="Calibri" pitchFamily="34" charset="0"/>
                <a:ea typeface="Calibri" pitchFamily="34" charset="-122"/>
                <a:cs typeface="Calibri" pitchFamily="34" charset="-120"/>
              </a:rPr>
              <a:t>Progetto MIGA  ·  A. Saverino</a:t>
            </a:r>
            <a:endParaRPr lang="en-US" sz="900" dirty="0"/>
          </a:p>
        </p:txBody>
      </p:sp>
      <p:sp>
        <p:nvSpPr>
          <p:cNvPr id="7" name="Text 4"/>
          <p:cNvSpPr txBox="1"/>
          <p:nvPr/>
        </p:nvSpPr>
        <p:spPr>
          <a:xfrm>
            <a:off x="8808415" y="6473952"/>
            <a:ext cx="2743200" cy="237744"/>
          </a:xfrm>
          <a:prstGeom prst="rect">
            <a:avLst/>
          </a:prstGeom>
          <a:noFill/>
          <a:ln/>
        </p:spPr>
        <p:txBody>
          <a:bodyPr wrap="square" lIns="0" tIns="0" rIns="0" bIns="0" rtlCol="0" anchor="ctr"/>
          <a:lstStyle/>
          <a:p>
            <a:pPr algn="r" indent="0" marL="0">
              <a:buNone/>
            </a:pPr>
            <a:r>
              <a:rPr lang="en-US" sz="900" dirty="0">
                <a:solidFill>
                  <a:srgbClr val="A7B3C1"/>
                </a:solidFill>
                <a:latin typeface="Calibri" pitchFamily="34" charset="0"/>
                <a:ea typeface="Calibri" pitchFamily="34" charset="-122"/>
                <a:cs typeface="Calibri" pitchFamily="34" charset="-120"/>
              </a:rPr>
              <a:t>5 / 10</a:t>
            </a:r>
            <a:endParaRPr lang="en-US" sz="900" dirty="0"/>
          </a:p>
        </p:txBody>
      </p:sp>
      <p:sp>
        <p:nvSpPr>
          <p:cNvPr id="8" name="Shape 5"/>
          <p:cNvSpPr/>
          <p:nvPr/>
        </p:nvSpPr>
        <p:spPr>
          <a:xfrm>
            <a:off x="640080" y="1920240"/>
            <a:ext cx="5943600" cy="3977640"/>
          </a:xfrm>
          <a:prstGeom prst="roundRect">
            <a:avLst>
              <a:gd name="adj" fmla="val 1609"/>
            </a:avLst>
          </a:prstGeom>
          <a:solidFill>
            <a:srgbClr val="FFFFFF"/>
          </a:solidFill>
          <a:ln w="12700">
            <a:solidFill>
              <a:srgbClr val="D5DFEA"/>
            </a:solidFill>
            <a:prstDash val="solid"/>
          </a:ln>
        </p:spPr>
      </p:sp>
      <p:pic>
        <p:nvPicPr>
          <p:cNvPr id="9" name="Image 1" descr="/home/claude/work/vf/scatter_pca.png">    </p:cNvPr>
          <p:cNvPicPr>
            <a:picLocks noChangeAspect="1"/>
          </p:cNvPicPr>
          <p:nvPr/>
        </p:nvPicPr>
        <p:blipFill>
          <a:blip r:embed="rId2"/>
          <a:stretch>
            <a:fillRect/>
          </a:stretch>
        </p:blipFill>
        <p:spPr>
          <a:xfrm>
            <a:off x="804672" y="2084832"/>
            <a:ext cx="5614416" cy="3648456"/>
          </a:xfrm>
          <a:prstGeom prst="rect">
            <a:avLst/>
          </a:prstGeom>
        </p:spPr>
      </p:pic>
      <p:sp>
        <p:nvSpPr>
          <p:cNvPr id="10" name="Text 6"/>
          <p:cNvSpPr txBox="1"/>
          <p:nvPr/>
        </p:nvSpPr>
        <p:spPr>
          <a:xfrm>
            <a:off x="640080" y="5989320"/>
            <a:ext cx="5943600" cy="237744"/>
          </a:xfrm>
          <a:prstGeom prst="rect">
            <a:avLst/>
          </a:prstGeom>
          <a:noFill/>
          <a:ln/>
        </p:spPr>
        <p:txBody>
          <a:bodyPr wrap="square" lIns="0" tIns="0" rIns="0" bIns="0" rtlCol="0" anchor="ctr"/>
          <a:lstStyle/>
          <a:p>
            <a:pPr algn="ctr" indent="0" marL="0">
              <a:buNone/>
            </a:pPr>
            <a:r>
              <a:rPr lang="en-US" sz="1000" i="1" dirty="0">
                <a:solidFill>
                  <a:srgbClr val="6B7787"/>
                </a:solidFill>
                <a:latin typeface="Calibri" pitchFamily="34" charset="0"/>
                <a:ea typeface="Calibri" pitchFamily="34" charset="-122"/>
                <a:cs typeface="Calibri" pitchFamily="34" charset="-120"/>
              </a:rPr>
              <a:t>Proiezione PCA dei 4.000 utenti nei due cluster</a:t>
            </a:r>
            <a:endParaRPr lang="en-US" sz="1000" dirty="0"/>
          </a:p>
        </p:txBody>
      </p:sp>
      <p:sp>
        <p:nvSpPr>
          <p:cNvPr id="11" name="Shape 7"/>
          <p:cNvSpPr/>
          <p:nvPr/>
        </p:nvSpPr>
        <p:spPr>
          <a:xfrm>
            <a:off x="6858000" y="1920240"/>
            <a:ext cx="4693615" cy="1051560"/>
          </a:xfrm>
          <a:prstGeom prst="roundRect">
            <a:avLst>
              <a:gd name="adj" fmla="val 6087"/>
            </a:avLst>
          </a:prstGeom>
          <a:solidFill>
            <a:srgbClr val="16324F"/>
          </a:solidFill>
          <a:ln w="12700">
            <a:solidFill>
              <a:srgbClr val="16324F"/>
            </a:solidFill>
            <a:prstDash val="solid"/>
          </a:ln>
        </p:spPr>
      </p:sp>
      <p:sp>
        <p:nvSpPr>
          <p:cNvPr id="12" name="Text 8"/>
          <p:cNvSpPr txBox="1"/>
          <p:nvPr/>
        </p:nvSpPr>
        <p:spPr>
          <a:xfrm>
            <a:off x="7178040" y="1920240"/>
            <a:ext cx="1371600" cy="10515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k = 2</a:t>
            </a:r>
            <a:endParaRPr lang="en-US" sz="2700" dirty="0"/>
          </a:p>
        </p:txBody>
      </p:sp>
      <p:sp>
        <p:nvSpPr>
          <p:cNvPr id="13" name="Text 9"/>
          <p:cNvSpPr txBox="1"/>
          <p:nvPr/>
        </p:nvSpPr>
        <p:spPr>
          <a:xfrm>
            <a:off x="8595360" y="2157984"/>
            <a:ext cx="26517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silhouette 0,785</a:t>
            </a:r>
            <a:endParaRPr lang="en-US" sz="1300" dirty="0"/>
          </a:p>
        </p:txBody>
      </p:sp>
      <p:sp>
        <p:nvSpPr>
          <p:cNvPr id="14" name="Text 10"/>
          <p:cNvSpPr txBox="1"/>
          <p:nvPr/>
        </p:nvSpPr>
        <p:spPr>
          <a:xfrm>
            <a:off x="8595360" y="2450592"/>
            <a:ext cx="2651760" cy="274320"/>
          </a:xfrm>
          <a:prstGeom prst="rect">
            <a:avLst/>
          </a:prstGeom>
          <a:noFill/>
          <a:ln/>
        </p:spPr>
        <p:txBody>
          <a:bodyPr wrap="square" lIns="0" tIns="0" rIns="0" bIns="0" rtlCol="0" anchor="ctr"/>
          <a:lstStyle/>
          <a:p>
            <a:pPr indent="0" marL="0">
              <a:buNone/>
            </a:pPr>
            <a:r>
              <a:rPr lang="en-US" sz="1050" dirty="0">
                <a:solidFill>
                  <a:srgbClr val="BBD0E6"/>
                </a:solidFill>
                <a:latin typeface="Calibri" pitchFamily="34" charset="0"/>
                <a:ea typeface="Calibri" pitchFamily="34" charset="-122"/>
                <a:cs typeface="Calibri" pitchFamily="34" charset="-120"/>
              </a:rPr>
              <a:t>i due gruppi sono realmente separati</a:t>
            </a:r>
            <a:endParaRPr lang="en-US" sz="1050" dirty="0"/>
          </a:p>
        </p:txBody>
      </p:sp>
      <p:sp>
        <p:nvSpPr>
          <p:cNvPr id="15" name="Shape 11"/>
          <p:cNvSpPr/>
          <p:nvPr/>
        </p:nvSpPr>
        <p:spPr>
          <a:xfrm>
            <a:off x="6858000" y="3154680"/>
            <a:ext cx="4693615" cy="1280160"/>
          </a:xfrm>
          <a:prstGeom prst="roundRect">
            <a:avLst>
              <a:gd name="adj" fmla="val 5000"/>
            </a:avLst>
          </a:prstGeom>
          <a:solidFill>
            <a:srgbClr val="EDF2F8"/>
          </a:solidFill>
          <a:ln w="12700">
            <a:solidFill>
              <a:srgbClr val="D5DFEA"/>
            </a:solidFill>
            <a:prstDash val="solid"/>
          </a:ln>
        </p:spPr>
      </p:sp>
      <p:sp>
        <p:nvSpPr>
          <p:cNvPr id="16" name="Shape 12"/>
          <p:cNvSpPr/>
          <p:nvPr/>
        </p:nvSpPr>
        <p:spPr>
          <a:xfrm>
            <a:off x="6858000" y="3355848"/>
            <a:ext cx="82296" cy="877824"/>
          </a:xfrm>
          <a:prstGeom prst="rect">
            <a:avLst/>
          </a:prstGeom>
          <a:solidFill>
            <a:srgbClr val="8FA6BC"/>
          </a:solidFill>
          <a:ln w="12700">
            <a:solidFill>
              <a:srgbClr val="8FA6BC"/>
            </a:solidFill>
            <a:prstDash val="solid"/>
          </a:ln>
        </p:spPr>
      </p:sp>
      <p:sp>
        <p:nvSpPr>
          <p:cNvPr id="17" name="Text 13"/>
          <p:cNvSpPr txBox="1"/>
          <p:nvPr/>
        </p:nvSpPr>
        <p:spPr>
          <a:xfrm>
            <a:off x="7150608" y="3300984"/>
            <a:ext cx="2377440" cy="310896"/>
          </a:xfrm>
          <a:prstGeom prst="rect">
            <a:avLst/>
          </a:prstGeom>
          <a:noFill/>
          <a:ln/>
        </p:spPr>
        <p:txBody>
          <a:bodyPr wrap="square" lIns="0" tIns="0" rIns="0" bIns="0" rtlCol="0" anchor="ctr"/>
          <a:lstStyle/>
          <a:p>
            <a:pPr indent="0" marL="0">
              <a:buNone/>
            </a:pPr>
            <a:r>
              <a:rPr lang="en-US" sz="1700" b="1" dirty="0">
                <a:solidFill>
                  <a:srgbClr val="16324F"/>
                </a:solidFill>
                <a:latin typeface="Cambria" pitchFamily="34" charset="0"/>
                <a:ea typeface="Cambria" pitchFamily="34" charset="-122"/>
                <a:cs typeface="Cambria" pitchFamily="34" charset="-120"/>
              </a:rPr>
              <a:t>Utenti critici</a:t>
            </a:r>
            <a:endParaRPr lang="en-US" sz="1700" dirty="0"/>
          </a:p>
        </p:txBody>
      </p:sp>
      <p:sp>
        <p:nvSpPr>
          <p:cNvPr id="18" name="Text 14"/>
          <p:cNvSpPr txBox="1"/>
          <p:nvPr/>
        </p:nvSpPr>
        <p:spPr>
          <a:xfrm>
            <a:off x="9509760" y="3319272"/>
            <a:ext cx="1645920" cy="548640"/>
          </a:xfrm>
          <a:prstGeom prst="rect">
            <a:avLst/>
          </a:prstGeom>
          <a:noFill/>
          <a:ln/>
        </p:spPr>
        <p:txBody>
          <a:bodyPr wrap="square" lIns="0" tIns="0" rIns="0" bIns="0" rtlCol="0" anchor="ctr"/>
          <a:lstStyle/>
          <a:p>
            <a:pPr algn="r" indent="0" marL="0">
              <a:buNone/>
            </a:pPr>
            <a:r>
              <a:rPr lang="en-US" sz="3000" b="1" dirty="0">
                <a:solidFill>
                  <a:srgbClr val="16324F"/>
                </a:solidFill>
                <a:latin typeface="Cambria" pitchFamily="34" charset="0"/>
                <a:ea typeface="Cambria" pitchFamily="34" charset="-122"/>
                <a:cs typeface="Cambria" pitchFamily="34" charset="-120"/>
              </a:rPr>
              <a:t>3,69</a:t>
            </a:r>
            <a:endParaRPr lang="en-US" sz="3000" dirty="0"/>
          </a:p>
        </p:txBody>
      </p:sp>
      <p:sp>
        <p:nvSpPr>
          <p:cNvPr id="19" name="Text 15"/>
          <p:cNvSpPr txBox="1"/>
          <p:nvPr/>
        </p:nvSpPr>
        <p:spPr>
          <a:xfrm>
            <a:off x="9509760" y="3886200"/>
            <a:ext cx="1645920" cy="219456"/>
          </a:xfrm>
          <a:prstGeom prst="rect">
            <a:avLst/>
          </a:prstGeom>
          <a:noFill/>
          <a:ln/>
        </p:spPr>
        <p:txBody>
          <a:bodyPr wrap="square" lIns="0" tIns="0" rIns="0" bIns="0" rtlCol="0" anchor="ctr"/>
          <a:lstStyle/>
          <a:p>
            <a:pPr algn="r" indent="0" marL="0">
              <a:buNone/>
            </a:pPr>
            <a:r>
              <a:rPr lang="en-US" sz="950" dirty="0">
                <a:solidFill>
                  <a:srgbClr val="6B7787"/>
                </a:solidFill>
                <a:latin typeface="Calibri" pitchFamily="34" charset="0"/>
                <a:ea typeface="Calibri" pitchFamily="34" charset="-122"/>
                <a:cs typeface="Calibri" pitchFamily="34" charset="-120"/>
              </a:rPr>
              <a:t>voto medio</a:t>
            </a:r>
            <a:endParaRPr lang="en-US" sz="950" dirty="0"/>
          </a:p>
        </p:txBody>
      </p:sp>
      <p:sp>
        <p:nvSpPr>
          <p:cNvPr id="20" name="Text 16"/>
          <p:cNvSpPr txBox="1"/>
          <p:nvPr/>
        </p:nvSpPr>
        <p:spPr>
          <a:xfrm>
            <a:off x="7150608" y="3648456"/>
            <a:ext cx="2377440" cy="237744"/>
          </a:xfrm>
          <a:prstGeom prst="rect">
            <a:avLst/>
          </a:prstGeom>
          <a:noFill/>
          <a:ln/>
        </p:spPr>
        <p:txBody>
          <a:bodyPr wrap="square" lIns="0" tIns="0" rIns="0" bIns="0" rtlCol="0" anchor="ctr"/>
          <a:lstStyle/>
          <a:p>
            <a:pPr indent="0" marL="0">
              <a:buNone/>
            </a:pPr>
            <a:r>
              <a:rPr lang="en-US" sz="1050" dirty="0">
                <a:solidFill>
                  <a:srgbClr val="1D4E89"/>
                </a:solidFill>
                <a:latin typeface="Calibri" pitchFamily="34" charset="0"/>
                <a:ea typeface="Calibri" pitchFamily="34" charset="-122"/>
                <a:cs typeface="Calibri" pitchFamily="34" charset="-120"/>
              </a:rPr>
              <a:t>1.718 utenti  ·  64.819 voti</a:t>
            </a:r>
            <a:endParaRPr lang="en-US" sz="1050" dirty="0"/>
          </a:p>
        </p:txBody>
      </p:sp>
      <p:sp>
        <p:nvSpPr>
          <p:cNvPr id="21" name="Text 17"/>
          <p:cNvSpPr txBox="1"/>
          <p:nvPr/>
        </p:nvSpPr>
        <p:spPr>
          <a:xfrm>
            <a:off x="7150608" y="3904488"/>
            <a:ext cx="2286000" cy="457200"/>
          </a:xfrm>
          <a:prstGeom prst="rect">
            <a:avLst/>
          </a:prstGeom>
          <a:noFill/>
          <a:ln/>
        </p:spPr>
        <p:txBody>
          <a:bodyPr wrap="square" lIns="0" tIns="0" rIns="0" bIns="0" rtlCol="0" anchor="ctr"/>
          <a:lstStyle/>
          <a:p>
            <a:pPr indent="0" marL="0">
              <a:lnSpc>
                <a:spcPct val="115000"/>
              </a:lnSpc>
              <a:buNone/>
            </a:pPr>
            <a:r>
              <a:rPr lang="en-US" sz="1050" dirty="0">
                <a:solidFill>
                  <a:srgbClr val="6B7787"/>
                </a:solidFill>
                <a:latin typeface="Calibri" pitchFamily="34" charset="0"/>
                <a:ea typeface="Calibri" pitchFamily="34" charset="-122"/>
                <a:cs typeface="Calibri" pitchFamily="34" charset="-120"/>
              </a:rPr>
              <a:t>valutano con attenzione, danno voti bassi più spesso</a:t>
            </a:r>
            <a:endParaRPr lang="en-US" sz="1050" dirty="0"/>
          </a:p>
        </p:txBody>
      </p:sp>
      <p:sp>
        <p:nvSpPr>
          <p:cNvPr id="22" name="Shape 18"/>
          <p:cNvSpPr/>
          <p:nvPr/>
        </p:nvSpPr>
        <p:spPr>
          <a:xfrm>
            <a:off x="6858000" y="4572000"/>
            <a:ext cx="4693615" cy="1280160"/>
          </a:xfrm>
          <a:prstGeom prst="roundRect">
            <a:avLst>
              <a:gd name="adj" fmla="val 5000"/>
            </a:avLst>
          </a:prstGeom>
          <a:solidFill>
            <a:srgbClr val="EDF2F8"/>
          </a:solidFill>
          <a:ln w="12700">
            <a:solidFill>
              <a:srgbClr val="D5DFEA"/>
            </a:solidFill>
            <a:prstDash val="solid"/>
          </a:ln>
        </p:spPr>
      </p:sp>
      <p:sp>
        <p:nvSpPr>
          <p:cNvPr id="23" name="Shape 19"/>
          <p:cNvSpPr/>
          <p:nvPr/>
        </p:nvSpPr>
        <p:spPr>
          <a:xfrm>
            <a:off x="6858000" y="4773168"/>
            <a:ext cx="82296" cy="877824"/>
          </a:xfrm>
          <a:prstGeom prst="rect">
            <a:avLst/>
          </a:prstGeom>
          <a:solidFill>
            <a:srgbClr val="1D4E89"/>
          </a:solidFill>
          <a:ln w="12700">
            <a:solidFill>
              <a:srgbClr val="1D4E89"/>
            </a:solidFill>
            <a:prstDash val="solid"/>
          </a:ln>
        </p:spPr>
      </p:sp>
      <p:sp>
        <p:nvSpPr>
          <p:cNvPr id="24" name="Text 20"/>
          <p:cNvSpPr txBox="1"/>
          <p:nvPr/>
        </p:nvSpPr>
        <p:spPr>
          <a:xfrm>
            <a:off x="7150608" y="4718304"/>
            <a:ext cx="2377440" cy="310896"/>
          </a:xfrm>
          <a:prstGeom prst="rect">
            <a:avLst/>
          </a:prstGeom>
          <a:noFill/>
          <a:ln/>
        </p:spPr>
        <p:txBody>
          <a:bodyPr wrap="square" lIns="0" tIns="0" rIns="0" bIns="0" rtlCol="0" anchor="ctr"/>
          <a:lstStyle/>
          <a:p>
            <a:pPr indent="0" marL="0">
              <a:buNone/>
            </a:pPr>
            <a:r>
              <a:rPr lang="en-US" sz="1700" b="1" dirty="0">
                <a:solidFill>
                  <a:srgbClr val="16324F"/>
                </a:solidFill>
                <a:latin typeface="Cambria" pitchFamily="34" charset="0"/>
                <a:ea typeface="Cambria" pitchFamily="34" charset="-122"/>
                <a:cs typeface="Cambria" pitchFamily="34" charset="-120"/>
              </a:rPr>
              <a:t>Utenti generosi</a:t>
            </a:r>
            <a:endParaRPr lang="en-US" sz="1700" dirty="0"/>
          </a:p>
        </p:txBody>
      </p:sp>
      <p:sp>
        <p:nvSpPr>
          <p:cNvPr id="25" name="Text 21"/>
          <p:cNvSpPr txBox="1"/>
          <p:nvPr/>
        </p:nvSpPr>
        <p:spPr>
          <a:xfrm>
            <a:off x="9509760" y="4736592"/>
            <a:ext cx="1645920" cy="548640"/>
          </a:xfrm>
          <a:prstGeom prst="rect">
            <a:avLst/>
          </a:prstGeom>
          <a:noFill/>
          <a:ln/>
        </p:spPr>
        <p:txBody>
          <a:bodyPr wrap="square" lIns="0" tIns="0" rIns="0" bIns="0" rtlCol="0" anchor="ctr"/>
          <a:lstStyle/>
          <a:p>
            <a:pPr algn="r" indent="0" marL="0">
              <a:buNone/>
            </a:pPr>
            <a:r>
              <a:rPr lang="en-US" sz="3000" b="1" dirty="0">
                <a:solidFill>
                  <a:srgbClr val="1D4E89"/>
                </a:solidFill>
                <a:latin typeface="Cambria" pitchFamily="34" charset="0"/>
                <a:ea typeface="Cambria" pitchFamily="34" charset="-122"/>
                <a:cs typeface="Cambria" pitchFamily="34" charset="-120"/>
              </a:rPr>
              <a:t>4,67</a:t>
            </a:r>
            <a:endParaRPr lang="en-US" sz="3000" dirty="0"/>
          </a:p>
        </p:txBody>
      </p:sp>
      <p:sp>
        <p:nvSpPr>
          <p:cNvPr id="26" name="Text 22"/>
          <p:cNvSpPr txBox="1"/>
          <p:nvPr/>
        </p:nvSpPr>
        <p:spPr>
          <a:xfrm>
            <a:off x="9509760" y="5303520"/>
            <a:ext cx="1645920" cy="219456"/>
          </a:xfrm>
          <a:prstGeom prst="rect">
            <a:avLst/>
          </a:prstGeom>
          <a:noFill/>
          <a:ln/>
        </p:spPr>
        <p:txBody>
          <a:bodyPr wrap="square" lIns="0" tIns="0" rIns="0" bIns="0" rtlCol="0" anchor="ctr"/>
          <a:lstStyle/>
          <a:p>
            <a:pPr algn="r" indent="0" marL="0">
              <a:buNone/>
            </a:pPr>
            <a:r>
              <a:rPr lang="en-US" sz="950" dirty="0">
                <a:solidFill>
                  <a:srgbClr val="6B7787"/>
                </a:solidFill>
                <a:latin typeface="Calibri" pitchFamily="34" charset="0"/>
                <a:ea typeface="Calibri" pitchFamily="34" charset="-122"/>
                <a:cs typeface="Calibri" pitchFamily="34" charset="-120"/>
              </a:rPr>
              <a:t>voto medio</a:t>
            </a:r>
            <a:endParaRPr lang="en-US" sz="950" dirty="0"/>
          </a:p>
        </p:txBody>
      </p:sp>
      <p:sp>
        <p:nvSpPr>
          <p:cNvPr id="27" name="Text 23"/>
          <p:cNvSpPr txBox="1"/>
          <p:nvPr/>
        </p:nvSpPr>
        <p:spPr>
          <a:xfrm>
            <a:off x="7150608" y="5065776"/>
            <a:ext cx="2377440" cy="237744"/>
          </a:xfrm>
          <a:prstGeom prst="rect">
            <a:avLst/>
          </a:prstGeom>
          <a:noFill/>
          <a:ln/>
        </p:spPr>
        <p:txBody>
          <a:bodyPr wrap="square" lIns="0" tIns="0" rIns="0" bIns="0" rtlCol="0" anchor="ctr"/>
          <a:lstStyle/>
          <a:p>
            <a:pPr indent="0" marL="0">
              <a:buNone/>
            </a:pPr>
            <a:r>
              <a:rPr lang="en-US" sz="1050" dirty="0">
                <a:solidFill>
                  <a:srgbClr val="1D4E89"/>
                </a:solidFill>
                <a:latin typeface="Calibri" pitchFamily="34" charset="0"/>
                <a:ea typeface="Calibri" pitchFamily="34" charset="-122"/>
                <a:cs typeface="Calibri" pitchFamily="34" charset="-120"/>
              </a:rPr>
              <a:t>2.282 utenti  ·  77.044 voti</a:t>
            </a:r>
            <a:endParaRPr lang="en-US" sz="1050" dirty="0"/>
          </a:p>
        </p:txBody>
      </p:sp>
      <p:sp>
        <p:nvSpPr>
          <p:cNvPr id="28" name="Text 24"/>
          <p:cNvSpPr txBox="1"/>
          <p:nvPr/>
        </p:nvSpPr>
        <p:spPr>
          <a:xfrm>
            <a:off x="7150608" y="5321808"/>
            <a:ext cx="2286000" cy="457200"/>
          </a:xfrm>
          <a:prstGeom prst="rect">
            <a:avLst/>
          </a:prstGeom>
          <a:noFill/>
          <a:ln/>
        </p:spPr>
        <p:txBody>
          <a:bodyPr wrap="square" lIns="0" tIns="0" rIns="0" bIns="0" rtlCol="0" anchor="ctr"/>
          <a:lstStyle/>
          <a:p>
            <a:pPr indent="0" marL="0">
              <a:lnSpc>
                <a:spcPct val="115000"/>
              </a:lnSpc>
              <a:buNone/>
            </a:pPr>
            <a:r>
              <a:rPr lang="en-US" sz="1050" dirty="0">
                <a:solidFill>
                  <a:srgbClr val="6B7787"/>
                </a:solidFill>
                <a:latin typeface="Calibri" pitchFamily="34" charset="0"/>
                <a:ea typeface="Calibri" pitchFamily="34" charset="-122"/>
                <a:cs typeface="Calibri" pitchFamily="34" charset="-120"/>
              </a:rPr>
              <a:t>distribuiscono le cinque stelle con larghezza</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pic>
        <p:nvPicPr>
          <p:cNvPr id="2" name="Image 0" descr="/home/claude/work/uicons/film-slate.png">    </p:cNvPr>
          <p:cNvPicPr>
            <a:picLocks noChangeAspect="1"/>
          </p:cNvPicPr>
          <p:nvPr/>
        </p:nvPicPr>
        <p:blipFill>
          <a:blip r:embed="rId1"/>
          <a:stretch>
            <a:fillRect/>
          </a:stretch>
        </p:blipFill>
        <p:spPr>
          <a:xfrm>
            <a:off x="11076127" y="384048"/>
            <a:ext cx="475488" cy="475488"/>
          </a:xfrm>
          <a:prstGeom prst="rect">
            <a:avLst/>
          </a:prstGeom>
        </p:spPr>
      </p:pic>
      <p:sp>
        <p:nvSpPr>
          <p:cNvPr id="3" name="Text 0"/>
          <p:cNvSpPr txBox="1"/>
          <p:nvPr/>
        </p:nvSpPr>
        <p:spPr>
          <a:xfrm>
            <a:off x="640080" y="438912"/>
            <a:ext cx="10088575" cy="237744"/>
          </a:xfrm>
          <a:prstGeom prst="rect">
            <a:avLst/>
          </a:prstGeom>
          <a:noFill/>
          <a:ln/>
        </p:spPr>
        <p:txBody>
          <a:bodyPr wrap="square" lIns="0" tIns="0" rIns="0" bIns="0" rtlCol="0" anchor="ctr"/>
          <a:lstStyle/>
          <a:p>
            <a:pPr indent="0" marL="0">
              <a:buNone/>
            </a:pPr>
            <a:r>
              <a:rPr lang="en-US" sz="1050" b="1" spc="200" kern="0" dirty="0">
                <a:solidFill>
                  <a:srgbClr val="C98218"/>
                </a:solidFill>
                <a:latin typeface="Calibri" pitchFamily="34" charset="0"/>
                <a:ea typeface="Calibri" pitchFamily="34" charset="-122"/>
                <a:cs typeface="Calibri" pitchFamily="34" charset="-120"/>
              </a:rPr>
              <a:t>PARTE 2 · CONTENT-BASED</a:t>
            </a:r>
            <a:endParaRPr lang="en-US" sz="1050" dirty="0"/>
          </a:p>
        </p:txBody>
      </p:sp>
      <p:sp>
        <p:nvSpPr>
          <p:cNvPr id="4" name="Text 1"/>
          <p:cNvSpPr txBox="1"/>
          <p:nvPr/>
        </p:nvSpPr>
        <p:spPr>
          <a:xfrm>
            <a:off x="640080" y="731520"/>
            <a:ext cx="10088575" cy="566928"/>
          </a:xfrm>
          <a:prstGeom prst="rect">
            <a:avLst/>
          </a:prstGeom>
          <a:noFill/>
          <a:ln/>
        </p:spPr>
        <p:txBody>
          <a:bodyPr wrap="square" lIns="0" tIns="0" rIns="0" bIns="0" rtlCol="0" anchor="ctr"/>
          <a:lstStyle/>
          <a:p>
            <a:pPr indent="0" marL="0">
              <a:buNone/>
            </a:pPr>
            <a:r>
              <a:rPr lang="en-US" sz="2900" b="1" dirty="0">
                <a:solidFill>
                  <a:srgbClr val="16324F"/>
                </a:solidFill>
                <a:latin typeface="Cambria" pitchFamily="34" charset="0"/>
                <a:ea typeface="Cambria" pitchFamily="34" charset="-122"/>
                <a:cs typeface="Cambria" pitchFamily="34" charset="-120"/>
              </a:rPr>
              <a:t>Il contenuto dei film, e il duello con il collaborative</a:t>
            </a:r>
            <a:endParaRPr lang="en-US" sz="2900" dirty="0"/>
          </a:p>
        </p:txBody>
      </p:sp>
      <p:sp>
        <p:nvSpPr>
          <p:cNvPr id="5" name="Text 2"/>
          <p:cNvSpPr txBox="1"/>
          <p:nvPr/>
        </p:nvSpPr>
        <p:spPr>
          <a:xfrm>
            <a:off x="640080" y="1371600"/>
            <a:ext cx="10088575" cy="274320"/>
          </a:xfrm>
          <a:prstGeom prst="rect">
            <a:avLst/>
          </a:prstGeom>
          <a:noFill/>
          <a:ln/>
        </p:spPr>
        <p:txBody>
          <a:bodyPr wrap="square" lIns="0" tIns="0" rIns="0" bIns="0" rtlCol="0" anchor="ctr"/>
          <a:lstStyle/>
          <a:p>
            <a:pPr indent="0" marL="0">
              <a:buNone/>
            </a:pPr>
            <a:r>
              <a:rPr lang="en-US" sz="1250" i="1" dirty="0">
                <a:solidFill>
                  <a:srgbClr val="6B7787"/>
                </a:solidFill>
                <a:latin typeface="Calibri" pitchFamily="34" charset="0"/>
                <a:ea typeface="Calibri" pitchFamily="34" charset="-122"/>
                <a:cs typeface="Calibri" pitchFamily="34" charset="-120"/>
              </a:rPr>
              <a:t>Stesso split 80/20 e stesse 28.373 coppie di test per tutti e quattro i modelli</a:t>
            </a:r>
            <a:endParaRPr lang="en-US" sz="1250" dirty="0"/>
          </a:p>
        </p:txBody>
      </p:sp>
      <p:sp>
        <p:nvSpPr>
          <p:cNvPr id="6" name="Text 3"/>
          <p:cNvSpPr txBox="1"/>
          <p:nvPr/>
        </p:nvSpPr>
        <p:spPr>
          <a:xfrm>
            <a:off x="640080" y="6473952"/>
            <a:ext cx="4572000" cy="237744"/>
          </a:xfrm>
          <a:prstGeom prst="rect">
            <a:avLst/>
          </a:prstGeom>
          <a:noFill/>
          <a:ln/>
        </p:spPr>
        <p:txBody>
          <a:bodyPr wrap="square" lIns="0" tIns="0" rIns="0" bIns="0" rtlCol="0" anchor="ctr"/>
          <a:lstStyle/>
          <a:p>
            <a:pPr indent="0" marL="0">
              <a:buNone/>
            </a:pPr>
            <a:r>
              <a:rPr lang="en-US" sz="900" dirty="0">
                <a:solidFill>
                  <a:srgbClr val="A7B3C1"/>
                </a:solidFill>
                <a:latin typeface="Calibri" pitchFamily="34" charset="0"/>
                <a:ea typeface="Calibri" pitchFamily="34" charset="-122"/>
                <a:cs typeface="Calibri" pitchFamily="34" charset="-120"/>
              </a:rPr>
              <a:t>Progetto MIGA  ·  A. Saverino</a:t>
            </a:r>
            <a:endParaRPr lang="en-US" sz="900" dirty="0"/>
          </a:p>
        </p:txBody>
      </p:sp>
      <p:sp>
        <p:nvSpPr>
          <p:cNvPr id="7" name="Text 4"/>
          <p:cNvSpPr txBox="1"/>
          <p:nvPr/>
        </p:nvSpPr>
        <p:spPr>
          <a:xfrm>
            <a:off x="8808415" y="6473952"/>
            <a:ext cx="2743200" cy="237744"/>
          </a:xfrm>
          <a:prstGeom prst="rect">
            <a:avLst/>
          </a:prstGeom>
          <a:noFill/>
          <a:ln/>
        </p:spPr>
        <p:txBody>
          <a:bodyPr wrap="square" lIns="0" tIns="0" rIns="0" bIns="0" rtlCol="0" anchor="ctr"/>
          <a:lstStyle/>
          <a:p>
            <a:pPr algn="r" indent="0" marL="0">
              <a:buNone/>
            </a:pPr>
            <a:r>
              <a:rPr lang="en-US" sz="900" dirty="0">
                <a:solidFill>
                  <a:srgbClr val="A7B3C1"/>
                </a:solidFill>
                <a:latin typeface="Calibri" pitchFamily="34" charset="0"/>
                <a:ea typeface="Calibri" pitchFamily="34" charset="-122"/>
                <a:cs typeface="Calibri" pitchFamily="34" charset="-120"/>
              </a:rPr>
              <a:t>6 / 10</a:t>
            </a:r>
            <a:endParaRPr lang="en-US" sz="900" dirty="0"/>
          </a:p>
        </p:txBody>
      </p:sp>
      <p:graphicFrame>
        <p:nvGraphicFramePr>
          <p:cNvPr id="8" name="Chart 0" descr=""/>
          <p:cNvGraphicFramePr/>
          <p:nvPr/>
        </p:nvGraphicFramePr>
        <p:xfrm>
          <a:off x="548640" y="1920240"/>
          <a:ext cx="6309360" cy="283464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640080" y="4773168"/>
            <a:ext cx="6126480" cy="237744"/>
          </a:xfrm>
          <a:prstGeom prst="rect">
            <a:avLst/>
          </a:prstGeom>
          <a:noFill/>
          <a:ln/>
        </p:spPr>
        <p:txBody>
          <a:bodyPr wrap="square" lIns="0" tIns="0" rIns="0" bIns="0" rtlCol="0" anchor="ctr"/>
          <a:lstStyle/>
          <a:p>
            <a:pPr algn="ctr" indent="0" marL="0">
              <a:buNone/>
            </a:pPr>
            <a:r>
              <a:rPr lang="en-US" sz="1000" i="1" dirty="0">
                <a:solidFill>
                  <a:srgbClr val="6B7787"/>
                </a:solidFill>
                <a:latin typeface="Calibri" pitchFamily="34" charset="0"/>
                <a:ea typeface="Calibri" pitchFamily="34" charset="-122"/>
                <a:cs typeface="Calibri" pitchFamily="34" charset="-120"/>
              </a:rPr>
              <a:t>RMSE sulle stesse coppie di test · asse troncato a 0,90 per leggibilità</a:t>
            </a:r>
            <a:endParaRPr lang="en-US" sz="1000" dirty="0"/>
          </a:p>
        </p:txBody>
      </p:sp>
      <p:sp>
        <p:nvSpPr>
          <p:cNvPr id="10" name="Shape 6"/>
          <p:cNvSpPr/>
          <p:nvPr/>
        </p:nvSpPr>
        <p:spPr>
          <a:xfrm>
            <a:off x="7086600" y="1920240"/>
            <a:ext cx="4462272" cy="1280160"/>
          </a:xfrm>
          <a:prstGeom prst="roundRect">
            <a:avLst>
              <a:gd name="adj" fmla="val 5000"/>
            </a:avLst>
          </a:prstGeom>
          <a:solidFill>
            <a:srgbClr val="EDF2F8"/>
          </a:solidFill>
          <a:ln w="12700">
            <a:solidFill>
              <a:srgbClr val="D5DFEA"/>
            </a:solidFill>
            <a:prstDash val="solid"/>
          </a:ln>
        </p:spPr>
      </p:sp>
      <p:sp>
        <p:nvSpPr>
          <p:cNvPr id="11" name="Text 7"/>
          <p:cNvSpPr txBox="1"/>
          <p:nvPr/>
        </p:nvSpPr>
        <p:spPr>
          <a:xfrm>
            <a:off x="7360920" y="2084832"/>
            <a:ext cx="3931920" cy="219456"/>
          </a:xfrm>
          <a:prstGeom prst="rect">
            <a:avLst/>
          </a:prstGeom>
          <a:noFill/>
          <a:ln/>
        </p:spPr>
        <p:txBody>
          <a:bodyPr wrap="square" lIns="0" tIns="0" rIns="0" bIns="0" rtlCol="0" anchor="ctr"/>
          <a:lstStyle/>
          <a:p>
            <a:pPr indent="0" marL="0">
              <a:buNone/>
            </a:pPr>
            <a:r>
              <a:rPr lang="en-US" sz="950" b="1" spc="150" kern="0" dirty="0">
                <a:solidFill>
                  <a:srgbClr val="C98218"/>
                </a:solidFill>
                <a:latin typeface="Calibri" pitchFamily="34" charset="0"/>
                <a:ea typeface="Calibri" pitchFamily="34" charset="-122"/>
                <a:cs typeface="Calibri" pitchFamily="34" charset="-120"/>
              </a:rPr>
              <a:t>I DUE EMBEDDING SI EQUIVALGONO</a:t>
            </a:r>
            <a:endParaRPr lang="en-US" sz="950" dirty="0"/>
          </a:p>
        </p:txBody>
      </p:sp>
      <p:sp>
        <p:nvSpPr>
          <p:cNvPr id="12" name="Text 8"/>
          <p:cNvSpPr txBox="1"/>
          <p:nvPr/>
        </p:nvSpPr>
        <p:spPr>
          <a:xfrm>
            <a:off x="7360920" y="2322576"/>
            <a:ext cx="3931920" cy="365760"/>
          </a:xfrm>
          <a:prstGeom prst="rect">
            <a:avLst/>
          </a:prstGeom>
          <a:noFill/>
          <a:ln/>
        </p:spPr>
        <p:txBody>
          <a:bodyPr wrap="square" lIns="0" tIns="0" rIns="0" bIns="0" rtlCol="0" anchor="ctr"/>
          <a:lstStyle/>
          <a:p>
            <a:pPr indent="0" marL="0">
              <a:buNone/>
            </a:pPr>
            <a:r>
              <a:rPr lang="en-US" sz="2100" b="1" dirty="0">
                <a:solidFill>
                  <a:srgbClr val="16324F"/>
                </a:solidFill>
                <a:latin typeface="Cambria" pitchFamily="34" charset="0"/>
                <a:ea typeface="Cambria" pitchFamily="34" charset="-122"/>
                <a:cs typeface="Cambria" pitchFamily="34" charset="-120"/>
              </a:rPr>
              <a:t>0,9836  vs  0,9835</a:t>
            </a:r>
            <a:endParaRPr lang="en-US" sz="2100" dirty="0"/>
          </a:p>
        </p:txBody>
      </p:sp>
      <p:sp>
        <p:nvSpPr>
          <p:cNvPr id="13" name="Text 9"/>
          <p:cNvSpPr txBox="1"/>
          <p:nvPr/>
        </p:nvSpPr>
        <p:spPr>
          <a:xfrm>
            <a:off x="7360920" y="2724912"/>
            <a:ext cx="3931920" cy="384048"/>
          </a:xfrm>
          <a:prstGeom prst="rect">
            <a:avLst/>
          </a:prstGeom>
          <a:noFill/>
          <a:ln/>
        </p:spPr>
        <p:txBody>
          <a:bodyPr wrap="square" lIns="0" tIns="0" rIns="0" bIns="0" rtlCol="0" anchor="ctr"/>
          <a:lstStyle/>
          <a:p>
            <a:pPr indent="0" marL="0">
              <a:lnSpc>
                <a:spcPct val="115000"/>
              </a:lnSpc>
              <a:buNone/>
            </a:pPr>
            <a:r>
              <a:rPr lang="en-US" sz="1050" dirty="0">
                <a:solidFill>
                  <a:srgbClr val="6B7787"/>
                </a:solidFill>
                <a:latin typeface="Calibri" pitchFamily="34" charset="0"/>
                <a:ea typeface="Calibri" pitchFamily="34" charset="-122"/>
                <a:cs typeface="Calibri" pitchFamily="34" charset="-120"/>
              </a:rPr>
              <a:t>TF-IDF e DistilBERT pareggiano sulla quarta cifra, a patto di dare al transformer il testo grezzo.</a:t>
            </a:r>
            <a:endParaRPr lang="en-US" sz="1050" dirty="0"/>
          </a:p>
        </p:txBody>
      </p:sp>
      <p:sp>
        <p:nvSpPr>
          <p:cNvPr id="14" name="Shape 10"/>
          <p:cNvSpPr/>
          <p:nvPr/>
        </p:nvSpPr>
        <p:spPr>
          <a:xfrm>
            <a:off x="7086600" y="3337560"/>
            <a:ext cx="4462272" cy="1417320"/>
          </a:xfrm>
          <a:prstGeom prst="roundRect">
            <a:avLst>
              <a:gd name="adj" fmla="val 4516"/>
            </a:avLst>
          </a:prstGeom>
          <a:solidFill>
            <a:srgbClr val="16324F"/>
          </a:solidFill>
          <a:ln w="12700">
            <a:solidFill>
              <a:srgbClr val="16324F"/>
            </a:solidFill>
            <a:prstDash val="solid"/>
          </a:ln>
        </p:spPr>
      </p:sp>
      <p:sp>
        <p:nvSpPr>
          <p:cNvPr id="15" name="Text 11"/>
          <p:cNvSpPr txBox="1"/>
          <p:nvPr/>
        </p:nvSpPr>
        <p:spPr>
          <a:xfrm>
            <a:off x="7360920" y="3502152"/>
            <a:ext cx="3931920" cy="219456"/>
          </a:xfrm>
          <a:prstGeom prst="rect">
            <a:avLst/>
          </a:prstGeom>
          <a:noFill/>
          <a:ln/>
        </p:spPr>
        <p:txBody>
          <a:bodyPr wrap="square" lIns="0" tIns="0" rIns="0" bIns="0" rtlCol="0" anchor="ctr"/>
          <a:lstStyle/>
          <a:p>
            <a:pPr indent="0" marL="0">
              <a:buNone/>
            </a:pPr>
            <a:r>
              <a:rPr lang="en-US" sz="950" b="1" spc="150" kern="0" dirty="0">
                <a:solidFill>
                  <a:srgbClr val="7FB0DE"/>
                </a:solidFill>
                <a:latin typeface="Calibri" pitchFamily="34" charset="0"/>
                <a:ea typeface="Calibri" pitchFamily="34" charset="-122"/>
                <a:cs typeface="Calibri" pitchFamily="34" charset="-120"/>
              </a:rPr>
              <a:t>VINCE IL COLLABORATIVE FILTERING</a:t>
            </a:r>
            <a:endParaRPr lang="en-US" sz="950" dirty="0"/>
          </a:p>
        </p:txBody>
      </p:sp>
      <p:sp>
        <p:nvSpPr>
          <p:cNvPr id="16" name="Text 12"/>
          <p:cNvSpPr txBox="1"/>
          <p:nvPr/>
        </p:nvSpPr>
        <p:spPr>
          <a:xfrm>
            <a:off x="7360920" y="3730752"/>
            <a:ext cx="39319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0,9498</a:t>
            </a:r>
            <a:endParaRPr lang="en-US" sz="3200" dirty="0"/>
          </a:p>
        </p:txBody>
      </p:sp>
      <p:sp>
        <p:nvSpPr>
          <p:cNvPr id="17" name="Text 13"/>
          <p:cNvSpPr txBox="1"/>
          <p:nvPr/>
        </p:nvSpPr>
        <p:spPr>
          <a:xfrm>
            <a:off x="7360920" y="4297680"/>
            <a:ext cx="3931920" cy="365760"/>
          </a:xfrm>
          <a:prstGeom prst="rect">
            <a:avLst/>
          </a:prstGeom>
          <a:noFill/>
          <a:ln/>
        </p:spPr>
        <p:txBody>
          <a:bodyPr wrap="square" lIns="0" tIns="0" rIns="0" bIns="0" rtlCol="0" anchor="ctr"/>
          <a:lstStyle/>
          <a:p>
            <a:pPr indent="0" marL="0">
              <a:lnSpc>
                <a:spcPct val="115000"/>
              </a:lnSpc>
              <a:buNone/>
            </a:pPr>
            <a:r>
              <a:rPr lang="en-US" sz="1050" dirty="0">
                <a:solidFill>
                  <a:srgbClr val="BBD0E6"/>
                </a:solidFill>
                <a:latin typeface="Calibri" pitchFamily="34" charset="0"/>
                <a:ea typeface="Calibri" pitchFamily="34" charset="-122"/>
                <a:cs typeface="Calibri" pitchFamily="34" charset="-120"/>
              </a:rPr>
              <a:t>−0,034 sul miglior content-based, pur usando l'SVD con i parametri predefiniti.</a:t>
            </a:r>
            <a:endParaRPr lang="en-US" sz="1050" dirty="0"/>
          </a:p>
        </p:txBody>
      </p:sp>
      <p:sp>
        <p:nvSpPr>
          <p:cNvPr id="18" name="Shape 14"/>
          <p:cNvSpPr/>
          <p:nvPr/>
        </p:nvSpPr>
        <p:spPr>
          <a:xfrm>
            <a:off x="640080" y="5230368"/>
            <a:ext cx="10911535" cy="868680"/>
          </a:xfrm>
          <a:prstGeom prst="roundRect">
            <a:avLst>
              <a:gd name="adj" fmla="val 7368"/>
            </a:avLst>
          </a:prstGeom>
          <a:solidFill>
            <a:srgbClr val="F3F7FB"/>
          </a:solidFill>
          <a:ln w="12700">
            <a:solidFill>
              <a:srgbClr val="D5DFEA"/>
            </a:solidFill>
            <a:prstDash val="solid"/>
          </a:ln>
        </p:spPr>
      </p:sp>
      <p:sp>
        <p:nvSpPr>
          <p:cNvPr id="19" name="Text 15"/>
          <p:cNvSpPr txBox="1"/>
          <p:nvPr/>
        </p:nvSpPr>
        <p:spPr>
          <a:xfrm>
            <a:off x="914400" y="5358384"/>
            <a:ext cx="3657600" cy="219456"/>
          </a:xfrm>
          <a:prstGeom prst="rect">
            <a:avLst/>
          </a:prstGeom>
          <a:noFill/>
          <a:ln/>
        </p:spPr>
        <p:txBody>
          <a:bodyPr wrap="square" lIns="0" tIns="0" rIns="0" bIns="0" rtlCol="0" anchor="ctr"/>
          <a:lstStyle/>
          <a:p>
            <a:pPr indent="0" marL="0">
              <a:buNone/>
            </a:pPr>
            <a:r>
              <a:rPr lang="en-US" sz="950" b="1" spc="150" kern="0" dirty="0">
                <a:solidFill>
                  <a:srgbClr val="6B7787"/>
                </a:solidFill>
                <a:latin typeface="Calibri" pitchFamily="34" charset="0"/>
                <a:ea typeface="Calibri" pitchFamily="34" charset="-122"/>
                <a:cs typeface="Calibri" pitchFamily="34" charset="-120"/>
              </a:rPr>
              <a:t>CONCLUSIONE OPERATIVA</a:t>
            </a:r>
            <a:endParaRPr lang="en-US" sz="950" dirty="0"/>
          </a:p>
        </p:txBody>
      </p:sp>
      <p:sp>
        <p:nvSpPr>
          <p:cNvPr id="20" name="Text 16"/>
          <p:cNvSpPr txBox="1"/>
          <p:nvPr/>
        </p:nvSpPr>
        <p:spPr>
          <a:xfrm>
            <a:off x="914400" y="5596128"/>
            <a:ext cx="10362895" cy="411480"/>
          </a:xfrm>
          <a:prstGeom prst="rect">
            <a:avLst/>
          </a:prstGeom>
          <a:noFill/>
          <a:ln/>
        </p:spPr>
        <p:txBody>
          <a:bodyPr wrap="square" lIns="0" tIns="0" rIns="0" bIns="0" rtlCol="0" anchor="ctr"/>
          <a:lstStyle/>
          <a:p>
            <a:pPr indent="0" marL="0">
              <a:lnSpc>
                <a:spcPct val="115000"/>
              </a:lnSpc>
              <a:buNone/>
            </a:pPr>
            <a:r>
              <a:rPr lang="en-US" sz="1150" dirty="0">
                <a:solidFill>
                  <a:srgbClr val="1F2A37"/>
                </a:solidFill>
                <a:latin typeface="Calibri" pitchFamily="34" charset="0"/>
                <a:ea typeface="Calibri" pitchFamily="34" charset="-122"/>
                <a:cs typeface="Calibri" pitchFamily="34" charset="-120"/>
              </a:rPr>
              <a:t>I due approcci non competono, si completano: il collaborative filtering come motore principale perché è più preciso, il content-based per il cold-start, cioè i film appena usciti che non hanno ancora voti e che il CF non è in grado di vedere.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pic>
        <p:nvPicPr>
          <p:cNvPr id="2" name="Image 0" descr="/home/claude/work/uicons/feedback.png">    </p:cNvPr>
          <p:cNvPicPr>
            <a:picLocks noChangeAspect="1"/>
          </p:cNvPicPr>
          <p:nvPr/>
        </p:nvPicPr>
        <p:blipFill>
          <a:blip r:embed="rId1"/>
          <a:stretch>
            <a:fillRect/>
          </a:stretch>
        </p:blipFill>
        <p:spPr>
          <a:xfrm>
            <a:off x="11076127" y="384048"/>
            <a:ext cx="475488" cy="475488"/>
          </a:xfrm>
          <a:prstGeom prst="rect">
            <a:avLst/>
          </a:prstGeom>
        </p:spPr>
      </p:pic>
      <p:sp>
        <p:nvSpPr>
          <p:cNvPr id="3" name="Text 0"/>
          <p:cNvSpPr txBox="1"/>
          <p:nvPr/>
        </p:nvSpPr>
        <p:spPr>
          <a:xfrm>
            <a:off x="640080" y="438912"/>
            <a:ext cx="10088575" cy="237744"/>
          </a:xfrm>
          <a:prstGeom prst="rect">
            <a:avLst/>
          </a:prstGeom>
          <a:noFill/>
          <a:ln/>
        </p:spPr>
        <p:txBody>
          <a:bodyPr wrap="square" lIns="0" tIns="0" rIns="0" bIns="0" rtlCol="0" anchor="ctr"/>
          <a:lstStyle/>
          <a:p>
            <a:pPr indent="0" marL="0">
              <a:buNone/>
            </a:pPr>
            <a:r>
              <a:rPr lang="en-US" sz="1050" b="1" spc="200" kern="0" dirty="0">
                <a:solidFill>
                  <a:srgbClr val="1B8476"/>
                </a:solidFill>
                <a:latin typeface="Calibri" pitchFamily="34" charset="0"/>
                <a:ea typeface="Calibri" pitchFamily="34" charset="-122"/>
                <a:cs typeface="Calibri" pitchFamily="34" charset="-120"/>
              </a:rPr>
              <a:t>PARTE 3 · SENTIMENT ANALYSIS</a:t>
            </a:r>
            <a:endParaRPr lang="en-US" sz="1050" dirty="0"/>
          </a:p>
        </p:txBody>
      </p:sp>
      <p:sp>
        <p:nvSpPr>
          <p:cNvPr id="4" name="Text 1"/>
          <p:cNvSpPr txBox="1"/>
          <p:nvPr/>
        </p:nvSpPr>
        <p:spPr>
          <a:xfrm>
            <a:off x="640080" y="731520"/>
            <a:ext cx="10088575" cy="566928"/>
          </a:xfrm>
          <a:prstGeom prst="rect">
            <a:avLst/>
          </a:prstGeom>
          <a:noFill/>
          <a:ln/>
        </p:spPr>
        <p:txBody>
          <a:bodyPr wrap="square" lIns="0" tIns="0" rIns="0" bIns="0" rtlCol="0" anchor="ctr"/>
          <a:lstStyle/>
          <a:p>
            <a:pPr indent="0" marL="0">
              <a:buNone/>
            </a:pPr>
            <a:r>
              <a:rPr lang="en-US" sz="2900" b="1" dirty="0">
                <a:solidFill>
                  <a:srgbClr val="16324F"/>
                </a:solidFill>
                <a:latin typeface="Cambria" pitchFamily="34" charset="0"/>
                <a:ea typeface="Cambria" pitchFamily="34" charset="-122"/>
                <a:cs typeface="Cambria" pitchFamily="34" charset="-120"/>
              </a:rPr>
              <a:t>Ricavare il giudizio dal testo della recensione</a:t>
            </a:r>
            <a:endParaRPr lang="en-US" sz="2900" dirty="0"/>
          </a:p>
        </p:txBody>
      </p:sp>
      <p:sp>
        <p:nvSpPr>
          <p:cNvPr id="5" name="Text 2"/>
          <p:cNvSpPr txBox="1"/>
          <p:nvPr/>
        </p:nvSpPr>
        <p:spPr>
          <a:xfrm>
            <a:off x="640080" y="1371600"/>
            <a:ext cx="10088575" cy="274320"/>
          </a:xfrm>
          <a:prstGeom prst="rect">
            <a:avLst/>
          </a:prstGeom>
          <a:noFill/>
          <a:ln/>
        </p:spPr>
        <p:txBody>
          <a:bodyPr wrap="square" lIns="0" tIns="0" rIns="0" bIns="0" rtlCol="0" anchor="ctr"/>
          <a:lstStyle/>
          <a:p>
            <a:pPr indent="0" marL="0">
              <a:buNone/>
            </a:pPr>
            <a:r>
              <a:rPr lang="en-US" sz="1250" i="1" dirty="0">
                <a:solidFill>
                  <a:srgbClr val="6B7787"/>
                </a:solidFill>
                <a:latin typeface="Calibri" pitchFamily="34" charset="0"/>
                <a:ea typeface="Calibri" pitchFamily="34" charset="-122"/>
                <a:cs typeface="Calibri" pitchFamily="34" charset="-120"/>
              </a:rPr>
              <a:t>Etichette 1-2 / 3 / 4-5 · quattro classificatori del Lab 6 · F1 macro come metrica onesta</a:t>
            </a:r>
            <a:endParaRPr lang="en-US" sz="1250" dirty="0"/>
          </a:p>
        </p:txBody>
      </p:sp>
      <p:sp>
        <p:nvSpPr>
          <p:cNvPr id="6" name="Text 3"/>
          <p:cNvSpPr txBox="1"/>
          <p:nvPr/>
        </p:nvSpPr>
        <p:spPr>
          <a:xfrm>
            <a:off x="640080" y="6473952"/>
            <a:ext cx="4572000" cy="237744"/>
          </a:xfrm>
          <a:prstGeom prst="rect">
            <a:avLst/>
          </a:prstGeom>
          <a:noFill/>
          <a:ln/>
        </p:spPr>
        <p:txBody>
          <a:bodyPr wrap="square" lIns="0" tIns="0" rIns="0" bIns="0" rtlCol="0" anchor="ctr"/>
          <a:lstStyle/>
          <a:p>
            <a:pPr indent="0" marL="0">
              <a:buNone/>
            </a:pPr>
            <a:r>
              <a:rPr lang="en-US" sz="900" dirty="0">
                <a:solidFill>
                  <a:srgbClr val="A7B3C1"/>
                </a:solidFill>
                <a:latin typeface="Calibri" pitchFamily="34" charset="0"/>
                <a:ea typeface="Calibri" pitchFamily="34" charset="-122"/>
                <a:cs typeface="Calibri" pitchFamily="34" charset="-120"/>
              </a:rPr>
              <a:t>Progetto MIGA  ·  A. Saverino</a:t>
            </a:r>
            <a:endParaRPr lang="en-US" sz="900" dirty="0"/>
          </a:p>
        </p:txBody>
      </p:sp>
      <p:sp>
        <p:nvSpPr>
          <p:cNvPr id="7" name="Text 4"/>
          <p:cNvSpPr txBox="1"/>
          <p:nvPr/>
        </p:nvSpPr>
        <p:spPr>
          <a:xfrm>
            <a:off x="8808415" y="6473952"/>
            <a:ext cx="2743200" cy="237744"/>
          </a:xfrm>
          <a:prstGeom prst="rect">
            <a:avLst/>
          </a:prstGeom>
          <a:noFill/>
          <a:ln/>
        </p:spPr>
        <p:txBody>
          <a:bodyPr wrap="square" lIns="0" tIns="0" rIns="0" bIns="0" rtlCol="0" anchor="ctr"/>
          <a:lstStyle/>
          <a:p>
            <a:pPr algn="r" indent="0" marL="0">
              <a:buNone/>
            </a:pPr>
            <a:r>
              <a:rPr lang="en-US" sz="900" dirty="0">
                <a:solidFill>
                  <a:srgbClr val="A7B3C1"/>
                </a:solidFill>
                <a:latin typeface="Calibri" pitchFamily="34" charset="0"/>
                <a:ea typeface="Calibri" pitchFamily="34" charset="-122"/>
                <a:cs typeface="Calibri" pitchFamily="34" charset="-120"/>
              </a:rPr>
              <a:t>7 / 10</a:t>
            </a:r>
            <a:endParaRPr lang="en-US" sz="900" dirty="0"/>
          </a:p>
        </p:txBody>
      </p:sp>
      <p:sp>
        <p:nvSpPr>
          <p:cNvPr id="8" name="Shape 5"/>
          <p:cNvSpPr/>
          <p:nvPr/>
        </p:nvSpPr>
        <p:spPr>
          <a:xfrm>
            <a:off x="640080" y="1920240"/>
            <a:ext cx="3977640" cy="4160520"/>
          </a:xfrm>
          <a:prstGeom prst="roundRect">
            <a:avLst>
              <a:gd name="adj" fmla="val 1609"/>
            </a:avLst>
          </a:prstGeom>
          <a:solidFill>
            <a:srgbClr val="EDF2F8"/>
          </a:solidFill>
          <a:ln w="12700">
            <a:solidFill>
              <a:srgbClr val="D5DFEA"/>
            </a:solidFill>
            <a:prstDash val="solid"/>
          </a:ln>
        </p:spPr>
      </p:sp>
      <p:sp>
        <p:nvSpPr>
          <p:cNvPr id="9" name="Text 6"/>
          <p:cNvSpPr txBox="1"/>
          <p:nvPr/>
        </p:nvSpPr>
        <p:spPr>
          <a:xfrm>
            <a:off x="914400" y="2121408"/>
            <a:ext cx="3429000" cy="219456"/>
          </a:xfrm>
          <a:prstGeom prst="rect">
            <a:avLst/>
          </a:prstGeom>
          <a:noFill/>
          <a:ln/>
        </p:spPr>
        <p:txBody>
          <a:bodyPr wrap="square" lIns="0" tIns="0" rIns="0" bIns="0" rtlCol="0" anchor="ctr"/>
          <a:lstStyle/>
          <a:p>
            <a:pPr indent="0" marL="0">
              <a:buNone/>
            </a:pPr>
            <a:r>
              <a:rPr lang="en-US" sz="950" b="1" spc="140" kern="0" dirty="0">
                <a:solidFill>
                  <a:srgbClr val="1B8476"/>
                </a:solidFill>
                <a:latin typeface="Calibri" pitchFamily="34" charset="0"/>
                <a:ea typeface="Calibri" pitchFamily="34" charset="-122"/>
                <a:cs typeface="Calibri" pitchFamily="34" charset="-120"/>
              </a:rPr>
              <a:t>IL PROBLEMA: CLASSI SBILANCIATE</a:t>
            </a:r>
            <a:endParaRPr lang="en-US" sz="950" dirty="0"/>
          </a:p>
        </p:txBody>
      </p:sp>
      <p:sp>
        <p:nvSpPr>
          <p:cNvPr id="10" name="Text 7"/>
          <p:cNvSpPr txBox="1"/>
          <p:nvPr/>
        </p:nvSpPr>
        <p:spPr>
          <a:xfrm>
            <a:off x="914400" y="2487168"/>
            <a:ext cx="1005840" cy="274320"/>
          </a:xfrm>
          <a:prstGeom prst="rect">
            <a:avLst/>
          </a:prstGeom>
          <a:noFill/>
          <a:ln/>
        </p:spPr>
        <p:txBody>
          <a:bodyPr wrap="square" lIns="0" tIns="0" rIns="0" bIns="0" rtlCol="0" anchor="ctr"/>
          <a:lstStyle/>
          <a:p>
            <a:pPr indent="0" marL="0">
              <a:buNone/>
            </a:pPr>
            <a:r>
              <a:rPr lang="en-US" sz="1150" dirty="0">
                <a:solidFill>
                  <a:srgbClr val="1F2A37"/>
                </a:solidFill>
                <a:latin typeface="Calibri" pitchFamily="34" charset="0"/>
                <a:ea typeface="Calibri" pitchFamily="34" charset="-122"/>
                <a:cs typeface="Calibri" pitchFamily="34" charset="-120"/>
              </a:rPr>
              <a:t>positivo</a:t>
            </a:r>
            <a:endParaRPr lang="en-US" sz="1150" dirty="0"/>
          </a:p>
        </p:txBody>
      </p:sp>
      <p:sp>
        <p:nvSpPr>
          <p:cNvPr id="11" name="Shape 8"/>
          <p:cNvSpPr/>
          <p:nvPr/>
        </p:nvSpPr>
        <p:spPr>
          <a:xfrm>
            <a:off x="1965960" y="2542032"/>
            <a:ext cx="1737360" cy="164592"/>
          </a:xfrm>
          <a:prstGeom prst="roundRect">
            <a:avLst>
              <a:gd name="adj" fmla="val 27778"/>
            </a:avLst>
          </a:prstGeom>
          <a:solidFill>
            <a:srgbClr val="E4EAF1"/>
          </a:solidFill>
          <a:ln w="12700">
            <a:solidFill>
              <a:srgbClr val="E4EAF1"/>
            </a:solidFill>
            <a:prstDash val="solid"/>
          </a:ln>
        </p:spPr>
      </p:sp>
      <p:sp>
        <p:nvSpPr>
          <p:cNvPr id="12" name="Shape 9"/>
          <p:cNvSpPr/>
          <p:nvPr/>
        </p:nvSpPr>
        <p:spPr>
          <a:xfrm>
            <a:off x="1965960" y="2542032"/>
            <a:ext cx="1382939" cy="164592"/>
          </a:xfrm>
          <a:prstGeom prst="roundRect">
            <a:avLst>
              <a:gd name="adj" fmla="val 27778"/>
            </a:avLst>
          </a:prstGeom>
          <a:solidFill>
            <a:srgbClr val="1B8476"/>
          </a:solidFill>
          <a:ln w="12700">
            <a:solidFill>
              <a:srgbClr val="1B8476"/>
            </a:solidFill>
            <a:prstDash val="solid"/>
          </a:ln>
        </p:spPr>
      </p:sp>
      <p:sp>
        <p:nvSpPr>
          <p:cNvPr id="13" name="Text 10"/>
          <p:cNvSpPr txBox="1"/>
          <p:nvPr/>
        </p:nvSpPr>
        <p:spPr>
          <a:xfrm>
            <a:off x="3794760" y="2487168"/>
            <a:ext cx="548640" cy="274320"/>
          </a:xfrm>
          <a:prstGeom prst="rect">
            <a:avLst/>
          </a:prstGeom>
          <a:noFill/>
          <a:ln/>
        </p:spPr>
        <p:txBody>
          <a:bodyPr wrap="square" lIns="0" tIns="0" rIns="0" bIns="0" rtlCol="0" anchor="ctr"/>
          <a:lstStyle/>
          <a:p>
            <a:pPr algn="r" indent="0" marL="0">
              <a:buNone/>
            </a:pPr>
            <a:r>
              <a:rPr lang="en-US" sz="1100" b="1" dirty="0">
                <a:solidFill>
                  <a:srgbClr val="16324F"/>
                </a:solidFill>
                <a:latin typeface="Calibri" pitchFamily="34" charset="0"/>
                <a:ea typeface="Calibri" pitchFamily="34" charset="-122"/>
                <a:cs typeface="Calibri" pitchFamily="34" charset="-120"/>
              </a:rPr>
              <a:t>79,6%</a:t>
            </a:r>
            <a:endParaRPr lang="en-US" sz="1100" dirty="0"/>
          </a:p>
        </p:txBody>
      </p:sp>
      <p:sp>
        <p:nvSpPr>
          <p:cNvPr id="14" name="Text 11"/>
          <p:cNvSpPr txBox="1"/>
          <p:nvPr/>
        </p:nvSpPr>
        <p:spPr>
          <a:xfrm>
            <a:off x="914400" y="2962656"/>
            <a:ext cx="1005840" cy="274320"/>
          </a:xfrm>
          <a:prstGeom prst="rect">
            <a:avLst/>
          </a:prstGeom>
          <a:noFill/>
          <a:ln/>
        </p:spPr>
        <p:txBody>
          <a:bodyPr wrap="square" lIns="0" tIns="0" rIns="0" bIns="0" rtlCol="0" anchor="ctr"/>
          <a:lstStyle/>
          <a:p>
            <a:pPr indent="0" marL="0">
              <a:buNone/>
            </a:pPr>
            <a:r>
              <a:rPr lang="en-US" sz="1150" dirty="0">
                <a:solidFill>
                  <a:srgbClr val="1F2A37"/>
                </a:solidFill>
                <a:latin typeface="Calibri" pitchFamily="34" charset="0"/>
                <a:ea typeface="Calibri" pitchFamily="34" charset="-122"/>
                <a:cs typeface="Calibri" pitchFamily="34" charset="-120"/>
              </a:rPr>
              <a:t>negativo</a:t>
            </a:r>
            <a:endParaRPr lang="en-US" sz="1150" dirty="0"/>
          </a:p>
        </p:txBody>
      </p:sp>
      <p:sp>
        <p:nvSpPr>
          <p:cNvPr id="15" name="Shape 12"/>
          <p:cNvSpPr/>
          <p:nvPr/>
        </p:nvSpPr>
        <p:spPr>
          <a:xfrm>
            <a:off x="1965960" y="3017520"/>
            <a:ext cx="1737360" cy="164592"/>
          </a:xfrm>
          <a:prstGeom prst="roundRect">
            <a:avLst>
              <a:gd name="adj" fmla="val 27778"/>
            </a:avLst>
          </a:prstGeom>
          <a:solidFill>
            <a:srgbClr val="E4EAF1"/>
          </a:solidFill>
          <a:ln w="12700">
            <a:solidFill>
              <a:srgbClr val="E4EAF1"/>
            </a:solidFill>
            <a:prstDash val="solid"/>
          </a:ln>
        </p:spPr>
      </p:sp>
      <p:sp>
        <p:nvSpPr>
          <p:cNvPr id="16" name="Shape 13"/>
          <p:cNvSpPr/>
          <p:nvPr/>
        </p:nvSpPr>
        <p:spPr>
          <a:xfrm>
            <a:off x="1965960" y="3017520"/>
            <a:ext cx="199796" cy="164592"/>
          </a:xfrm>
          <a:prstGeom prst="roundRect">
            <a:avLst>
              <a:gd name="adj" fmla="val 27778"/>
            </a:avLst>
          </a:prstGeom>
          <a:solidFill>
            <a:srgbClr val="5CA79C"/>
          </a:solidFill>
          <a:ln w="12700">
            <a:solidFill>
              <a:srgbClr val="5CA79C"/>
            </a:solidFill>
            <a:prstDash val="solid"/>
          </a:ln>
        </p:spPr>
      </p:sp>
      <p:sp>
        <p:nvSpPr>
          <p:cNvPr id="17" name="Text 14"/>
          <p:cNvSpPr txBox="1"/>
          <p:nvPr/>
        </p:nvSpPr>
        <p:spPr>
          <a:xfrm>
            <a:off x="3794760" y="2962656"/>
            <a:ext cx="548640" cy="274320"/>
          </a:xfrm>
          <a:prstGeom prst="rect">
            <a:avLst/>
          </a:prstGeom>
          <a:noFill/>
          <a:ln/>
        </p:spPr>
        <p:txBody>
          <a:bodyPr wrap="square" lIns="0" tIns="0" rIns="0" bIns="0" rtlCol="0" anchor="ctr"/>
          <a:lstStyle/>
          <a:p>
            <a:pPr algn="r" indent="0" marL="0">
              <a:buNone/>
            </a:pPr>
            <a:r>
              <a:rPr lang="en-US" sz="1100" b="1" dirty="0">
                <a:solidFill>
                  <a:srgbClr val="16324F"/>
                </a:solidFill>
                <a:latin typeface="Calibri" pitchFamily="34" charset="0"/>
                <a:ea typeface="Calibri" pitchFamily="34" charset="-122"/>
                <a:cs typeface="Calibri" pitchFamily="34" charset="-120"/>
              </a:rPr>
              <a:t>11,5%</a:t>
            </a:r>
            <a:endParaRPr lang="en-US" sz="1100" dirty="0"/>
          </a:p>
        </p:txBody>
      </p:sp>
      <p:sp>
        <p:nvSpPr>
          <p:cNvPr id="18" name="Text 15"/>
          <p:cNvSpPr txBox="1"/>
          <p:nvPr/>
        </p:nvSpPr>
        <p:spPr>
          <a:xfrm>
            <a:off x="914400" y="3438144"/>
            <a:ext cx="1005840" cy="274320"/>
          </a:xfrm>
          <a:prstGeom prst="rect">
            <a:avLst/>
          </a:prstGeom>
          <a:noFill/>
          <a:ln/>
        </p:spPr>
        <p:txBody>
          <a:bodyPr wrap="square" lIns="0" tIns="0" rIns="0" bIns="0" rtlCol="0" anchor="ctr"/>
          <a:lstStyle/>
          <a:p>
            <a:pPr indent="0" marL="0">
              <a:buNone/>
            </a:pPr>
            <a:r>
              <a:rPr lang="en-US" sz="1150" dirty="0">
                <a:solidFill>
                  <a:srgbClr val="1F2A37"/>
                </a:solidFill>
                <a:latin typeface="Calibri" pitchFamily="34" charset="0"/>
                <a:ea typeface="Calibri" pitchFamily="34" charset="-122"/>
                <a:cs typeface="Calibri" pitchFamily="34" charset="-120"/>
              </a:rPr>
              <a:t>neutro</a:t>
            </a:r>
            <a:endParaRPr lang="en-US" sz="1150" dirty="0"/>
          </a:p>
        </p:txBody>
      </p:sp>
      <p:sp>
        <p:nvSpPr>
          <p:cNvPr id="19" name="Shape 16"/>
          <p:cNvSpPr/>
          <p:nvPr/>
        </p:nvSpPr>
        <p:spPr>
          <a:xfrm>
            <a:off x="1965960" y="3493008"/>
            <a:ext cx="1737360" cy="164592"/>
          </a:xfrm>
          <a:prstGeom prst="roundRect">
            <a:avLst>
              <a:gd name="adj" fmla="val 27778"/>
            </a:avLst>
          </a:prstGeom>
          <a:solidFill>
            <a:srgbClr val="E4EAF1"/>
          </a:solidFill>
          <a:ln w="12700">
            <a:solidFill>
              <a:srgbClr val="E4EAF1"/>
            </a:solidFill>
            <a:prstDash val="solid"/>
          </a:ln>
        </p:spPr>
      </p:sp>
      <p:sp>
        <p:nvSpPr>
          <p:cNvPr id="20" name="Shape 17"/>
          <p:cNvSpPr/>
          <p:nvPr/>
        </p:nvSpPr>
        <p:spPr>
          <a:xfrm>
            <a:off x="1965960" y="3493008"/>
            <a:ext cx="154625" cy="164592"/>
          </a:xfrm>
          <a:prstGeom prst="roundRect">
            <a:avLst>
              <a:gd name="adj" fmla="val 29568"/>
            </a:avLst>
          </a:prstGeom>
          <a:solidFill>
            <a:srgbClr val="9BC9C2"/>
          </a:solidFill>
          <a:ln w="12700">
            <a:solidFill>
              <a:srgbClr val="9BC9C2"/>
            </a:solidFill>
            <a:prstDash val="solid"/>
          </a:ln>
        </p:spPr>
      </p:sp>
      <p:sp>
        <p:nvSpPr>
          <p:cNvPr id="21" name="Text 18"/>
          <p:cNvSpPr txBox="1"/>
          <p:nvPr/>
        </p:nvSpPr>
        <p:spPr>
          <a:xfrm>
            <a:off x="3794760" y="3438144"/>
            <a:ext cx="548640" cy="274320"/>
          </a:xfrm>
          <a:prstGeom prst="rect">
            <a:avLst/>
          </a:prstGeom>
          <a:noFill/>
          <a:ln/>
        </p:spPr>
        <p:txBody>
          <a:bodyPr wrap="square" lIns="0" tIns="0" rIns="0" bIns="0" rtlCol="0" anchor="ctr"/>
          <a:lstStyle/>
          <a:p>
            <a:pPr algn="r" indent="0" marL="0">
              <a:buNone/>
            </a:pPr>
            <a:r>
              <a:rPr lang="en-US" sz="1100" b="1" dirty="0">
                <a:solidFill>
                  <a:srgbClr val="16324F"/>
                </a:solidFill>
                <a:latin typeface="Calibri" pitchFamily="34" charset="0"/>
                <a:ea typeface="Calibri" pitchFamily="34" charset="-122"/>
                <a:cs typeface="Calibri" pitchFamily="34" charset="-120"/>
              </a:rPr>
              <a:t>8,9%</a:t>
            </a:r>
            <a:endParaRPr lang="en-US" sz="1100" dirty="0"/>
          </a:p>
        </p:txBody>
      </p:sp>
      <p:sp>
        <p:nvSpPr>
          <p:cNvPr id="22" name="Shape 19"/>
          <p:cNvSpPr/>
          <p:nvPr/>
        </p:nvSpPr>
        <p:spPr>
          <a:xfrm>
            <a:off x="914400" y="4041648"/>
            <a:ext cx="3429000" cy="0"/>
          </a:xfrm>
          <a:prstGeom prst="line">
            <a:avLst/>
          </a:prstGeom>
          <a:noFill/>
          <a:ln w="12700">
            <a:solidFill>
              <a:srgbClr val="D5DFEA"/>
            </a:solidFill>
            <a:prstDash val="solid"/>
          </a:ln>
        </p:spPr>
      </p:sp>
      <p:sp>
        <p:nvSpPr>
          <p:cNvPr id="23" name="Text 20"/>
          <p:cNvSpPr txBox="1"/>
          <p:nvPr/>
        </p:nvSpPr>
        <p:spPr>
          <a:xfrm>
            <a:off x="914400" y="4169664"/>
            <a:ext cx="3429000" cy="274320"/>
          </a:xfrm>
          <a:prstGeom prst="rect">
            <a:avLst/>
          </a:prstGeom>
          <a:noFill/>
          <a:ln/>
        </p:spPr>
        <p:txBody>
          <a:bodyPr wrap="square" lIns="0" tIns="0" rIns="0" bIns="0" rtlCol="0" anchor="ctr"/>
          <a:lstStyle/>
          <a:p>
            <a:pPr indent="0" marL="0">
              <a:buNone/>
            </a:pPr>
            <a:r>
              <a:rPr lang="en-US" sz="1350" b="1" dirty="0">
                <a:solidFill>
                  <a:srgbClr val="16324F"/>
                </a:solidFill>
                <a:latin typeface="Cambria" pitchFamily="34" charset="0"/>
                <a:ea typeface="Cambria" pitchFamily="34" charset="-122"/>
                <a:cs typeface="Cambria" pitchFamily="34" charset="-120"/>
              </a:rPr>
              <a:t>Uso la F1 macro, non l'accuracy</a:t>
            </a:r>
            <a:endParaRPr lang="en-US" sz="1350" dirty="0"/>
          </a:p>
        </p:txBody>
      </p:sp>
      <p:sp>
        <p:nvSpPr>
          <p:cNvPr id="24" name="Text 21"/>
          <p:cNvSpPr txBox="1"/>
          <p:nvPr/>
        </p:nvSpPr>
        <p:spPr>
          <a:xfrm>
            <a:off x="914400" y="4498848"/>
            <a:ext cx="3429000" cy="1188720"/>
          </a:xfrm>
          <a:prstGeom prst="rect">
            <a:avLst/>
          </a:prstGeom>
          <a:noFill/>
          <a:ln/>
        </p:spPr>
        <p:txBody>
          <a:bodyPr wrap="square" lIns="0" tIns="0" rIns="0" bIns="0" rtlCol="0" anchor="ctr"/>
          <a:lstStyle/>
          <a:p>
            <a:pPr indent="0" marL="0">
              <a:lnSpc>
                <a:spcPct val="130000"/>
              </a:lnSpc>
              <a:buNone/>
            </a:pPr>
            <a:r>
              <a:rPr lang="en-US" sz="1150" dirty="0">
                <a:solidFill>
                  <a:srgbClr val="1F2A37"/>
                </a:solidFill>
                <a:latin typeface="Calibri" pitchFamily="34" charset="0"/>
                <a:ea typeface="Calibri" pitchFamily="34" charset="-122"/>
                <a:cs typeface="Calibri" pitchFamily="34" charset="-120"/>
              </a:rPr>
              <a:t>Un modello che rispondesse sempre «positivo» avrebbe l'80% di accuracy senza aver capito nulla. La F1 macro dà lo stesso peso alle tre classi, così chi ignora quelle rare viene punito.</a:t>
            </a:r>
            <a:endParaRPr lang="en-US" sz="1150" dirty="0"/>
          </a:p>
        </p:txBody>
      </p:sp>
      <p:sp>
        <p:nvSpPr>
          <p:cNvPr id="25" name="Text 22"/>
          <p:cNvSpPr txBox="1"/>
          <p:nvPr/>
        </p:nvSpPr>
        <p:spPr>
          <a:xfrm>
            <a:off x="4937760" y="1965960"/>
            <a:ext cx="3566160" cy="256032"/>
          </a:xfrm>
          <a:prstGeom prst="rect">
            <a:avLst/>
          </a:prstGeom>
          <a:noFill/>
          <a:ln/>
        </p:spPr>
        <p:txBody>
          <a:bodyPr wrap="square" lIns="0" tIns="0" rIns="0" bIns="0" rtlCol="0" anchor="ctr"/>
          <a:lstStyle/>
          <a:p>
            <a:pPr indent="0" marL="0">
              <a:buNone/>
            </a:pPr>
            <a:r>
              <a:rPr lang="en-US" sz="1150" b="1" dirty="0">
                <a:solidFill>
                  <a:srgbClr val="16324F"/>
                </a:solidFill>
                <a:latin typeface="Calibri" pitchFamily="34" charset="0"/>
                <a:ea typeface="Calibri" pitchFamily="34" charset="-122"/>
                <a:cs typeface="Calibri" pitchFamily="34" charset="-120"/>
              </a:rPr>
              <a:t>Confusion matrix normalizzata · Random Forest (TF-IDF)</a:t>
            </a:r>
            <a:endParaRPr lang="en-US" sz="1150" dirty="0"/>
          </a:p>
        </p:txBody>
      </p:sp>
      <p:sp>
        <p:nvSpPr>
          <p:cNvPr id="26" name="Text 23"/>
          <p:cNvSpPr txBox="1"/>
          <p:nvPr/>
        </p:nvSpPr>
        <p:spPr>
          <a:xfrm>
            <a:off x="4937760" y="2231136"/>
            <a:ext cx="3566160" cy="219456"/>
          </a:xfrm>
          <a:prstGeom prst="rect">
            <a:avLst/>
          </a:prstGeom>
          <a:noFill/>
          <a:ln/>
        </p:spPr>
        <p:txBody>
          <a:bodyPr wrap="square" lIns="0" tIns="0" rIns="0" bIns="0" rtlCol="0" anchor="ctr"/>
          <a:lstStyle/>
          <a:p>
            <a:pPr indent="0" marL="0">
              <a:buNone/>
            </a:pPr>
            <a:r>
              <a:rPr lang="en-US" sz="950" i="1" dirty="0">
                <a:solidFill>
                  <a:srgbClr val="6B7787"/>
                </a:solidFill>
                <a:latin typeface="Calibri" pitchFamily="34" charset="0"/>
                <a:ea typeface="Calibri" pitchFamily="34" charset="-122"/>
                <a:cs typeface="Calibri" pitchFamily="34" charset="-120"/>
              </a:rPr>
              <a:t>ogni riga somma a 1 · righe = classe reale, colonne = previsione</a:t>
            </a:r>
            <a:endParaRPr lang="en-US" sz="950" dirty="0"/>
          </a:p>
        </p:txBody>
      </p:sp>
      <p:sp>
        <p:nvSpPr>
          <p:cNvPr id="27" name="Text 24"/>
          <p:cNvSpPr txBox="1"/>
          <p:nvPr/>
        </p:nvSpPr>
        <p:spPr>
          <a:xfrm>
            <a:off x="4937760" y="2606040"/>
            <a:ext cx="310896" cy="868680"/>
          </a:xfrm>
          <a:prstGeom prst="rect">
            <a:avLst/>
          </a:prstGeom>
          <a:noFill/>
          <a:ln/>
        </p:spPr>
        <p:txBody>
          <a:bodyPr wrap="square" lIns="0" tIns="0" rIns="0" bIns="0" rtlCol="0" anchor="ctr"/>
          <a:lstStyle/>
          <a:p>
            <a:pPr algn="r" indent="0" marL="0">
              <a:buNone/>
            </a:pPr>
            <a:r>
              <a:rPr lang="en-US" sz="1050" dirty="0">
                <a:solidFill>
                  <a:srgbClr val="6B7787"/>
                </a:solidFill>
                <a:latin typeface="Calibri" pitchFamily="34" charset="0"/>
                <a:ea typeface="Calibri" pitchFamily="34" charset="-122"/>
                <a:cs typeface="Calibri" pitchFamily="34" charset="-120"/>
              </a:rPr>
              <a:t>neg</a:t>
            </a:r>
            <a:endParaRPr lang="en-US" sz="1050" dirty="0"/>
          </a:p>
        </p:txBody>
      </p:sp>
      <p:sp>
        <p:nvSpPr>
          <p:cNvPr id="28" name="Shape 25"/>
          <p:cNvSpPr/>
          <p:nvPr/>
        </p:nvSpPr>
        <p:spPr>
          <a:xfrm>
            <a:off x="5349240" y="2633472"/>
            <a:ext cx="1005840" cy="813816"/>
          </a:xfrm>
          <a:prstGeom prst="rect">
            <a:avLst/>
          </a:prstGeom>
          <a:solidFill>
            <a:srgbClr val="74869A"/>
          </a:solidFill>
          <a:ln w="12700">
            <a:solidFill>
              <a:srgbClr val="F8FAFC"/>
            </a:solidFill>
            <a:prstDash val="solid"/>
          </a:ln>
        </p:spPr>
      </p:sp>
      <p:sp>
        <p:nvSpPr>
          <p:cNvPr id="29" name="Text 26"/>
          <p:cNvSpPr txBox="1"/>
          <p:nvPr/>
        </p:nvSpPr>
        <p:spPr>
          <a:xfrm>
            <a:off x="5349240" y="2633472"/>
            <a:ext cx="1005840" cy="813816"/>
          </a:xfrm>
          <a:prstGeom prst="rect">
            <a:avLst/>
          </a:prstGeom>
          <a:noFill/>
          <a:ln/>
        </p:spPr>
        <p:txBody>
          <a:bodyPr wrap="square" lIns="0" tIns="0" rIns="0" bIns="0" rtlCol="0" anchor="ctr"/>
          <a:lstStyle/>
          <a:p>
            <a:pPr algn="ctr" indent="0" marL="0">
              <a:buNone/>
            </a:pPr>
            <a:r>
              <a:rPr lang="en-US" sz="1500" b="1" dirty="0">
                <a:solidFill>
                  <a:srgbClr val="16324F"/>
                </a:solidFill>
                <a:latin typeface="Cambria" pitchFamily="34" charset="0"/>
                <a:ea typeface="Cambria" pitchFamily="34" charset="-122"/>
                <a:cs typeface="Cambria" pitchFamily="34" charset="-120"/>
              </a:rPr>
              <a:t>0,44</a:t>
            </a:r>
            <a:endParaRPr lang="en-US" sz="1500" dirty="0"/>
          </a:p>
        </p:txBody>
      </p:sp>
      <p:sp>
        <p:nvSpPr>
          <p:cNvPr id="30" name="Shape 27"/>
          <p:cNvSpPr/>
          <p:nvPr/>
        </p:nvSpPr>
        <p:spPr>
          <a:xfrm>
            <a:off x="6409944" y="2633472"/>
            <a:ext cx="1005840" cy="813816"/>
          </a:xfrm>
          <a:prstGeom prst="rect">
            <a:avLst/>
          </a:prstGeom>
          <a:solidFill>
            <a:srgbClr val="EDF3FA"/>
          </a:solidFill>
          <a:ln w="12700">
            <a:solidFill>
              <a:srgbClr val="F8FAFC"/>
            </a:solidFill>
            <a:prstDash val="solid"/>
          </a:ln>
        </p:spPr>
      </p:sp>
      <p:sp>
        <p:nvSpPr>
          <p:cNvPr id="31" name="Text 28"/>
          <p:cNvSpPr txBox="1"/>
          <p:nvPr/>
        </p:nvSpPr>
        <p:spPr>
          <a:xfrm>
            <a:off x="6409944" y="2633472"/>
            <a:ext cx="1005840" cy="813816"/>
          </a:xfrm>
          <a:prstGeom prst="rect">
            <a:avLst/>
          </a:prstGeom>
          <a:noFill/>
          <a:ln/>
        </p:spPr>
        <p:txBody>
          <a:bodyPr wrap="square" lIns="0" tIns="0" rIns="0" bIns="0" rtlCol="0" anchor="ctr"/>
          <a:lstStyle/>
          <a:p>
            <a:pPr algn="ctr" indent="0" marL="0">
              <a:buNone/>
            </a:pPr>
            <a:r>
              <a:rPr lang="en-US" sz="1500" b="1" dirty="0">
                <a:solidFill>
                  <a:srgbClr val="A7B3C1"/>
                </a:solidFill>
                <a:latin typeface="Cambria" pitchFamily="34" charset="0"/>
                <a:ea typeface="Cambria" pitchFamily="34" charset="-122"/>
                <a:cs typeface="Cambria" pitchFamily="34" charset="-120"/>
              </a:rPr>
              <a:t>0,00</a:t>
            </a:r>
            <a:endParaRPr lang="en-US" sz="1500" dirty="0"/>
          </a:p>
        </p:txBody>
      </p:sp>
      <p:sp>
        <p:nvSpPr>
          <p:cNvPr id="32" name="Shape 29"/>
          <p:cNvSpPr/>
          <p:nvPr/>
        </p:nvSpPr>
        <p:spPr>
          <a:xfrm>
            <a:off x="7470648" y="2633472"/>
            <a:ext cx="1005840" cy="813816"/>
          </a:xfrm>
          <a:prstGeom prst="rect">
            <a:avLst/>
          </a:prstGeom>
          <a:solidFill>
            <a:srgbClr val="607489"/>
          </a:solidFill>
          <a:ln w="12700">
            <a:solidFill>
              <a:srgbClr val="F8FAFC"/>
            </a:solidFill>
            <a:prstDash val="solid"/>
          </a:ln>
        </p:spPr>
      </p:sp>
      <p:sp>
        <p:nvSpPr>
          <p:cNvPr id="33" name="Text 30"/>
          <p:cNvSpPr txBox="1"/>
          <p:nvPr/>
        </p:nvSpPr>
        <p:spPr>
          <a:xfrm>
            <a:off x="7470648" y="2633472"/>
            <a:ext cx="1005840" cy="81381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0,55</a:t>
            </a:r>
            <a:endParaRPr lang="en-US" sz="1500" dirty="0"/>
          </a:p>
        </p:txBody>
      </p:sp>
      <p:sp>
        <p:nvSpPr>
          <p:cNvPr id="34" name="Text 31"/>
          <p:cNvSpPr txBox="1"/>
          <p:nvPr/>
        </p:nvSpPr>
        <p:spPr>
          <a:xfrm>
            <a:off x="4937760" y="3474720"/>
            <a:ext cx="310896" cy="868680"/>
          </a:xfrm>
          <a:prstGeom prst="rect">
            <a:avLst/>
          </a:prstGeom>
          <a:noFill/>
          <a:ln/>
        </p:spPr>
        <p:txBody>
          <a:bodyPr wrap="square" lIns="0" tIns="0" rIns="0" bIns="0" rtlCol="0" anchor="ctr"/>
          <a:lstStyle/>
          <a:p>
            <a:pPr algn="r" indent="0" marL="0">
              <a:buNone/>
            </a:pPr>
            <a:r>
              <a:rPr lang="en-US" sz="1050" dirty="0">
                <a:solidFill>
                  <a:srgbClr val="6B7787"/>
                </a:solidFill>
                <a:latin typeface="Calibri" pitchFamily="34" charset="0"/>
                <a:ea typeface="Calibri" pitchFamily="34" charset="-122"/>
                <a:cs typeface="Calibri" pitchFamily="34" charset="-120"/>
              </a:rPr>
              <a:t>neu</a:t>
            </a:r>
            <a:endParaRPr lang="en-US" sz="1050" dirty="0"/>
          </a:p>
        </p:txBody>
      </p:sp>
      <p:sp>
        <p:nvSpPr>
          <p:cNvPr id="35" name="Shape 32"/>
          <p:cNvSpPr/>
          <p:nvPr/>
        </p:nvSpPr>
        <p:spPr>
          <a:xfrm>
            <a:off x="5349240" y="3502152"/>
            <a:ext cx="1005840" cy="813816"/>
          </a:xfrm>
          <a:prstGeom prst="rect">
            <a:avLst/>
          </a:prstGeom>
          <a:solidFill>
            <a:srgbClr val="CFD8E2"/>
          </a:solidFill>
          <a:ln w="12700">
            <a:solidFill>
              <a:srgbClr val="F8FAFC"/>
            </a:solidFill>
            <a:prstDash val="solid"/>
          </a:ln>
        </p:spPr>
      </p:sp>
      <p:sp>
        <p:nvSpPr>
          <p:cNvPr id="36" name="Text 33"/>
          <p:cNvSpPr txBox="1"/>
          <p:nvPr/>
        </p:nvSpPr>
        <p:spPr>
          <a:xfrm>
            <a:off x="5349240" y="3502152"/>
            <a:ext cx="1005840" cy="813816"/>
          </a:xfrm>
          <a:prstGeom prst="rect">
            <a:avLst/>
          </a:prstGeom>
          <a:noFill/>
          <a:ln/>
        </p:spPr>
        <p:txBody>
          <a:bodyPr wrap="square" lIns="0" tIns="0" rIns="0" bIns="0" rtlCol="0" anchor="ctr"/>
          <a:lstStyle/>
          <a:p>
            <a:pPr algn="ctr" indent="0" marL="0">
              <a:buNone/>
            </a:pPr>
            <a:r>
              <a:rPr lang="en-US" sz="1500" b="1" dirty="0">
                <a:solidFill>
                  <a:srgbClr val="A7B3C1"/>
                </a:solidFill>
                <a:latin typeface="Cambria" pitchFamily="34" charset="0"/>
                <a:ea typeface="Cambria" pitchFamily="34" charset="-122"/>
                <a:cs typeface="Cambria" pitchFamily="34" charset="-120"/>
              </a:rPr>
              <a:t>0,06</a:t>
            </a:r>
            <a:endParaRPr lang="en-US" sz="1500" dirty="0"/>
          </a:p>
        </p:txBody>
      </p:sp>
      <p:sp>
        <p:nvSpPr>
          <p:cNvPr id="37" name="Shape 34"/>
          <p:cNvSpPr/>
          <p:nvPr/>
        </p:nvSpPr>
        <p:spPr>
          <a:xfrm>
            <a:off x="6409944" y="3502152"/>
            <a:ext cx="1005840" cy="813816"/>
          </a:xfrm>
          <a:prstGeom prst="rect">
            <a:avLst/>
          </a:prstGeom>
          <a:solidFill>
            <a:srgbClr val="A3B0BF"/>
          </a:solidFill>
          <a:ln w="12700">
            <a:solidFill>
              <a:srgbClr val="F8FAFC"/>
            </a:solidFill>
            <a:prstDash val="solid"/>
          </a:ln>
        </p:spPr>
      </p:sp>
      <p:sp>
        <p:nvSpPr>
          <p:cNvPr id="38" name="Text 35"/>
          <p:cNvSpPr txBox="1"/>
          <p:nvPr/>
        </p:nvSpPr>
        <p:spPr>
          <a:xfrm>
            <a:off x="6409944" y="3502152"/>
            <a:ext cx="1005840" cy="813816"/>
          </a:xfrm>
          <a:prstGeom prst="rect">
            <a:avLst/>
          </a:prstGeom>
          <a:noFill/>
          <a:ln/>
        </p:spPr>
        <p:txBody>
          <a:bodyPr wrap="square" lIns="0" tIns="0" rIns="0" bIns="0" rtlCol="0" anchor="ctr"/>
          <a:lstStyle/>
          <a:p>
            <a:pPr algn="ctr" indent="0" marL="0">
              <a:buNone/>
            </a:pPr>
            <a:r>
              <a:rPr lang="en-US" sz="1500" b="1" dirty="0">
                <a:solidFill>
                  <a:srgbClr val="16324F"/>
                </a:solidFill>
                <a:latin typeface="Cambria" pitchFamily="34" charset="0"/>
                <a:ea typeface="Cambria" pitchFamily="34" charset="-122"/>
                <a:cs typeface="Cambria" pitchFamily="34" charset="-120"/>
              </a:rPr>
              <a:t>0,22</a:t>
            </a:r>
            <a:endParaRPr lang="en-US" sz="1500" dirty="0"/>
          </a:p>
        </p:txBody>
      </p:sp>
      <p:sp>
        <p:nvSpPr>
          <p:cNvPr id="39" name="Shape 36"/>
          <p:cNvSpPr/>
          <p:nvPr/>
        </p:nvSpPr>
        <p:spPr>
          <a:xfrm>
            <a:off x="7470648" y="3502152"/>
            <a:ext cx="1005840" cy="813816"/>
          </a:xfrm>
          <a:prstGeom prst="rect">
            <a:avLst/>
          </a:prstGeom>
          <a:solidFill>
            <a:srgbClr val="425A72"/>
          </a:solidFill>
          <a:ln w="12700">
            <a:solidFill>
              <a:srgbClr val="F8FAFC"/>
            </a:solidFill>
            <a:prstDash val="solid"/>
          </a:ln>
        </p:spPr>
      </p:sp>
      <p:sp>
        <p:nvSpPr>
          <p:cNvPr id="40" name="Text 37"/>
          <p:cNvSpPr txBox="1"/>
          <p:nvPr/>
        </p:nvSpPr>
        <p:spPr>
          <a:xfrm>
            <a:off x="7470648" y="3502152"/>
            <a:ext cx="1005840" cy="81381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0,72</a:t>
            </a:r>
            <a:endParaRPr lang="en-US" sz="1500" dirty="0"/>
          </a:p>
        </p:txBody>
      </p:sp>
      <p:sp>
        <p:nvSpPr>
          <p:cNvPr id="41" name="Text 38"/>
          <p:cNvSpPr txBox="1"/>
          <p:nvPr/>
        </p:nvSpPr>
        <p:spPr>
          <a:xfrm>
            <a:off x="4937760" y="4343400"/>
            <a:ext cx="310896" cy="868680"/>
          </a:xfrm>
          <a:prstGeom prst="rect">
            <a:avLst/>
          </a:prstGeom>
          <a:noFill/>
          <a:ln/>
        </p:spPr>
        <p:txBody>
          <a:bodyPr wrap="square" lIns="0" tIns="0" rIns="0" bIns="0" rtlCol="0" anchor="ctr"/>
          <a:lstStyle/>
          <a:p>
            <a:pPr algn="r" indent="0" marL="0">
              <a:buNone/>
            </a:pPr>
            <a:r>
              <a:rPr lang="en-US" sz="1050" dirty="0">
                <a:solidFill>
                  <a:srgbClr val="6B7787"/>
                </a:solidFill>
                <a:latin typeface="Calibri" pitchFamily="34" charset="0"/>
                <a:ea typeface="Calibri" pitchFamily="34" charset="-122"/>
                <a:cs typeface="Calibri" pitchFamily="34" charset="-120"/>
              </a:rPr>
              <a:t>pos</a:t>
            </a:r>
            <a:endParaRPr lang="en-US" sz="1050" dirty="0"/>
          </a:p>
        </p:txBody>
      </p:sp>
      <p:sp>
        <p:nvSpPr>
          <p:cNvPr id="42" name="Shape 39"/>
          <p:cNvSpPr/>
          <p:nvPr/>
        </p:nvSpPr>
        <p:spPr>
          <a:xfrm>
            <a:off x="5349240" y="4370832"/>
            <a:ext cx="1005840" cy="813816"/>
          </a:xfrm>
          <a:prstGeom prst="rect">
            <a:avLst/>
          </a:prstGeom>
          <a:solidFill>
            <a:srgbClr val="EDF3FA"/>
          </a:solidFill>
          <a:ln w="12700">
            <a:solidFill>
              <a:srgbClr val="F8FAFC"/>
            </a:solidFill>
            <a:prstDash val="solid"/>
          </a:ln>
        </p:spPr>
      </p:sp>
      <p:sp>
        <p:nvSpPr>
          <p:cNvPr id="43" name="Text 40"/>
          <p:cNvSpPr txBox="1"/>
          <p:nvPr/>
        </p:nvSpPr>
        <p:spPr>
          <a:xfrm>
            <a:off x="5349240" y="4370832"/>
            <a:ext cx="1005840" cy="813816"/>
          </a:xfrm>
          <a:prstGeom prst="rect">
            <a:avLst/>
          </a:prstGeom>
          <a:noFill/>
          <a:ln/>
        </p:spPr>
        <p:txBody>
          <a:bodyPr wrap="square" lIns="0" tIns="0" rIns="0" bIns="0" rtlCol="0" anchor="ctr"/>
          <a:lstStyle/>
          <a:p>
            <a:pPr algn="ctr" indent="0" marL="0">
              <a:buNone/>
            </a:pPr>
            <a:r>
              <a:rPr lang="en-US" sz="1500" b="1" dirty="0">
                <a:solidFill>
                  <a:srgbClr val="A7B3C1"/>
                </a:solidFill>
                <a:latin typeface="Cambria" pitchFamily="34" charset="0"/>
                <a:ea typeface="Cambria" pitchFamily="34" charset="-122"/>
                <a:cs typeface="Cambria" pitchFamily="34" charset="-120"/>
              </a:rPr>
              <a:t>0,00</a:t>
            </a:r>
            <a:endParaRPr lang="en-US" sz="1500" dirty="0"/>
          </a:p>
        </p:txBody>
      </p:sp>
      <p:sp>
        <p:nvSpPr>
          <p:cNvPr id="44" name="Shape 41"/>
          <p:cNvSpPr/>
          <p:nvPr/>
        </p:nvSpPr>
        <p:spPr>
          <a:xfrm>
            <a:off x="6409944" y="4370832"/>
            <a:ext cx="1005840" cy="813816"/>
          </a:xfrm>
          <a:prstGeom prst="rect">
            <a:avLst/>
          </a:prstGeom>
          <a:solidFill>
            <a:srgbClr val="EDF3FA"/>
          </a:solidFill>
          <a:ln w="12700">
            <a:solidFill>
              <a:srgbClr val="F8FAFC"/>
            </a:solidFill>
            <a:prstDash val="solid"/>
          </a:ln>
        </p:spPr>
      </p:sp>
      <p:sp>
        <p:nvSpPr>
          <p:cNvPr id="45" name="Text 42"/>
          <p:cNvSpPr txBox="1"/>
          <p:nvPr/>
        </p:nvSpPr>
        <p:spPr>
          <a:xfrm>
            <a:off x="6409944" y="4370832"/>
            <a:ext cx="1005840" cy="813816"/>
          </a:xfrm>
          <a:prstGeom prst="rect">
            <a:avLst/>
          </a:prstGeom>
          <a:noFill/>
          <a:ln/>
        </p:spPr>
        <p:txBody>
          <a:bodyPr wrap="square" lIns="0" tIns="0" rIns="0" bIns="0" rtlCol="0" anchor="ctr"/>
          <a:lstStyle/>
          <a:p>
            <a:pPr algn="ctr" indent="0" marL="0">
              <a:buNone/>
            </a:pPr>
            <a:r>
              <a:rPr lang="en-US" sz="1500" b="1" dirty="0">
                <a:solidFill>
                  <a:srgbClr val="A7B3C1"/>
                </a:solidFill>
                <a:latin typeface="Cambria" pitchFamily="34" charset="0"/>
                <a:ea typeface="Cambria" pitchFamily="34" charset="-122"/>
                <a:cs typeface="Cambria" pitchFamily="34" charset="-120"/>
              </a:rPr>
              <a:t>0,00</a:t>
            </a:r>
            <a:endParaRPr lang="en-US" sz="1500" dirty="0"/>
          </a:p>
        </p:txBody>
      </p:sp>
      <p:sp>
        <p:nvSpPr>
          <p:cNvPr id="46" name="Shape 43"/>
          <p:cNvSpPr/>
          <p:nvPr/>
        </p:nvSpPr>
        <p:spPr>
          <a:xfrm>
            <a:off x="7470648" y="4370832"/>
            <a:ext cx="1005840" cy="813816"/>
          </a:xfrm>
          <a:prstGeom prst="rect">
            <a:avLst/>
          </a:prstGeom>
          <a:solidFill>
            <a:srgbClr val="183350"/>
          </a:solidFill>
          <a:ln w="12700">
            <a:solidFill>
              <a:srgbClr val="F8FAFC"/>
            </a:solidFill>
            <a:prstDash val="solid"/>
          </a:ln>
        </p:spPr>
      </p:sp>
      <p:sp>
        <p:nvSpPr>
          <p:cNvPr id="47" name="Text 44"/>
          <p:cNvSpPr txBox="1"/>
          <p:nvPr/>
        </p:nvSpPr>
        <p:spPr>
          <a:xfrm>
            <a:off x="7470648" y="4370832"/>
            <a:ext cx="1005840" cy="81381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0,99</a:t>
            </a:r>
            <a:endParaRPr lang="en-US" sz="1500" dirty="0"/>
          </a:p>
        </p:txBody>
      </p:sp>
      <p:sp>
        <p:nvSpPr>
          <p:cNvPr id="48" name="Text 45"/>
          <p:cNvSpPr txBox="1"/>
          <p:nvPr/>
        </p:nvSpPr>
        <p:spPr>
          <a:xfrm>
            <a:off x="5321808" y="5266944"/>
            <a:ext cx="1060704" cy="219456"/>
          </a:xfrm>
          <a:prstGeom prst="rect">
            <a:avLst/>
          </a:prstGeom>
          <a:noFill/>
          <a:ln/>
        </p:spPr>
        <p:txBody>
          <a:bodyPr wrap="square" lIns="0" tIns="0" rIns="0" bIns="0" rtlCol="0" anchor="ctr"/>
          <a:lstStyle/>
          <a:p>
            <a:pPr algn="ctr" indent="0" marL="0">
              <a:buNone/>
            </a:pPr>
            <a:r>
              <a:rPr lang="en-US" sz="1050" dirty="0">
                <a:solidFill>
                  <a:srgbClr val="6B7787"/>
                </a:solidFill>
                <a:latin typeface="Calibri" pitchFamily="34" charset="0"/>
                <a:ea typeface="Calibri" pitchFamily="34" charset="-122"/>
                <a:cs typeface="Calibri" pitchFamily="34" charset="-120"/>
              </a:rPr>
              <a:t>neg</a:t>
            </a:r>
            <a:endParaRPr lang="en-US" sz="1050" dirty="0"/>
          </a:p>
        </p:txBody>
      </p:sp>
      <p:sp>
        <p:nvSpPr>
          <p:cNvPr id="49" name="Text 46"/>
          <p:cNvSpPr txBox="1"/>
          <p:nvPr/>
        </p:nvSpPr>
        <p:spPr>
          <a:xfrm>
            <a:off x="6382512" y="5266944"/>
            <a:ext cx="1060704" cy="219456"/>
          </a:xfrm>
          <a:prstGeom prst="rect">
            <a:avLst/>
          </a:prstGeom>
          <a:noFill/>
          <a:ln/>
        </p:spPr>
        <p:txBody>
          <a:bodyPr wrap="square" lIns="0" tIns="0" rIns="0" bIns="0" rtlCol="0" anchor="ctr"/>
          <a:lstStyle/>
          <a:p>
            <a:pPr algn="ctr" indent="0" marL="0">
              <a:buNone/>
            </a:pPr>
            <a:r>
              <a:rPr lang="en-US" sz="1050" dirty="0">
                <a:solidFill>
                  <a:srgbClr val="6B7787"/>
                </a:solidFill>
                <a:latin typeface="Calibri" pitchFamily="34" charset="0"/>
                <a:ea typeface="Calibri" pitchFamily="34" charset="-122"/>
                <a:cs typeface="Calibri" pitchFamily="34" charset="-120"/>
              </a:rPr>
              <a:t>neu</a:t>
            </a:r>
            <a:endParaRPr lang="en-US" sz="1050" dirty="0"/>
          </a:p>
        </p:txBody>
      </p:sp>
      <p:sp>
        <p:nvSpPr>
          <p:cNvPr id="50" name="Text 47"/>
          <p:cNvSpPr txBox="1"/>
          <p:nvPr/>
        </p:nvSpPr>
        <p:spPr>
          <a:xfrm>
            <a:off x="7443216" y="5266944"/>
            <a:ext cx="1060704" cy="219456"/>
          </a:xfrm>
          <a:prstGeom prst="rect">
            <a:avLst/>
          </a:prstGeom>
          <a:noFill/>
          <a:ln/>
        </p:spPr>
        <p:txBody>
          <a:bodyPr wrap="square" lIns="0" tIns="0" rIns="0" bIns="0" rtlCol="0" anchor="ctr"/>
          <a:lstStyle/>
          <a:p>
            <a:pPr algn="ctr" indent="0" marL="0">
              <a:buNone/>
            </a:pPr>
            <a:r>
              <a:rPr lang="en-US" sz="1050" dirty="0">
                <a:solidFill>
                  <a:srgbClr val="6B7787"/>
                </a:solidFill>
                <a:latin typeface="Calibri" pitchFamily="34" charset="0"/>
                <a:ea typeface="Calibri" pitchFamily="34" charset="-122"/>
                <a:cs typeface="Calibri" pitchFamily="34" charset="-120"/>
              </a:rPr>
              <a:t>pos</a:t>
            </a:r>
            <a:endParaRPr lang="en-US" sz="1050" dirty="0"/>
          </a:p>
        </p:txBody>
      </p:sp>
      <p:sp>
        <p:nvSpPr>
          <p:cNvPr id="51" name="Text 48"/>
          <p:cNvSpPr txBox="1"/>
          <p:nvPr/>
        </p:nvSpPr>
        <p:spPr>
          <a:xfrm>
            <a:off x="4937760" y="5650992"/>
            <a:ext cx="3566160" cy="237744"/>
          </a:xfrm>
          <a:prstGeom prst="rect">
            <a:avLst/>
          </a:prstGeom>
          <a:noFill/>
          <a:ln/>
        </p:spPr>
        <p:txBody>
          <a:bodyPr wrap="square" lIns="0" tIns="0" rIns="0" bIns="0" rtlCol="0" anchor="ctr"/>
          <a:lstStyle/>
          <a:p>
            <a:pPr indent="0" marL="0">
              <a:buNone/>
            </a:pPr>
            <a:r>
              <a:rPr lang="en-US" sz="1000" i="1" dirty="0">
                <a:solidFill>
                  <a:srgbClr val="6B7787"/>
                </a:solidFill>
                <a:latin typeface="Calibri" pitchFamily="34" charset="0"/>
                <a:ea typeface="Calibri" pitchFamily="34" charset="-122"/>
                <a:cs typeface="Calibri" pitchFamily="34" charset="-120"/>
              </a:rPr>
              <a:t>Quasi tre recensioni neutre su quattro finiscono fra le positive.</a:t>
            </a:r>
            <a:endParaRPr lang="en-US" sz="1000" dirty="0"/>
          </a:p>
        </p:txBody>
      </p:sp>
      <p:sp>
        <p:nvSpPr>
          <p:cNvPr id="52" name="Shape 49"/>
          <p:cNvSpPr/>
          <p:nvPr/>
        </p:nvSpPr>
        <p:spPr>
          <a:xfrm>
            <a:off x="8778240" y="1920240"/>
            <a:ext cx="2770632" cy="4160520"/>
          </a:xfrm>
          <a:prstGeom prst="roundRect">
            <a:avLst>
              <a:gd name="adj" fmla="val 2310"/>
            </a:avLst>
          </a:prstGeom>
          <a:solidFill>
            <a:srgbClr val="16324F"/>
          </a:solidFill>
          <a:ln w="12700">
            <a:solidFill>
              <a:srgbClr val="16324F"/>
            </a:solidFill>
            <a:prstDash val="solid"/>
          </a:ln>
        </p:spPr>
      </p:sp>
      <p:sp>
        <p:nvSpPr>
          <p:cNvPr id="53" name="Text 50"/>
          <p:cNvSpPr txBox="1"/>
          <p:nvPr/>
        </p:nvSpPr>
        <p:spPr>
          <a:xfrm>
            <a:off x="9052560" y="2121408"/>
            <a:ext cx="2286000" cy="219456"/>
          </a:xfrm>
          <a:prstGeom prst="rect">
            <a:avLst/>
          </a:prstGeom>
          <a:noFill/>
          <a:ln/>
        </p:spPr>
        <p:txBody>
          <a:bodyPr wrap="square" lIns="0" tIns="0" rIns="0" bIns="0" rtlCol="0" anchor="ctr"/>
          <a:lstStyle/>
          <a:p>
            <a:pPr indent="0" marL="0">
              <a:buNone/>
            </a:pPr>
            <a:r>
              <a:rPr lang="en-US" sz="900" b="1" spc="140" kern="0" dirty="0">
                <a:solidFill>
                  <a:srgbClr val="6FC4B7"/>
                </a:solidFill>
                <a:latin typeface="Calibri" pitchFamily="34" charset="0"/>
                <a:ea typeface="Calibri" pitchFamily="34" charset="-122"/>
                <a:cs typeface="Calibri" pitchFamily="34" charset="-120"/>
              </a:rPr>
              <a:t>MIGLIORE DEL CORSO</a:t>
            </a:r>
            <a:endParaRPr lang="en-US" sz="900" dirty="0"/>
          </a:p>
        </p:txBody>
      </p:sp>
      <p:sp>
        <p:nvSpPr>
          <p:cNvPr id="54" name="Text 51"/>
          <p:cNvSpPr txBox="1"/>
          <p:nvPr/>
        </p:nvSpPr>
        <p:spPr>
          <a:xfrm>
            <a:off x="9052560" y="2359152"/>
            <a:ext cx="228600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Random Forest</a:t>
            </a:r>
            <a:endParaRPr lang="en-US" sz="1700" dirty="0"/>
          </a:p>
        </p:txBody>
      </p:sp>
      <p:sp>
        <p:nvSpPr>
          <p:cNvPr id="55" name="Text 52"/>
          <p:cNvSpPr txBox="1"/>
          <p:nvPr/>
        </p:nvSpPr>
        <p:spPr>
          <a:xfrm>
            <a:off x="9052560" y="2670048"/>
            <a:ext cx="2286000" cy="237744"/>
          </a:xfrm>
          <a:prstGeom prst="rect">
            <a:avLst/>
          </a:prstGeom>
          <a:noFill/>
          <a:ln/>
        </p:spPr>
        <p:txBody>
          <a:bodyPr wrap="square" lIns="0" tIns="0" rIns="0" bIns="0" rtlCol="0" anchor="ctr"/>
          <a:lstStyle/>
          <a:p>
            <a:pPr indent="0" marL="0">
              <a:buNone/>
            </a:pPr>
            <a:r>
              <a:rPr lang="en-US" sz="1100" i="1" dirty="0">
                <a:solidFill>
                  <a:srgbClr val="BBD0E6"/>
                </a:solidFill>
                <a:latin typeface="Calibri" pitchFamily="34" charset="0"/>
                <a:ea typeface="Calibri" pitchFamily="34" charset="-122"/>
                <a:cs typeface="Calibri" pitchFamily="34" charset="-120"/>
              </a:rPr>
              <a:t>su TF-IDF</a:t>
            </a:r>
            <a:endParaRPr lang="en-US" sz="1100" dirty="0"/>
          </a:p>
        </p:txBody>
      </p:sp>
      <p:sp>
        <p:nvSpPr>
          <p:cNvPr id="56" name="Text 53"/>
          <p:cNvSpPr txBox="1"/>
          <p:nvPr/>
        </p:nvSpPr>
        <p:spPr>
          <a:xfrm>
            <a:off x="9052560" y="3017520"/>
            <a:ext cx="2286000" cy="7772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0,621</a:t>
            </a:r>
            <a:endParaRPr lang="en-US" sz="4200" dirty="0"/>
          </a:p>
        </p:txBody>
      </p:sp>
      <p:sp>
        <p:nvSpPr>
          <p:cNvPr id="57" name="Text 54"/>
          <p:cNvSpPr txBox="1"/>
          <p:nvPr/>
        </p:nvSpPr>
        <p:spPr>
          <a:xfrm>
            <a:off x="9052560" y="3822192"/>
            <a:ext cx="2286000" cy="237744"/>
          </a:xfrm>
          <a:prstGeom prst="rect">
            <a:avLst/>
          </a:prstGeom>
          <a:noFill/>
          <a:ln/>
        </p:spPr>
        <p:txBody>
          <a:bodyPr wrap="square" lIns="0" tIns="0" rIns="0" bIns="0" rtlCol="0" anchor="ctr"/>
          <a:lstStyle/>
          <a:p>
            <a:pPr indent="0" marL="0">
              <a:buNone/>
            </a:pPr>
            <a:r>
              <a:rPr lang="en-US" sz="1050" dirty="0">
                <a:solidFill>
                  <a:srgbClr val="BBD0E6"/>
                </a:solidFill>
                <a:latin typeface="Calibri" pitchFamily="34" charset="0"/>
                <a:ea typeface="Calibri" pitchFamily="34" charset="-122"/>
                <a:cs typeface="Calibri" pitchFamily="34" charset="-120"/>
              </a:rPr>
              <a:t>F1 macro  ·  accuracy 0,861</a:t>
            </a:r>
            <a:endParaRPr lang="en-US" sz="1050" dirty="0"/>
          </a:p>
        </p:txBody>
      </p:sp>
      <p:sp>
        <p:nvSpPr>
          <p:cNvPr id="58" name="Shape 55"/>
          <p:cNvSpPr/>
          <p:nvPr/>
        </p:nvSpPr>
        <p:spPr>
          <a:xfrm>
            <a:off x="9052560" y="4206240"/>
            <a:ext cx="2194560" cy="0"/>
          </a:xfrm>
          <a:prstGeom prst="line">
            <a:avLst/>
          </a:prstGeom>
          <a:noFill/>
          <a:ln w="12700">
            <a:solidFill>
              <a:srgbClr val="3A5A7C"/>
            </a:solidFill>
            <a:prstDash val="solid"/>
          </a:ln>
        </p:spPr>
      </p:sp>
      <p:sp>
        <p:nvSpPr>
          <p:cNvPr id="59" name="Text 56"/>
          <p:cNvSpPr txBox="1"/>
          <p:nvPr/>
        </p:nvSpPr>
        <p:spPr>
          <a:xfrm>
            <a:off x="9052560" y="4315968"/>
            <a:ext cx="2286000" cy="219456"/>
          </a:xfrm>
          <a:prstGeom prst="rect">
            <a:avLst/>
          </a:prstGeom>
          <a:noFill/>
          <a:ln/>
        </p:spPr>
        <p:txBody>
          <a:bodyPr wrap="square" lIns="0" tIns="0" rIns="0" bIns="0" rtlCol="0" anchor="ctr"/>
          <a:lstStyle/>
          <a:p>
            <a:pPr indent="0" marL="0">
              <a:buNone/>
            </a:pPr>
            <a:r>
              <a:rPr lang="en-US" sz="900" b="1" spc="140" kern="0" dirty="0">
                <a:solidFill>
                  <a:srgbClr val="6FC4B7"/>
                </a:solidFill>
                <a:latin typeface="Calibri" pitchFamily="34" charset="0"/>
                <a:ea typeface="Calibri" pitchFamily="34" charset="-122"/>
                <a:cs typeface="Calibri" pitchFamily="34" charset="-120"/>
              </a:rPr>
              <a:t>F1 PER CLASSE</a:t>
            </a:r>
            <a:endParaRPr lang="en-US" sz="900" dirty="0"/>
          </a:p>
        </p:txBody>
      </p:sp>
      <p:sp>
        <p:nvSpPr>
          <p:cNvPr id="60" name="Text 57"/>
          <p:cNvSpPr txBox="1"/>
          <p:nvPr/>
        </p:nvSpPr>
        <p:spPr>
          <a:xfrm>
            <a:off x="9052560" y="4572000"/>
            <a:ext cx="1371600" cy="256032"/>
          </a:xfrm>
          <a:prstGeom prst="rect">
            <a:avLst/>
          </a:prstGeom>
          <a:noFill/>
          <a:ln/>
        </p:spPr>
        <p:txBody>
          <a:bodyPr wrap="square" lIns="0" tIns="0" rIns="0" bIns="0" rtlCol="0" anchor="ctr"/>
          <a:lstStyle/>
          <a:p>
            <a:pPr indent="0" marL="0">
              <a:buNone/>
            </a:pPr>
            <a:r>
              <a:rPr lang="en-US" sz="1100" dirty="0">
                <a:solidFill>
                  <a:srgbClr val="E3EDF6"/>
                </a:solidFill>
                <a:latin typeface="Calibri" pitchFamily="34" charset="0"/>
                <a:ea typeface="Calibri" pitchFamily="34" charset="-122"/>
                <a:cs typeface="Calibri" pitchFamily="34" charset="-120"/>
              </a:rPr>
              <a:t>positivo</a:t>
            </a:r>
            <a:endParaRPr lang="en-US" sz="1100" dirty="0"/>
          </a:p>
        </p:txBody>
      </p:sp>
      <p:sp>
        <p:nvSpPr>
          <p:cNvPr id="61" name="Text 58"/>
          <p:cNvSpPr txBox="1"/>
          <p:nvPr/>
        </p:nvSpPr>
        <p:spPr>
          <a:xfrm>
            <a:off x="10058400" y="4572000"/>
            <a:ext cx="1280160" cy="256032"/>
          </a:xfrm>
          <a:prstGeom prst="rect">
            <a:avLst/>
          </a:prstGeom>
          <a:noFill/>
          <a:ln/>
        </p:spPr>
        <p:txBody>
          <a:bodyPr wrap="square" lIns="0" tIns="0" rIns="0" bIns="0" rtlCol="0" anchor="ctr"/>
          <a:lstStyle/>
          <a:p>
            <a:pPr algn="r" indent="0" marL="0">
              <a:buNone/>
            </a:pPr>
            <a:r>
              <a:rPr lang="en-US" sz="1300" b="1" dirty="0">
                <a:solidFill>
                  <a:srgbClr val="FFFFFF"/>
                </a:solidFill>
                <a:latin typeface="Cambria" pitchFamily="34" charset="0"/>
                <a:ea typeface="Cambria" pitchFamily="34" charset="-122"/>
                <a:cs typeface="Cambria" pitchFamily="34" charset="-120"/>
              </a:rPr>
              <a:t>0,92</a:t>
            </a:r>
            <a:endParaRPr lang="en-US" sz="1300" dirty="0"/>
          </a:p>
        </p:txBody>
      </p:sp>
      <p:sp>
        <p:nvSpPr>
          <p:cNvPr id="62" name="Text 59"/>
          <p:cNvSpPr txBox="1"/>
          <p:nvPr/>
        </p:nvSpPr>
        <p:spPr>
          <a:xfrm>
            <a:off x="9052560" y="4901184"/>
            <a:ext cx="1371600" cy="256032"/>
          </a:xfrm>
          <a:prstGeom prst="rect">
            <a:avLst/>
          </a:prstGeom>
          <a:noFill/>
          <a:ln/>
        </p:spPr>
        <p:txBody>
          <a:bodyPr wrap="square" lIns="0" tIns="0" rIns="0" bIns="0" rtlCol="0" anchor="ctr"/>
          <a:lstStyle/>
          <a:p>
            <a:pPr indent="0" marL="0">
              <a:buNone/>
            </a:pPr>
            <a:r>
              <a:rPr lang="en-US" sz="1100" dirty="0">
                <a:solidFill>
                  <a:srgbClr val="E3EDF6"/>
                </a:solidFill>
                <a:latin typeface="Calibri" pitchFamily="34" charset="0"/>
                <a:ea typeface="Calibri" pitchFamily="34" charset="-122"/>
                <a:cs typeface="Calibri" pitchFamily="34" charset="-120"/>
              </a:rPr>
              <a:t>negativo</a:t>
            </a:r>
            <a:endParaRPr lang="en-US" sz="1100" dirty="0"/>
          </a:p>
        </p:txBody>
      </p:sp>
      <p:sp>
        <p:nvSpPr>
          <p:cNvPr id="63" name="Text 60"/>
          <p:cNvSpPr txBox="1"/>
          <p:nvPr/>
        </p:nvSpPr>
        <p:spPr>
          <a:xfrm>
            <a:off x="10058400" y="4901184"/>
            <a:ext cx="1280160" cy="256032"/>
          </a:xfrm>
          <a:prstGeom prst="rect">
            <a:avLst/>
          </a:prstGeom>
          <a:noFill/>
          <a:ln/>
        </p:spPr>
        <p:txBody>
          <a:bodyPr wrap="square" lIns="0" tIns="0" rIns="0" bIns="0" rtlCol="0" anchor="ctr"/>
          <a:lstStyle/>
          <a:p>
            <a:pPr algn="r" indent="0" marL="0">
              <a:buNone/>
            </a:pPr>
            <a:r>
              <a:rPr lang="en-US" sz="1300" b="1" dirty="0">
                <a:solidFill>
                  <a:srgbClr val="FFFFFF"/>
                </a:solidFill>
                <a:latin typeface="Cambria" pitchFamily="34" charset="0"/>
                <a:ea typeface="Cambria" pitchFamily="34" charset="-122"/>
                <a:cs typeface="Cambria" pitchFamily="34" charset="-120"/>
              </a:rPr>
              <a:t>0,58</a:t>
            </a:r>
            <a:endParaRPr lang="en-US" sz="1300" dirty="0"/>
          </a:p>
        </p:txBody>
      </p:sp>
      <p:sp>
        <p:nvSpPr>
          <p:cNvPr id="64" name="Text 61"/>
          <p:cNvSpPr txBox="1"/>
          <p:nvPr/>
        </p:nvSpPr>
        <p:spPr>
          <a:xfrm>
            <a:off x="9052560" y="5230368"/>
            <a:ext cx="1371600" cy="256032"/>
          </a:xfrm>
          <a:prstGeom prst="rect">
            <a:avLst/>
          </a:prstGeom>
          <a:noFill/>
          <a:ln/>
        </p:spPr>
        <p:txBody>
          <a:bodyPr wrap="square" lIns="0" tIns="0" rIns="0" bIns="0" rtlCol="0" anchor="ctr"/>
          <a:lstStyle/>
          <a:p>
            <a:pPr indent="0" marL="0">
              <a:buNone/>
            </a:pPr>
            <a:r>
              <a:rPr lang="en-US" sz="1100" dirty="0">
                <a:solidFill>
                  <a:srgbClr val="E3EDF6"/>
                </a:solidFill>
                <a:latin typeface="Calibri" pitchFamily="34" charset="0"/>
                <a:ea typeface="Calibri" pitchFamily="34" charset="-122"/>
                <a:cs typeface="Calibri" pitchFamily="34" charset="-120"/>
              </a:rPr>
              <a:t>neutro</a:t>
            </a:r>
            <a:endParaRPr lang="en-US" sz="1100" dirty="0"/>
          </a:p>
        </p:txBody>
      </p:sp>
      <p:sp>
        <p:nvSpPr>
          <p:cNvPr id="65" name="Text 62"/>
          <p:cNvSpPr txBox="1"/>
          <p:nvPr/>
        </p:nvSpPr>
        <p:spPr>
          <a:xfrm>
            <a:off x="10058400" y="5230368"/>
            <a:ext cx="1280160" cy="256032"/>
          </a:xfrm>
          <a:prstGeom prst="rect">
            <a:avLst/>
          </a:prstGeom>
          <a:noFill/>
          <a:ln/>
        </p:spPr>
        <p:txBody>
          <a:bodyPr wrap="square" lIns="0" tIns="0" rIns="0" bIns="0" rtlCol="0" anchor="ctr"/>
          <a:lstStyle/>
          <a:p>
            <a:pPr algn="r" indent="0" marL="0">
              <a:buNone/>
            </a:pPr>
            <a:r>
              <a:rPr lang="en-US" sz="1300" b="1" dirty="0">
                <a:solidFill>
                  <a:srgbClr val="FFFFFF"/>
                </a:solidFill>
                <a:latin typeface="Cambria" pitchFamily="34" charset="0"/>
                <a:ea typeface="Cambria" pitchFamily="34" charset="-122"/>
                <a:cs typeface="Cambria" pitchFamily="34" charset="-120"/>
              </a:rPr>
              <a:t>0,36</a:t>
            </a:r>
            <a:endParaRPr lang="en-US" sz="1300" dirty="0"/>
          </a:p>
        </p:txBody>
      </p:sp>
      <p:sp>
        <p:nvSpPr>
          <p:cNvPr id="66" name="Text 63"/>
          <p:cNvSpPr txBox="1"/>
          <p:nvPr/>
        </p:nvSpPr>
        <p:spPr>
          <a:xfrm>
            <a:off x="9052560" y="5596128"/>
            <a:ext cx="2286000" cy="237744"/>
          </a:xfrm>
          <a:prstGeom prst="rect">
            <a:avLst/>
          </a:prstGeom>
          <a:noFill/>
          <a:ln/>
        </p:spPr>
        <p:txBody>
          <a:bodyPr wrap="square" lIns="0" tIns="0" rIns="0" bIns="0" rtlCol="0" anchor="ctr"/>
          <a:lstStyle/>
          <a:p>
            <a:pPr indent="0" marL="0">
              <a:buNone/>
            </a:pPr>
            <a:r>
              <a:rPr lang="en-US" sz="1000" i="1" dirty="0">
                <a:solidFill>
                  <a:srgbClr val="93AFC9"/>
                </a:solidFill>
                <a:latin typeface="Calibri" pitchFamily="34" charset="0"/>
                <a:ea typeface="Calibri" pitchFamily="34" charset="-122"/>
                <a:cs typeface="Calibri" pitchFamily="34" charset="-120"/>
              </a:rPr>
              <a:t>il neutro è la classe difficile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pic>
        <p:nvPicPr>
          <p:cNvPr id="2" name="Image 0" descr="/home/claude/work/uicons/feedback.png">    </p:cNvPr>
          <p:cNvPicPr>
            <a:picLocks noChangeAspect="1"/>
          </p:cNvPicPr>
          <p:nvPr/>
        </p:nvPicPr>
        <p:blipFill>
          <a:blip r:embed="rId1"/>
          <a:stretch>
            <a:fillRect/>
          </a:stretch>
        </p:blipFill>
        <p:spPr>
          <a:xfrm>
            <a:off x="11076127" y="384048"/>
            <a:ext cx="475488" cy="475488"/>
          </a:xfrm>
          <a:prstGeom prst="rect">
            <a:avLst/>
          </a:prstGeom>
        </p:spPr>
      </p:pic>
      <p:sp>
        <p:nvSpPr>
          <p:cNvPr id="3" name="Text 0"/>
          <p:cNvSpPr txBox="1"/>
          <p:nvPr/>
        </p:nvSpPr>
        <p:spPr>
          <a:xfrm>
            <a:off x="640080" y="438912"/>
            <a:ext cx="10088575" cy="237744"/>
          </a:xfrm>
          <a:prstGeom prst="rect">
            <a:avLst/>
          </a:prstGeom>
          <a:noFill/>
          <a:ln/>
        </p:spPr>
        <p:txBody>
          <a:bodyPr wrap="square" lIns="0" tIns="0" rIns="0" bIns="0" rtlCol="0" anchor="ctr"/>
          <a:lstStyle/>
          <a:p>
            <a:pPr indent="0" marL="0">
              <a:buNone/>
            </a:pPr>
            <a:r>
              <a:rPr lang="en-US" sz="1050" b="1" spc="200" kern="0" dirty="0">
                <a:solidFill>
                  <a:srgbClr val="1B8476"/>
                </a:solidFill>
                <a:latin typeface="Calibri" pitchFamily="34" charset="0"/>
                <a:ea typeface="Calibri" pitchFamily="34" charset="-122"/>
                <a:cs typeface="Calibri" pitchFamily="34" charset="-120"/>
              </a:rPr>
              <a:t>PARTE 3 · BONUS</a:t>
            </a:r>
            <a:endParaRPr lang="en-US" sz="1050" dirty="0"/>
          </a:p>
        </p:txBody>
      </p:sp>
      <p:sp>
        <p:nvSpPr>
          <p:cNvPr id="4" name="Text 1"/>
          <p:cNvSpPr txBox="1"/>
          <p:nvPr/>
        </p:nvSpPr>
        <p:spPr>
          <a:xfrm>
            <a:off x="640080" y="731520"/>
            <a:ext cx="10088575" cy="566928"/>
          </a:xfrm>
          <a:prstGeom prst="rect">
            <a:avLst/>
          </a:prstGeom>
          <a:noFill/>
          <a:ln/>
        </p:spPr>
        <p:txBody>
          <a:bodyPr wrap="square" lIns="0" tIns="0" rIns="0" bIns="0" rtlCol="0" anchor="ctr"/>
          <a:lstStyle/>
          <a:p>
            <a:pPr indent="0" marL="0">
              <a:buNone/>
            </a:pPr>
            <a:r>
              <a:rPr lang="en-US" sz="2900" b="1" dirty="0">
                <a:solidFill>
                  <a:srgbClr val="16324F"/>
                </a:solidFill>
                <a:latin typeface="Cambria" pitchFamily="34" charset="0"/>
                <a:ea typeface="Cambria" pitchFamily="34" charset="-122"/>
                <a:cs typeface="Cambria" pitchFamily="34" charset="-120"/>
              </a:rPr>
              <a:t>Un LLM zero-shot batte il classificatore addestrato</a:t>
            </a:r>
            <a:endParaRPr lang="en-US" sz="2900" dirty="0"/>
          </a:p>
        </p:txBody>
      </p:sp>
      <p:sp>
        <p:nvSpPr>
          <p:cNvPr id="5" name="Text 2"/>
          <p:cNvSpPr txBox="1"/>
          <p:nvPr/>
        </p:nvSpPr>
        <p:spPr>
          <a:xfrm>
            <a:off x="640080" y="1371600"/>
            <a:ext cx="10088575" cy="274320"/>
          </a:xfrm>
          <a:prstGeom prst="rect">
            <a:avLst/>
          </a:prstGeom>
          <a:noFill/>
          <a:ln/>
        </p:spPr>
        <p:txBody>
          <a:bodyPr wrap="square" lIns="0" tIns="0" rIns="0" bIns="0" rtlCol="0" anchor="ctr"/>
          <a:lstStyle/>
          <a:p>
            <a:pPr indent="0" marL="0">
              <a:buNone/>
            </a:pPr>
            <a:r>
              <a:rPr lang="en-US" sz="1250" i="1" dirty="0">
                <a:solidFill>
                  <a:srgbClr val="6B7787"/>
                </a:solidFill>
                <a:latin typeface="Calibri" pitchFamily="34" charset="0"/>
                <a:ea typeface="Calibri" pitchFamily="34" charset="-122"/>
                <a:cs typeface="Calibri" pitchFamily="34" charset="-120"/>
              </a:rPr>
              <a:t>openai/gpt-oss-20b via Groq · nessun addestramento, solo un prompt · stesse 300 recensioni di test</a:t>
            </a:r>
            <a:endParaRPr lang="en-US" sz="1250" dirty="0"/>
          </a:p>
        </p:txBody>
      </p:sp>
      <p:sp>
        <p:nvSpPr>
          <p:cNvPr id="6" name="Text 3"/>
          <p:cNvSpPr txBox="1"/>
          <p:nvPr/>
        </p:nvSpPr>
        <p:spPr>
          <a:xfrm>
            <a:off x="640080" y="6473952"/>
            <a:ext cx="4572000" cy="237744"/>
          </a:xfrm>
          <a:prstGeom prst="rect">
            <a:avLst/>
          </a:prstGeom>
          <a:noFill/>
          <a:ln/>
        </p:spPr>
        <p:txBody>
          <a:bodyPr wrap="square" lIns="0" tIns="0" rIns="0" bIns="0" rtlCol="0" anchor="ctr"/>
          <a:lstStyle/>
          <a:p>
            <a:pPr indent="0" marL="0">
              <a:buNone/>
            </a:pPr>
            <a:r>
              <a:rPr lang="en-US" sz="900" dirty="0">
                <a:solidFill>
                  <a:srgbClr val="A7B3C1"/>
                </a:solidFill>
                <a:latin typeface="Calibri" pitchFamily="34" charset="0"/>
                <a:ea typeface="Calibri" pitchFamily="34" charset="-122"/>
                <a:cs typeface="Calibri" pitchFamily="34" charset="-120"/>
              </a:rPr>
              <a:t>Progetto MIGA  ·  A. Saverino</a:t>
            </a:r>
            <a:endParaRPr lang="en-US" sz="900" dirty="0"/>
          </a:p>
        </p:txBody>
      </p:sp>
      <p:sp>
        <p:nvSpPr>
          <p:cNvPr id="7" name="Text 4"/>
          <p:cNvSpPr txBox="1"/>
          <p:nvPr/>
        </p:nvSpPr>
        <p:spPr>
          <a:xfrm>
            <a:off x="8808415" y="6473952"/>
            <a:ext cx="2743200" cy="237744"/>
          </a:xfrm>
          <a:prstGeom prst="rect">
            <a:avLst/>
          </a:prstGeom>
          <a:noFill/>
          <a:ln/>
        </p:spPr>
        <p:txBody>
          <a:bodyPr wrap="square" lIns="0" tIns="0" rIns="0" bIns="0" rtlCol="0" anchor="ctr"/>
          <a:lstStyle/>
          <a:p>
            <a:pPr algn="r" indent="0" marL="0">
              <a:buNone/>
            </a:pPr>
            <a:r>
              <a:rPr lang="en-US" sz="900" dirty="0">
                <a:solidFill>
                  <a:srgbClr val="A7B3C1"/>
                </a:solidFill>
                <a:latin typeface="Calibri" pitchFamily="34" charset="0"/>
                <a:ea typeface="Calibri" pitchFamily="34" charset="-122"/>
                <a:cs typeface="Calibri" pitchFamily="34" charset="-120"/>
              </a:rPr>
              <a:t>8 / 10</a:t>
            </a:r>
            <a:endParaRPr lang="en-US" sz="900" dirty="0"/>
          </a:p>
        </p:txBody>
      </p:sp>
      <p:sp>
        <p:nvSpPr>
          <p:cNvPr id="8" name="Shape 5"/>
          <p:cNvSpPr/>
          <p:nvPr/>
        </p:nvSpPr>
        <p:spPr>
          <a:xfrm>
            <a:off x="640080" y="1920240"/>
            <a:ext cx="3200400" cy="4160520"/>
          </a:xfrm>
          <a:prstGeom prst="roundRect">
            <a:avLst>
              <a:gd name="adj" fmla="val 2000"/>
            </a:avLst>
          </a:prstGeom>
          <a:solidFill>
            <a:srgbClr val="EDF2F8"/>
          </a:solidFill>
          <a:ln w="12700">
            <a:solidFill>
              <a:srgbClr val="D5DFEA"/>
            </a:solidFill>
            <a:prstDash val="solid"/>
          </a:ln>
        </p:spPr>
      </p:sp>
      <p:sp>
        <p:nvSpPr>
          <p:cNvPr id="9" name="Shape 6"/>
          <p:cNvSpPr/>
          <p:nvPr/>
        </p:nvSpPr>
        <p:spPr>
          <a:xfrm>
            <a:off x="914400" y="2212848"/>
            <a:ext cx="475488" cy="475488"/>
          </a:xfrm>
          <a:prstGeom prst="ellipse">
            <a:avLst/>
          </a:prstGeom>
          <a:solidFill>
            <a:srgbClr val="1B8476"/>
          </a:solidFill>
          <a:ln w="12700">
            <a:solidFill>
              <a:srgbClr val="1B8476"/>
            </a:solidFill>
            <a:prstDash val="solid"/>
          </a:ln>
        </p:spPr>
      </p:sp>
      <p:sp>
        <p:nvSpPr>
          <p:cNvPr id="10" name="Text 7"/>
          <p:cNvSpPr txBox="1"/>
          <p:nvPr/>
        </p:nvSpPr>
        <p:spPr>
          <a:xfrm>
            <a:off x="914400" y="221284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8"/>
          <p:cNvSpPr txBox="1"/>
          <p:nvPr/>
        </p:nvSpPr>
        <p:spPr>
          <a:xfrm>
            <a:off x="1536192" y="2231136"/>
            <a:ext cx="2103120" cy="2743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Prompt zero-shot</a:t>
            </a:r>
            <a:endParaRPr lang="en-US" sz="1200" dirty="0"/>
          </a:p>
        </p:txBody>
      </p:sp>
      <p:sp>
        <p:nvSpPr>
          <p:cNvPr id="12" name="Text 9"/>
          <p:cNvSpPr txBox="1"/>
          <p:nvPr/>
        </p:nvSpPr>
        <p:spPr>
          <a:xfrm>
            <a:off x="1536192" y="2523744"/>
            <a:ext cx="2103120" cy="566928"/>
          </a:xfrm>
          <a:prstGeom prst="rect">
            <a:avLst/>
          </a:prstGeom>
          <a:noFill/>
          <a:ln/>
        </p:spPr>
        <p:txBody>
          <a:bodyPr wrap="square" lIns="0" tIns="0" rIns="0" bIns="0" rtlCol="0" anchor="ctr"/>
          <a:lstStyle/>
          <a:p>
            <a:pPr indent="0" marL="0">
              <a:lnSpc>
                <a:spcPct val="120000"/>
              </a:lnSpc>
              <a:buNone/>
            </a:pPr>
            <a:r>
              <a:rPr lang="en-US" sz="1050" dirty="0">
                <a:solidFill>
                  <a:srgbClr val="6B7787"/>
                </a:solidFill>
                <a:latin typeface="Calibri" pitchFamily="34" charset="0"/>
                <a:ea typeface="Calibri" pitchFamily="34" charset="-122"/>
                <a:cs typeface="Calibri" pitchFamily="34" charset="-120"/>
              </a:rPr>
              <a:t>Istruzione e formato di risposta, nessun esempio risolto</a:t>
            </a:r>
            <a:endParaRPr lang="en-US" sz="1050" dirty="0"/>
          </a:p>
        </p:txBody>
      </p:sp>
      <p:sp>
        <p:nvSpPr>
          <p:cNvPr id="13" name="Shape 10"/>
          <p:cNvSpPr/>
          <p:nvPr/>
        </p:nvSpPr>
        <p:spPr>
          <a:xfrm>
            <a:off x="914400" y="3493008"/>
            <a:ext cx="475488" cy="475488"/>
          </a:xfrm>
          <a:prstGeom prst="ellipse">
            <a:avLst/>
          </a:prstGeom>
          <a:solidFill>
            <a:srgbClr val="1B8476"/>
          </a:solidFill>
          <a:ln w="12700">
            <a:solidFill>
              <a:srgbClr val="1B8476"/>
            </a:solidFill>
            <a:prstDash val="solid"/>
          </a:ln>
        </p:spPr>
      </p:sp>
      <p:sp>
        <p:nvSpPr>
          <p:cNvPr id="14" name="Text 11"/>
          <p:cNvSpPr txBox="1"/>
          <p:nvPr/>
        </p:nvSpPr>
        <p:spPr>
          <a:xfrm>
            <a:off x="914400" y="34930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2"/>
          <p:cNvSpPr txBox="1"/>
          <p:nvPr/>
        </p:nvSpPr>
        <p:spPr>
          <a:xfrm>
            <a:off x="1536192" y="3511296"/>
            <a:ext cx="2103120" cy="2743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Modello via Groq</a:t>
            </a:r>
            <a:endParaRPr lang="en-US" sz="1200" dirty="0"/>
          </a:p>
        </p:txBody>
      </p:sp>
      <p:sp>
        <p:nvSpPr>
          <p:cNvPr id="16" name="Text 13"/>
          <p:cNvSpPr txBox="1"/>
          <p:nvPr/>
        </p:nvSpPr>
        <p:spPr>
          <a:xfrm>
            <a:off x="1536192" y="3803904"/>
            <a:ext cx="2103120" cy="566928"/>
          </a:xfrm>
          <a:prstGeom prst="rect">
            <a:avLst/>
          </a:prstGeom>
          <a:noFill/>
          <a:ln/>
        </p:spPr>
        <p:txBody>
          <a:bodyPr wrap="square" lIns="0" tIns="0" rIns="0" bIns="0" rtlCol="0" anchor="ctr"/>
          <a:lstStyle/>
          <a:p>
            <a:pPr indent="0" marL="0">
              <a:lnSpc>
                <a:spcPct val="120000"/>
              </a:lnSpc>
              <a:buNone/>
            </a:pPr>
            <a:r>
              <a:rPr lang="en-US" sz="1050" dirty="0">
                <a:solidFill>
                  <a:srgbClr val="6B7787"/>
                </a:solidFill>
                <a:latin typeface="Calibri" pitchFamily="34" charset="0"/>
                <a:ea typeface="Calibri" pitchFamily="34" charset="-122"/>
                <a:cs typeface="Calibri" pitchFamily="34" charset="-120"/>
              </a:rPr>
              <a:t>openai/gpt-oss-20b · temperature 0 per risposte deterministiche</a:t>
            </a:r>
            <a:endParaRPr lang="en-US" sz="1050" dirty="0"/>
          </a:p>
        </p:txBody>
      </p:sp>
      <p:sp>
        <p:nvSpPr>
          <p:cNvPr id="17" name="Shape 14"/>
          <p:cNvSpPr/>
          <p:nvPr/>
        </p:nvSpPr>
        <p:spPr>
          <a:xfrm>
            <a:off x="914400" y="4773168"/>
            <a:ext cx="475488" cy="475488"/>
          </a:xfrm>
          <a:prstGeom prst="ellipse">
            <a:avLst/>
          </a:prstGeom>
          <a:solidFill>
            <a:srgbClr val="1B8476"/>
          </a:solidFill>
          <a:ln w="12700">
            <a:solidFill>
              <a:srgbClr val="1B8476"/>
            </a:solidFill>
            <a:prstDash val="solid"/>
          </a:ln>
        </p:spPr>
      </p:sp>
      <p:sp>
        <p:nvSpPr>
          <p:cNvPr id="18" name="Text 15"/>
          <p:cNvSpPr txBox="1"/>
          <p:nvPr/>
        </p:nvSpPr>
        <p:spPr>
          <a:xfrm>
            <a:off x="914400" y="47731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6"/>
          <p:cNvSpPr txBox="1"/>
          <p:nvPr/>
        </p:nvSpPr>
        <p:spPr>
          <a:xfrm>
            <a:off x="1536192" y="4791456"/>
            <a:ext cx="2103120" cy="2743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Stesso sottoinsieme</a:t>
            </a:r>
            <a:endParaRPr lang="en-US" sz="1200" dirty="0"/>
          </a:p>
        </p:txBody>
      </p:sp>
      <p:sp>
        <p:nvSpPr>
          <p:cNvPr id="20" name="Text 17"/>
          <p:cNvSpPr txBox="1"/>
          <p:nvPr/>
        </p:nvSpPr>
        <p:spPr>
          <a:xfrm>
            <a:off x="1536192" y="5084064"/>
            <a:ext cx="2103120" cy="566928"/>
          </a:xfrm>
          <a:prstGeom prst="rect">
            <a:avLst/>
          </a:prstGeom>
          <a:noFill/>
          <a:ln/>
        </p:spPr>
        <p:txBody>
          <a:bodyPr wrap="square" lIns="0" tIns="0" rIns="0" bIns="0" rtlCol="0" anchor="ctr"/>
          <a:lstStyle/>
          <a:p>
            <a:pPr indent="0" marL="0">
              <a:lnSpc>
                <a:spcPct val="120000"/>
              </a:lnSpc>
              <a:buNone/>
            </a:pPr>
            <a:r>
              <a:rPr lang="en-US" sz="1050" dirty="0">
                <a:solidFill>
                  <a:srgbClr val="6B7787"/>
                </a:solidFill>
                <a:latin typeface="Calibri" pitchFamily="34" charset="0"/>
                <a:ea typeface="Calibri" pitchFamily="34" charset="-122"/>
                <a:cs typeface="Calibri" pitchFamily="34" charset="-120"/>
              </a:rPr>
              <a:t>300 recensioni estratte dal test set con seme fisso</a:t>
            </a:r>
            <a:endParaRPr lang="en-US" sz="1050" dirty="0"/>
          </a:p>
        </p:txBody>
      </p:sp>
      <p:graphicFrame>
        <p:nvGraphicFramePr>
          <p:cNvPr id="21" name="Chart 0" descr=""/>
          <p:cNvGraphicFramePr/>
          <p:nvPr/>
        </p:nvGraphicFramePr>
        <p:xfrm>
          <a:off x="4069080" y="1920240"/>
          <a:ext cx="4526280" cy="3566160"/>
        </p:xfrm>
        <a:graphic xmlns:a="http://schemas.openxmlformats.org/drawingml/2006/main">
          <a:graphicData uri="http://schemas.openxmlformats.org/drawingml/2006/chart">
            <c:chart xmlns:c="http://schemas.openxmlformats.org/drawingml/2006/chart" r:id="rId2"/>
          </a:graphicData>
        </a:graphic>
      </p:graphicFrame>
      <p:sp>
        <p:nvSpPr>
          <p:cNvPr id="22" name="Text 18"/>
          <p:cNvSpPr txBox="1"/>
          <p:nvPr/>
        </p:nvSpPr>
        <p:spPr>
          <a:xfrm>
            <a:off x="4160520" y="5541264"/>
            <a:ext cx="4389120" cy="384048"/>
          </a:xfrm>
          <a:prstGeom prst="rect">
            <a:avLst/>
          </a:prstGeom>
          <a:noFill/>
          <a:ln/>
        </p:spPr>
        <p:txBody>
          <a:bodyPr wrap="square" lIns="0" tIns="0" rIns="0" bIns="0" rtlCol="0" anchor="ctr"/>
          <a:lstStyle/>
          <a:p>
            <a:pPr algn="ctr" indent="0" marL="0">
              <a:lnSpc>
                <a:spcPct val="115000"/>
              </a:lnSpc>
              <a:buNone/>
            </a:pPr>
            <a:r>
              <a:rPr lang="en-US" sz="1000" i="1" dirty="0">
                <a:solidFill>
                  <a:srgbClr val="6B7787"/>
                </a:solidFill>
                <a:latin typeface="Calibri" pitchFamily="34" charset="0"/>
                <a:ea typeface="Calibri" pitchFamily="34" charset="-122"/>
                <a:cs typeface="Calibri" pitchFamily="34" charset="-120"/>
              </a:rPr>
              <a:t>F1 per classe sulle stesse 300 recensioni — il vantaggio dell'LLM nasce tutto dalle classi rare</a:t>
            </a:r>
            <a:endParaRPr lang="en-US" sz="1000" dirty="0"/>
          </a:p>
        </p:txBody>
      </p:sp>
      <p:sp>
        <p:nvSpPr>
          <p:cNvPr id="23" name="Shape 19"/>
          <p:cNvSpPr/>
          <p:nvPr/>
        </p:nvSpPr>
        <p:spPr>
          <a:xfrm>
            <a:off x="8778240" y="1920240"/>
            <a:ext cx="2770632" cy="4160520"/>
          </a:xfrm>
          <a:prstGeom prst="roundRect">
            <a:avLst>
              <a:gd name="adj" fmla="val 2310"/>
            </a:avLst>
          </a:prstGeom>
          <a:solidFill>
            <a:srgbClr val="16324F"/>
          </a:solidFill>
          <a:ln w="12700">
            <a:solidFill>
              <a:srgbClr val="16324F"/>
            </a:solidFill>
            <a:prstDash val="solid"/>
          </a:ln>
        </p:spPr>
      </p:sp>
      <p:sp>
        <p:nvSpPr>
          <p:cNvPr id="24" name="Text 20"/>
          <p:cNvSpPr txBox="1"/>
          <p:nvPr/>
        </p:nvSpPr>
        <p:spPr>
          <a:xfrm>
            <a:off x="9052560" y="2121408"/>
            <a:ext cx="2286000" cy="219456"/>
          </a:xfrm>
          <a:prstGeom prst="rect">
            <a:avLst/>
          </a:prstGeom>
          <a:noFill/>
          <a:ln/>
        </p:spPr>
        <p:txBody>
          <a:bodyPr wrap="square" lIns="0" tIns="0" rIns="0" bIns="0" rtlCol="0" anchor="ctr"/>
          <a:lstStyle/>
          <a:p>
            <a:pPr indent="0" marL="0">
              <a:buNone/>
            </a:pPr>
            <a:r>
              <a:rPr lang="en-US" sz="900" b="1" spc="140" kern="0" dirty="0">
                <a:solidFill>
                  <a:srgbClr val="6FC4B7"/>
                </a:solidFill>
                <a:latin typeface="Calibri" pitchFamily="34" charset="0"/>
                <a:ea typeface="Calibri" pitchFamily="34" charset="-122"/>
                <a:cs typeface="Calibri" pitchFamily="34" charset="-120"/>
              </a:rPr>
              <a:t>VINCE L'LLM</a:t>
            </a:r>
            <a:endParaRPr lang="en-US" sz="900" dirty="0"/>
          </a:p>
        </p:txBody>
      </p:sp>
      <p:sp>
        <p:nvSpPr>
          <p:cNvPr id="25" name="Text 21"/>
          <p:cNvSpPr txBox="1"/>
          <p:nvPr/>
        </p:nvSpPr>
        <p:spPr>
          <a:xfrm>
            <a:off x="9052560" y="2359152"/>
            <a:ext cx="228600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gpt-oss-20b</a:t>
            </a:r>
            <a:endParaRPr lang="en-US" sz="1700" dirty="0"/>
          </a:p>
        </p:txBody>
      </p:sp>
      <p:sp>
        <p:nvSpPr>
          <p:cNvPr id="26" name="Text 22"/>
          <p:cNvSpPr txBox="1"/>
          <p:nvPr/>
        </p:nvSpPr>
        <p:spPr>
          <a:xfrm>
            <a:off x="9052560" y="2670048"/>
            <a:ext cx="2286000" cy="237744"/>
          </a:xfrm>
          <a:prstGeom prst="rect">
            <a:avLst/>
          </a:prstGeom>
          <a:noFill/>
          <a:ln/>
        </p:spPr>
        <p:txBody>
          <a:bodyPr wrap="square" lIns="0" tIns="0" rIns="0" bIns="0" rtlCol="0" anchor="ctr"/>
          <a:lstStyle/>
          <a:p>
            <a:pPr indent="0" marL="0">
              <a:buNone/>
            </a:pPr>
            <a:r>
              <a:rPr lang="en-US" sz="1100" i="1" dirty="0">
                <a:solidFill>
                  <a:srgbClr val="BBD0E6"/>
                </a:solidFill>
                <a:latin typeface="Calibri" pitchFamily="34" charset="0"/>
                <a:ea typeface="Calibri" pitchFamily="34" charset="-122"/>
                <a:cs typeface="Calibri" pitchFamily="34" charset="-120"/>
              </a:rPr>
              <a:t>zero-shot, mai addestrato</a:t>
            </a:r>
            <a:endParaRPr lang="en-US" sz="1100" dirty="0"/>
          </a:p>
        </p:txBody>
      </p:sp>
      <p:sp>
        <p:nvSpPr>
          <p:cNvPr id="27" name="Text 23"/>
          <p:cNvSpPr txBox="1"/>
          <p:nvPr/>
        </p:nvSpPr>
        <p:spPr>
          <a:xfrm>
            <a:off x="9052560" y="3017520"/>
            <a:ext cx="2286000" cy="7772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0,754</a:t>
            </a:r>
            <a:endParaRPr lang="en-US" sz="4200" dirty="0"/>
          </a:p>
        </p:txBody>
      </p:sp>
      <p:sp>
        <p:nvSpPr>
          <p:cNvPr id="28" name="Text 24"/>
          <p:cNvSpPr txBox="1"/>
          <p:nvPr/>
        </p:nvSpPr>
        <p:spPr>
          <a:xfrm>
            <a:off x="9052560" y="3803904"/>
            <a:ext cx="2286000" cy="237744"/>
          </a:xfrm>
          <a:prstGeom prst="rect">
            <a:avLst/>
          </a:prstGeom>
          <a:noFill/>
          <a:ln/>
        </p:spPr>
        <p:txBody>
          <a:bodyPr wrap="square" lIns="0" tIns="0" rIns="0" bIns="0" rtlCol="0" anchor="ctr"/>
          <a:lstStyle/>
          <a:p>
            <a:pPr indent="0" marL="0">
              <a:buNone/>
            </a:pPr>
            <a:r>
              <a:rPr lang="en-US" sz="1000" dirty="0">
                <a:solidFill>
                  <a:srgbClr val="BBD0E6"/>
                </a:solidFill>
                <a:latin typeface="Calibri" pitchFamily="34" charset="0"/>
                <a:ea typeface="Calibri" pitchFamily="34" charset="-122"/>
                <a:cs typeface="Calibri" pitchFamily="34" charset="-120"/>
              </a:rPr>
              <a:t>F1 macro  ·  +0,182 sul Random Forest,</a:t>
            </a:r>
            <a:endParaRPr lang="en-US" sz="1000" dirty="0"/>
          </a:p>
        </p:txBody>
      </p:sp>
      <p:sp>
        <p:nvSpPr>
          <p:cNvPr id="29" name="Text 25"/>
          <p:cNvSpPr txBox="1"/>
          <p:nvPr/>
        </p:nvSpPr>
        <p:spPr>
          <a:xfrm>
            <a:off x="9052560" y="4005072"/>
            <a:ext cx="2286000" cy="237744"/>
          </a:xfrm>
          <a:prstGeom prst="rect">
            <a:avLst/>
          </a:prstGeom>
          <a:noFill/>
          <a:ln/>
        </p:spPr>
        <p:txBody>
          <a:bodyPr wrap="square" lIns="0" tIns="0" rIns="0" bIns="0" rtlCol="0" anchor="ctr"/>
          <a:lstStyle/>
          <a:p>
            <a:pPr indent="0" marL="0">
              <a:buNone/>
            </a:pPr>
            <a:r>
              <a:rPr lang="en-US" sz="1000" dirty="0">
                <a:solidFill>
                  <a:srgbClr val="BBD0E6"/>
                </a:solidFill>
                <a:latin typeface="Calibri" pitchFamily="34" charset="0"/>
                <a:ea typeface="Calibri" pitchFamily="34" charset="-122"/>
                <a:cs typeface="Calibri" pitchFamily="34" charset="-120"/>
              </a:rPr>
              <a:t>che sulle stesse 300 fa 0,572</a:t>
            </a:r>
            <a:endParaRPr lang="en-US" sz="1000" dirty="0"/>
          </a:p>
        </p:txBody>
      </p:sp>
      <p:sp>
        <p:nvSpPr>
          <p:cNvPr id="30" name="Shape 26"/>
          <p:cNvSpPr/>
          <p:nvPr/>
        </p:nvSpPr>
        <p:spPr>
          <a:xfrm>
            <a:off x="9052560" y="4334256"/>
            <a:ext cx="2194560" cy="0"/>
          </a:xfrm>
          <a:prstGeom prst="line">
            <a:avLst/>
          </a:prstGeom>
          <a:noFill/>
          <a:ln w="12700">
            <a:solidFill>
              <a:srgbClr val="3A5A7C"/>
            </a:solidFill>
            <a:prstDash val="solid"/>
          </a:ln>
        </p:spPr>
      </p:sp>
      <p:sp>
        <p:nvSpPr>
          <p:cNvPr id="31" name="Text 27"/>
          <p:cNvSpPr txBox="1"/>
          <p:nvPr/>
        </p:nvSpPr>
        <p:spPr>
          <a:xfrm>
            <a:off x="9052560" y="4443984"/>
            <a:ext cx="2286000" cy="219456"/>
          </a:xfrm>
          <a:prstGeom prst="rect">
            <a:avLst/>
          </a:prstGeom>
          <a:noFill/>
          <a:ln/>
        </p:spPr>
        <p:txBody>
          <a:bodyPr wrap="square" lIns="0" tIns="0" rIns="0" bIns="0" rtlCol="0" anchor="ctr"/>
          <a:lstStyle/>
          <a:p>
            <a:pPr indent="0" marL="0">
              <a:buNone/>
            </a:pPr>
            <a:r>
              <a:rPr lang="en-US" sz="900" b="1" spc="140" kern="0" dirty="0">
                <a:solidFill>
                  <a:srgbClr val="6FC4B7"/>
                </a:solidFill>
                <a:latin typeface="Calibri" pitchFamily="34" charset="0"/>
                <a:ea typeface="Calibri" pitchFamily="34" charset="-122"/>
                <a:cs typeface="Calibri" pitchFamily="34" charset="-120"/>
              </a:rPr>
              <a:t>DOVE GUADAGNA</a:t>
            </a:r>
            <a:endParaRPr lang="en-US" sz="900" dirty="0"/>
          </a:p>
        </p:txBody>
      </p:sp>
      <p:sp>
        <p:nvSpPr>
          <p:cNvPr id="32" name="Text 28"/>
          <p:cNvSpPr txBox="1"/>
          <p:nvPr/>
        </p:nvSpPr>
        <p:spPr>
          <a:xfrm>
            <a:off x="9052560" y="4700016"/>
            <a:ext cx="1097280" cy="256032"/>
          </a:xfrm>
          <a:prstGeom prst="rect">
            <a:avLst/>
          </a:prstGeom>
          <a:noFill/>
          <a:ln/>
        </p:spPr>
        <p:txBody>
          <a:bodyPr wrap="square" lIns="0" tIns="0" rIns="0" bIns="0" rtlCol="0" anchor="ctr"/>
          <a:lstStyle/>
          <a:p>
            <a:pPr indent="0" marL="0">
              <a:buNone/>
            </a:pPr>
            <a:r>
              <a:rPr lang="en-US" sz="1100" dirty="0">
                <a:solidFill>
                  <a:srgbClr val="E3EDF6"/>
                </a:solidFill>
                <a:latin typeface="Calibri" pitchFamily="34" charset="0"/>
                <a:ea typeface="Calibri" pitchFamily="34" charset="-122"/>
                <a:cs typeface="Calibri" pitchFamily="34" charset="-120"/>
              </a:rPr>
              <a:t>neutro</a:t>
            </a:r>
            <a:endParaRPr lang="en-US" sz="1100" dirty="0"/>
          </a:p>
        </p:txBody>
      </p:sp>
      <p:sp>
        <p:nvSpPr>
          <p:cNvPr id="33" name="Text 29"/>
          <p:cNvSpPr txBox="1"/>
          <p:nvPr/>
        </p:nvSpPr>
        <p:spPr>
          <a:xfrm>
            <a:off x="9966960" y="4700016"/>
            <a:ext cx="1371600" cy="256032"/>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0,34 → 0,55</a:t>
            </a:r>
            <a:endParaRPr lang="en-US" sz="1150" dirty="0"/>
          </a:p>
        </p:txBody>
      </p:sp>
      <p:sp>
        <p:nvSpPr>
          <p:cNvPr id="34" name="Text 30"/>
          <p:cNvSpPr txBox="1"/>
          <p:nvPr/>
        </p:nvSpPr>
        <p:spPr>
          <a:xfrm>
            <a:off x="9052560" y="5029200"/>
            <a:ext cx="1097280" cy="256032"/>
          </a:xfrm>
          <a:prstGeom prst="rect">
            <a:avLst/>
          </a:prstGeom>
          <a:noFill/>
          <a:ln/>
        </p:spPr>
        <p:txBody>
          <a:bodyPr wrap="square" lIns="0" tIns="0" rIns="0" bIns="0" rtlCol="0" anchor="ctr"/>
          <a:lstStyle/>
          <a:p>
            <a:pPr indent="0" marL="0">
              <a:buNone/>
            </a:pPr>
            <a:r>
              <a:rPr lang="en-US" sz="1100" dirty="0">
                <a:solidFill>
                  <a:srgbClr val="E3EDF6"/>
                </a:solidFill>
                <a:latin typeface="Calibri" pitchFamily="34" charset="0"/>
                <a:ea typeface="Calibri" pitchFamily="34" charset="-122"/>
                <a:cs typeface="Calibri" pitchFamily="34" charset="-120"/>
              </a:rPr>
              <a:t>negativo</a:t>
            </a:r>
            <a:endParaRPr lang="en-US" sz="1100" dirty="0"/>
          </a:p>
        </p:txBody>
      </p:sp>
      <p:sp>
        <p:nvSpPr>
          <p:cNvPr id="35" name="Text 31"/>
          <p:cNvSpPr txBox="1"/>
          <p:nvPr/>
        </p:nvSpPr>
        <p:spPr>
          <a:xfrm>
            <a:off x="9966960" y="5029200"/>
            <a:ext cx="1371600" cy="256032"/>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0,47 → 0,76</a:t>
            </a:r>
            <a:endParaRPr lang="en-US" sz="1150" dirty="0"/>
          </a:p>
        </p:txBody>
      </p:sp>
      <p:sp>
        <p:nvSpPr>
          <p:cNvPr id="36" name="Text 32"/>
          <p:cNvSpPr txBox="1"/>
          <p:nvPr/>
        </p:nvSpPr>
        <p:spPr>
          <a:xfrm>
            <a:off x="9052560" y="5394960"/>
            <a:ext cx="2286000" cy="594360"/>
          </a:xfrm>
          <a:prstGeom prst="rect">
            <a:avLst/>
          </a:prstGeom>
          <a:noFill/>
          <a:ln/>
        </p:spPr>
        <p:txBody>
          <a:bodyPr wrap="square" lIns="0" tIns="0" rIns="0" bIns="0" rtlCol="0" anchor="ctr"/>
          <a:lstStyle/>
          <a:p>
            <a:pPr indent="0" marL="0">
              <a:lnSpc>
                <a:spcPct val="120000"/>
              </a:lnSpc>
              <a:buNone/>
            </a:pPr>
            <a:r>
              <a:rPr lang="en-US" sz="950" i="1" dirty="0">
                <a:solidFill>
                  <a:srgbClr val="93AFC9"/>
                </a:solidFill>
                <a:latin typeface="Calibri" pitchFamily="34" charset="0"/>
                <a:ea typeface="Calibri" pitchFamily="34" charset="-122"/>
                <a:cs typeface="Calibri" pitchFamily="34" charset="-120"/>
              </a:rPr>
              <a:t>ma servono circa 13 minuti per 300 recensioni, contro i 94 secondi di addestramento del Random Forest.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pic>
        <p:nvPicPr>
          <p:cNvPr id="2" name="Image 0" descr="/home/claude/work/uicons/data-presentation.png">    </p:cNvPr>
          <p:cNvPicPr>
            <a:picLocks noChangeAspect="1"/>
          </p:cNvPicPr>
          <p:nvPr/>
        </p:nvPicPr>
        <p:blipFill>
          <a:blip r:embed="rId1"/>
          <a:stretch>
            <a:fillRect/>
          </a:stretch>
        </p:blipFill>
        <p:spPr>
          <a:xfrm>
            <a:off x="11076127" y="384048"/>
            <a:ext cx="475488" cy="475488"/>
          </a:xfrm>
          <a:prstGeom prst="rect">
            <a:avLst/>
          </a:prstGeom>
        </p:spPr>
      </p:pic>
      <p:sp>
        <p:nvSpPr>
          <p:cNvPr id="3" name="Text 0"/>
          <p:cNvSpPr txBox="1"/>
          <p:nvPr/>
        </p:nvSpPr>
        <p:spPr>
          <a:xfrm>
            <a:off x="640080" y="438912"/>
            <a:ext cx="10088575" cy="237744"/>
          </a:xfrm>
          <a:prstGeom prst="rect">
            <a:avLst/>
          </a:prstGeom>
          <a:noFill/>
          <a:ln/>
        </p:spPr>
        <p:txBody>
          <a:bodyPr wrap="square" lIns="0" tIns="0" rIns="0" bIns="0" rtlCol="0" anchor="ctr"/>
          <a:lstStyle/>
          <a:p>
            <a:pPr indent="0" marL="0">
              <a:buNone/>
            </a:pPr>
            <a:r>
              <a:rPr lang="en-US" sz="1050" b="1" spc="200" kern="0" dirty="0">
                <a:solidFill>
                  <a:srgbClr val="16324F"/>
                </a:solidFill>
                <a:latin typeface="Calibri" pitchFamily="34" charset="0"/>
                <a:ea typeface="Calibri" pitchFamily="34" charset="-122"/>
                <a:cs typeface="Calibri" pitchFamily="34" charset="-120"/>
              </a:rPr>
              <a:t>ANALISI AGGIUNTIVE · OLTRE IL PROGRAMMA</a:t>
            </a:r>
            <a:endParaRPr lang="en-US" sz="1050" dirty="0"/>
          </a:p>
        </p:txBody>
      </p:sp>
      <p:sp>
        <p:nvSpPr>
          <p:cNvPr id="4" name="Text 1"/>
          <p:cNvSpPr txBox="1"/>
          <p:nvPr/>
        </p:nvSpPr>
        <p:spPr>
          <a:xfrm>
            <a:off x="640080" y="731520"/>
            <a:ext cx="10088575" cy="566928"/>
          </a:xfrm>
          <a:prstGeom prst="rect">
            <a:avLst/>
          </a:prstGeom>
          <a:noFill/>
          <a:ln/>
        </p:spPr>
        <p:txBody>
          <a:bodyPr wrap="square" lIns="0" tIns="0" rIns="0" bIns="0" rtlCol="0" anchor="ctr"/>
          <a:lstStyle/>
          <a:p>
            <a:pPr indent="0" marL="0">
              <a:buNone/>
            </a:pPr>
            <a:r>
              <a:rPr lang="en-US" sz="2900" b="1" dirty="0">
                <a:solidFill>
                  <a:srgbClr val="16324F"/>
                </a:solidFill>
                <a:latin typeface="Cambria" pitchFamily="34" charset="0"/>
                <a:ea typeface="Cambria" pitchFamily="34" charset="-122"/>
                <a:cs typeface="Cambria" pitchFamily="34" charset="-120"/>
              </a:rPr>
              <a:t>Quattro dubbi messi alla prova</a:t>
            </a:r>
            <a:endParaRPr lang="en-US" sz="2900" dirty="0"/>
          </a:p>
        </p:txBody>
      </p:sp>
      <p:sp>
        <p:nvSpPr>
          <p:cNvPr id="5" name="Text 2"/>
          <p:cNvSpPr txBox="1"/>
          <p:nvPr/>
        </p:nvSpPr>
        <p:spPr>
          <a:xfrm>
            <a:off x="640080" y="1371600"/>
            <a:ext cx="10088575" cy="274320"/>
          </a:xfrm>
          <a:prstGeom prst="rect">
            <a:avLst/>
          </a:prstGeom>
          <a:noFill/>
          <a:ln/>
        </p:spPr>
        <p:txBody>
          <a:bodyPr wrap="square" lIns="0" tIns="0" rIns="0" bIns="0" rtlCol="0" anchor="ctr"/>
          <a:lstStyle/>
          <a:p>
            <a:pPr indent="0" marL="0">
              <a:buNone/>
            </a:pPr>
            <a:r>
              <a:rPr lang="en-US" sz="1250" i="1" dirty="0">
                <a:solidFill>
                  <a:srgbClr val="6B7787"/>
                </a:solidFill>
                <a:latin typeface="Calibri" pitchFamily="34" charset="0"/>
                <a:ea typeface="Calibri" pitchFamily="34" charset="-122"/>
                <a:cs typeface="Calibri" pitchFamily="34" charset="-120"/>
              </a:rPr>
              <a:t>Stessi dati, stessi split, stesse metriche del progetto principale: ogni differenza è attribuibile solo alla tecnica</a:t>
            </a:r>
            <a:endParaRPr lang="en-US" sz="1250" dirty="0"/>
          </a:p>
        </p:txBody>
      </p:sp>
      <p:sp>
        <p:nvSpPr>
          <p:cNvPr id="6" name="Text 3"/>
          <p:cNvSpPr txBox="1"/>
          <p:nvPr/>
        </p:nvSpPr>
        <p:spPr>
          <a:xfrm>
            <a:off x="640080" y="6473952"/>
            <a:ext cx="4572000" cy="237744"/>
          </a:xfrm>
          <a:prstGeom prst="rect">
            <a:avLst/>
          </a:prstGeom>
          <a:noFill/>
          <a:ln/>
        </p:spPr>
        <p:txBody>
          <a:bodyPr wrap="square" lIns="0" tIns="0" rIns="0" bIns="0" rtlCol="0" anchor="ctr"/>
          <a:lstStyle/>
          <a:p>
            <a:pPr indent="0" marL="0">
              <a:buNone/>
            </a:pPr>
            <a:r>
              <a:rPr lang="en-US" sz="900" dirty="0">
                <a:solidFill>
                  <a:srgbClr val="A7B3C1"/>
                </a:solidFill>
                <a:latin typeface="Calibri" pitchFamily="34" charset="0"/>
                <a:ea typeface="Calibri" pitchFamily="34" charset="-122"/>
                <a:cs typeface="Calibri" pitchFamily="34" charset="-120"/>
              </a:rPr>
              <a:t>Progetto MIGA  ·  A. Saverino</a:t>
            </a:r>
            <a:endParaRPr lang="en-US" sz="900" dirty="0"/>
          </a:p>
        </p:txBody>
      </p:sp>
      <p:sp>
        <p:nvSpPr>
          <p:cNvPr id="7" name="Text 4"/>
          <p:cNvSpPr txBox="1"/>
          <p:nvPr/>
        </p:nvSpPr>
        <p:spPr>
          <a:xfrm>
            <a:off x="8808415" y="6473952"/>
            <a:ext cx="2743200" cy="237744"/>
          </a:xfrm>
          <a:prstGeom prst="rect">
            <a:avLst/>
          </a:prstGeom>
          <a:noFill/>
          <a:ln/>
        </p:spPr>
        <p:txBody>
          <a:bodyPr wrap="square" lIns="0" tIns="0" rIns="0" bIns="0" rtlCol="0" anchor="ctr"/>
          <a:lstStyle/>
          <a:p>
            <a:pPr algn="r" indent="0" marL="0">
              <a:buNone/>
            </a:pPr>
            <a:r>
              <a:rPr lang="en-US" sz="900" dirty="0">
                <a:solidFill>
                  <a:srgbClr val="A7B3C1"/>
                </a:solidFill>
                <a:latin typeface="Calibri" pitchFamily="34" charset="0"/>
                <a:ea typeface="Calibri" pitchFamily="34" charset="-122"/>
                <a:cs typeface="Calibri" pitchFamily="34" charset="-120"/>
              </a:rPr>
              <a:t>9 / 10</a:t>
            </a:r>
            <a:endParaRPr lang="en-US" sz="900" dirty="0"/>
          </a:p>
        </p:txBody>
      </p:sp>
      <p:sp>
        <p:nvSpPr>
          <p:cNvPr id="8" name="Shape 5"/>
          <p:cNvSpPr/>
          <p:nvPr/>
        </p:nvSpPr>
        <p:spPr>
          <a:xfrm>
            <a:off x="640080" y="1965960"/>
            <a:ext cx="2577008" cy="4023360"/>
          </a:xfrm>
          <a:prstGeom prst="roundRect">
            <a:avLst>
              <a:gd name="adj" fmla="val 2484"/>
            </a:avLst>
          </a:prstGeom>
          <a:solidFill>
            <a:srgbClr val="EDF2F8"/>
          </a:solidFill>
          <a:ln w="12700">
            <a:solidFill>
              <a:srgbClr val="D5DFEA"/>
            </a:solidFill>
            <a:prstDash val="solid"/>
          </a:ln>
        </p:spPr>
      </p:sp>
      <p:sp>
        <p:nvSpPr>
          <p:cNvPr id="9" name="Shape 6"/>
          <p:cNvSpPr/>
          <p:nvPr/>
        </p:nvSpPr>
        <p:spPr>
          <a:xfrm>
            <a:off x="640080" y="2240280"/>
            <a:ext cx="82296" cy="457200"/>
          </a:xfrm>
          <a:prstGeom prst="rect">
            <a:avLst/>
          </a:prstGeom>
          <a:solidFill>
            <a:srgbClr val="1D4E89"/>
          </a:solidFill>
          <a:ln w="12700">
            <a:solidFill>
              <a:srgbClr val="1D4E89"/>
            </a:solidFill>
            <a:prstDash val="solid"/>
          </a:ln>
        </p:spPr>
      </p:sp>
      <p:sp>
        <p:nvSpPr>
          <p:cNvPr id="10" name="Text 7"/>
          <p:cNvSpPr txBox="1"/>
          <p:nvPr/>
        </p:nvSpPr>
        <p:spPr>
          <a:xfrm>
            <a:off x="896112" y="2194560"/>
            <a:ext cx="2064944" cy="219456"/>
          </a:xfrm>
          <a:prstGeom prst="rect">
            <a:avLst/>
          </a:prstGeom>
          <a:noFill/>
          <a:ln/>
        </p:spPr>
        <p:txBody>
          <a:bodyPr wrap="square" lIns="0" tIns="0" rIns="0" bIns="0" rtlCol="0" anchor="ctr"/>
          <a:lstStyle/>
          <a:p>
            <a:pPr indent="0" marL="0">
              <a:buNone/>
            </a:pPr>
            <a:r>
              <a:rPr lang="en-US" sz="850" b="1" spc="140" kern="0" dirty="0">
                <a:solidFill>
                  <a:srgbClr val="1D4E89"/>
                </a:solidFill>
                <a:latin typeface="Calibri" pitchFamily="34" charset="0"/>
                <a:ea typeface="Calibri" pitchFamily="34" charset="-122"/>
                <a:cs typeface="Calibri" pitchFamily="34" charset="-120"/>
              </a:rPr>
              <a:t>PARTE 1 · CF</a:t>
            </a:r>
            <a:endParaRPr lang="en-US" sz="850" dirty="0"/>
          </a:p>
        </p:txBody>
      </p:sp>
      <p:sp>
        <p:nvSpPr>
          <p:cNvPr id="11" name="Text 8"/>
          <p:cNvSpPr txBox="1"/>
          <p:nvPr/>
        </p:nvSpPr>
        <p:spPr>
          <a:xfrm>
            <a:off x="896112" y="2432304"/>
            <a:ext cx="2064944" cy="310896"/>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KNNBaseline</a:t>
            </a:r>
            <a:endParaRPr lang="en-US" sz="1600" dirty="0"/>
          </a:p>
        </p:txBody>
      </p:sp>
      <p:sp>
        <p:nvSpPr>
          <p:cNvPr id="12" name="Text 9"/>
          <p:cNvSpPr txBox="1"/>
          <p:nvPr/>
        </p:nvSpPr>
        <p:spPr>
          <a:xfrm>
            <a:off x="896112" y="2779776"/>
            <a:ext cx="2064944" cy="365760"/>
          </a:xfrm>
          <a:prstGeom prst="rect">
            <a:avLst/>
          </a:prstGeom>
          <a:noFill/>
          <a:ln/>
        </p:spPr>
        <p:txBody>
          <a:bodyPr wrap="square" lIns="0" tIns="0" rIns="0" bIns="0" rtlCol="0" anchor="ctr"/>
          <a:lstStyle/>
          <a:p>
            <a:pPr indent="0" marL="0">
              <a:lnSpc>
                <a:spcPct val="115000"/>
              </a:lnSpc>
              <a:buNone/>
            </a:pPr>
            <a:r>
              <a:rPr lang="en-US" sz="1000" dirty="0">
                <a:solidFill>
                  <a:srgbClr val="6B7787"/>
                </a:solidFill>
                <a:latin typeface="Calibri" pitchFamily="34" charset="0"/>
                <a:ea typeface="Calibri" pitchFamily="34" charset="-122"/>
                <a:cs typeface="Calibri" pitchFamily="34" charset="-120"/>
              </a:rPr>
              <a:t>il K-NN che corregge i bias di utente e film</a:t>
            </a:r>
            <a:endParaRPr lang="en-US" sz="1000" dirty="0"/>
          </a:p>
        </p:txBody>
      </p:sp>
      <p:sp>
        <p:nvSpPr>
          <p:cNvPr id="13" name="Text 10"/>
          <p:cNvSpPr txBox="1"/>
          <p:nvPr/>
        </p:nvSpPr>
        <p:spPr>
          <a:xfrm>
            <a:off x="896112" y="3291840"/>
            <a:ext cx="2064944" cy="640080"/>
          </a:xfrm>
          <a:prstGeom prst="rect">
            <a:avLst/>
          </a:prstGeom>
          <a:noFill/>
          <a:ln/>
        </p:spPr>
        <p:txBody>
          <a:bodyPr wrap="square" lIns="0" tIns="0" rIns="0" bIns="0" rtlCol="0" anchor="ctr"/>
          <a:lstStyle/>
          <a:p>
            <a:pPr indent="0" marL="0">
              <a:buNone/>
            </a:pPr>
            <a:r>
              <a:rPr lang="en-US" sz="3000" b="1" dirty="0">
                <a:solidFill>
                  <a:srgbClr val="1D4E89"/>
                </a:solidFill>
                <a:latin typeface="Cambria" pitchFamily="34" charset="0"/>
                <a:ea typeface="Cambria" pitchFamily="34" charset="-122"/>
                <a:cs typeface="Cambria" pitchFamily="34" charset="-120"/>
              </a:rPr>
              <a:t>1,0021</a:t>
            </a:r>
            <a:endParaRPr lang="en-US" sz="3000" dirty="0"/>
          </a:p>
        </p:txBody>
      </p:sp>
      <p:sp>
        <p:nvSpPr>
          <p:cNvPr id="14" name="Text 11"/>
          <p:cNvSpPr txBox="1"/>
          <p:nvPr/>
        </p:nvSpPr>
        <p:spPr>
          <a:xfrm>
            <a:off x="896112" y="3950208"/>
            <a:ext cx="2064944" cy="219456"/>
          </a:xfrm>
          <a:prstGeom prst="rect">
            <a:avLst/>
          </a:prstGeom>
          <a:noFill/>
          <a:ln/>
        </p:spPr>
        <p:txBody>
          <a:bodyPr wrap="square" lIns="0" tIns="0" rIns="0" bIns="0" rtlCol="0" anchor="ctr"/>
          <a:lstStyle/>
          <a:p>
            <a:pPr indent="0" marL="0">
              <a:buNone/>
            </a:pPr>
            <a:r>
              <a:rPr lang="en-US" sz="900" spc="120" kern="0" dirty="0">
                <a:solidFill>
                  <a:srgbClr val="6B7787"/>
                </a:solidFill>
                <a:latin typeface="Calibri" pitchFamily="34" charset="0"/>
                <a:ea typeface="Calibri" pitchFamily="34" charset="-122"/>
                <a:cs typeface="Calibri" pitchFamily="34" charset="-120"/>
              </a:rPr>
              <a:t>RMSE</a:t>
            </a:r>
            <a:endParaRPr lang="en-US" sz="900" dirty="0"/>
          </a:p>
        </p:txBody>
      </p:sp>
      <p:sp>
        <p:nvSpPr>
          <p:cNvPr id="15" name="Text 12"/>
          <p:cNvSpPr txBox="1"/>
          <p:nvPr/>
        </p:nvSpPr>
        <p:spPr>
          <a:xfrm>
            <a:off x="896112" y="4315968"/>
            <a:ext cx="2064944" cy="914400"/>
          </a:xfrm>
          <a:prstGeom prst="rect">
            <a:avLst/>
          </a:prstGeom>
          <a:noFill/>
          <a:ln/>
        </p:spPr>
        <p:txBody>
          <a:bodyPr wrap="square" lIns="0" tIns="0" rIns="0" bIns="0" rtlCol="0" anchor="ctr"/>
          <a:lstStyle/>
          <a:p>
            <a:pPr indent="0" marL="0">
              <a:lnSpc>
                <a:spcPct val="125000"/>
              </a:lnSpc>
              <a:buNone/>
            </a:pPr>
            <a:r>
              <a:rPr lang="en-US" sz="1050" dirty="0">
                <a:solidFill>
                  <a:srgbClr val="1F2A37"/>
                </a:solidFill>
                <a:latin typeface="Calibri" pitchFamily="34" charset="0"/>
                <a:ea typeface="Calibri" pitchFamily="34" charset="-122"/>
                <a:cs typeface="Calibri" pitchFamily="34" charset="-120"/>
              </a:rPr>
              <a:t>Meglio del K-NN base (1,0630) di sei centesimi, ma l'SVD resta davanti con 0,9401.</a:t>
            </a:r>
            <a:endParaRPr lang="en-US" sz="1050" dirty="0"/>
          </a:p>
        </p:txBody>
      </p:sp>
      <p:sp>
        <p:nvSpPr>
          <p:cNvPr id="16" name="Text 13"/>
          <p:cNvSpPr txBox="1"/>
          <p:nvPr/>
        </p:nvSpPr>
        <p:spPr>
          <a:xfrm>
            <a:off x="896112" y="5577840"/>
            <a:ext cx="2064944" cy="237744"/>
          </a:xfrm>
          <a:prstGeom prst="rect">
            <a:avLst/>
          </a:prstGeom>
          <a:noFill/>
          <a:ln/>
        </p:spPr>
        <p:txBody>
          <a:bodyPr wrap="square" lIns="0" tIns="0" rIns="0" bIns="0" rtlCol="0" anchor="ctr"/>
          <a:lstStyle/>
          <a:p>
            <a:pPr indent="0" marL="0">
              <a:buNone/>
            </a:pPr>
            <a:r>
              <a:rPr lang="en-US" sz="900" b="1" spc="120" kern="0" dirty="0">
                <a:solidFill>
                  <a:srgbClr val="1D4E89"/>
                </a:solidFill>
                <a:latin typeface="Calibri" pitchFamily="34" charset="0"/>
                <a:ea typeface="Calibri" pitchFamily="34" charset="-122"/>
                <a:cs typeface="Calibri" pitchFamily="34" charset="-120"/>
              </a:rPr>
              <a:t>CONFERMA L'SVD</a:t>
            </a:r>
            <a:endParaRPr lang="en-US" sz="900" dirty="0"/>
          </a:p>
        </p:txBody>
      </p:sp>
      <p:sp>
        <p:nvSpPr>
          <p:cNvPr id="17" name="Shape 14"/>
          <p:cNvSpPr/>
          <p:nvPr/>
        </p:nvSpPr>
        <p:spPr>
          <a:xfrm>
            <a:off x="3418256" y="1965960"/>
            <a:ext cx="2577008" cy="4023360"/>
          </a:xfrm>
          <a:prstGeom prst="roundRect">
            <a:avLst>
              <a:gd name="adj" fmla="val 2484"/>
            </a:avLst>
          </a:prstGeom>
          <a:solidFill>
            <a:srgbClr val="EDF2F8"/>
          </a:solidFill>
          <a:ln w="12700">
            <a:solidFill>
              <a:srgbClr val="D5DFEA"/>
            </a:solidFill>
            <a:prstDash val="solid"/>
          </a:ln>
        </p:spPr>
      </p:sp>
      <p:sp>
        <p:nvSpPr>
          <p:cNvPr id="18" name="Shape 15"/>
          <p:cNvSpPr/>
          <p:nvPr/>
        </p:nvSpPr>
        <p:spPr>
          <a:xfrm>
            <a:off x="3418256" y="2240280"/>
            <a:ext cx="82296" cy="457200"/>
          </a:xfrm>
          <a:prstGeom prst="rect">
            <a:avLst/>
          </a:prstGeom>
          <a:solidFill>
            <a:srgbClr val="1D4E89"/>
          </a:solidFill>
          <a:ln w="12700">
            <a:solidFill>
              <a:srgbClr val="1D4E89"/>
            </a:solidFill>
            <a:prstDash val="solid"/>
          </a:ln>
        </p:spPr>
      </p:sp>
      <p:sp>
        <p:nvSpPr>
          <p:cNvPr id="19" name="Text 16"/>
          <p:cNvSpPr txBox="1"/>
          <p:nvPr/>
        </p:nvSpPr>
        <p:spPr>
          <a:xfrm>
            <a:off x="3674288" y="2194560"/>
            <a:ext cx="2064944" cy="219456"/>
          </a:xfrm>
          <a:prstGeom prst="rect">
            <a:avLst/>
          </a:prstGeom>
          <a:noFill/>
          <a:ln/>
        </p:spPr>
        <p:txBody>
          <a:bodyPr wrap="square" lIns="0" tIns="0" rIns="0" bIns="0" rtlCol="0" anchor="ctr"/>
          <a:lstStyle/>
          <a:p>
            <a:pPr indent="0" marL="0">
              <a:buNone/>
            </a:pPr>
            <a:r>
              <a:rPr lang="en-US" sz="850" b="1" spc="140" kern="0" dirty="0">
                <a:solidFill>
                  <a:srgbClr val="1D4E89"/>
                </a:solidFill>
                <a:latin typeface="Calibri" pitchFamily="34" charset="0"/>
                <a:ea typeface="Calibri" pitchFamily="34" charset="-122"/>
                <a:cs typeface="Calibri" pitchFamily="34" charset="-120"/>
              </a:rPr>
              <a:t>PARTE 1 · DATI</a:t>
            </a:r>
            <a:endParaRPr lang="en-US" sz="850" dirty="0"/>
          </a:p>
        </p:txBody>
      </p:sp>
      <p:sp>
        <p:nvSpPr>
          <p:cNvPr id="20" name="Text 17"/>
          <p:cNvSpPr txBox="1"/>
          <p:nvPr/>
        </p:nvSpPr>
        <p:spPr>
          <a:xfrm>
            <a:off x="3674288" y="2432304"/>
            <a:ext cx="2064944" cy="310896"/>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SVD sul k-core intero</a:t>
            </a:r>
            <a:endParaRPr lang="en-US" sz="1600" dirty="0"/>
          </a:p>
        </p:txBody>
      </p:sp>
      <p:sp>
        <p:nvSpPr>
          <p:cNvPr id="21" name="Text 18"/>
          <p:cNvSpPr txBox="1"/>
          <p:nvPr/>
        </p:nvSpPr>
        <p:spPr>
          <a:xfrm>
            <a:off x="3674288" y="2779776"/>
            <a:ext cx="2064944" cy="365760"/>
          </a:xfrm>
          <a:prstGeom prst="rect">
            <a:avLst/>
          </a:prstGeom>
          <a:noFill/>
          <a:ln/>
        </p:spPr>
        <p:txBody>
          <a:bodyPr wrap="square" lIns="0" tIns="0" rIns="0" bIns="0" rtlCol="0" anchor="ctr"/>
          <a:lstStyle/>
          <a:p>
            <a:pPr indent="0" marL="0">
              <a:lnSpc>
                <a:spcPct val="115000"/>
              </a:lnSpc>
              <a:buNone/>
            </a:pPr>
            <a:r>
              <a:rPr lang="en-US" sz="1000" dirty="0">
                <a:solidFill>
                  <a:srgbClr val="6B7787"/>
                </a:solidFill>
                <a:latin typeface="Calibri" pitchFamily="34" charset="0"/>
                <a:ea typeface="Calibri" pitchFamily="34" charset="-122"/>
                <a:cs typeface="Calibri" pitchFamily="34" charset="-120"/>
              </a:rPr>
              <a:t>senza i tetti su utenti e film</a:t>
            </a:r>
            <a:endParaRPr lang="en-US" sz="1000" dirty="0"/>
          </a:p>
        </p:txBody>
      </p:sp>
      <p:sp>
        <p:nvSpPr>
          <p:cNvPr id="22" name="Text 19"/>
          <p:cNvSpPr txBox="1"/>
          <p:nvPr/>
        </p:nvSpPr>
        <p:spPr>
          <a:xfrm>
            <a:off x="3674288" y="3291840"/>
            <a:ext cx="2064944" cy="640080"/>
          </a:xfrm>
          <a:prstGeom prst="rect">
            <a:avLst/>
          </a:prstGeom>
          <a:noFill/>
          <a:ln/>
        </p:spPr>
        <p:txBody>
          <a:bodyPr wrap="square" lIns="0" tIns="0" rIns="0" bIns="0" rtlCol="0" anchor="ctr"/>
          <a:lstStyle/>
          <a:p>
            <a:pPr indent="0" marL="0">
              <a:buNone/>
            </a:pPr>
            <a:r>
              <a:rPr lang="en-US" sz="3000" b="1" dirty="0">
                <a:solidFill>
                  <a:srgbClr val="1D4E89"/>
                </a:solidFill>
                <a:latin typeface="Cambria" pitchFamily="34" charset="0"/>
                <a:ea typeface="Cambria" pitchFamily="34" charset="-122"/>
                <a:cs typeface="Cambria" pitchFamily="34" charset="-120"/>
              </a:rPr>
              <a:t>0,9687</a:t>
            </a:r>
            <a:endParaRPr lang="en-US" sz="3000" dirty="0"/>
          </a:p>
        </p:txBody>
      </p:sp>
      <p:sp>
        <p:nvSpPr>
          <p:cNvPr id="23" name="Text 20"/>
          <p:cNvSpPr txBox="1"/>
          <p:nvPr/>
        </p:nvSpPr>
        <p:spPr>
          <a:xfrm>
            <a:off x="3674288" y="3950208"/>
            <a:ext cx="2064944" cy="219456"/>
          </a:xfrm>
          <a:prstGeom prst="rect">
            <a:avLst/>
          </a:prstGeom>
          <a:noFill/>
          <a:ln/>
        </p:spPr>
        <p:txBody>
          <a:bodyPr wrap="square" lIns="0" tIns="0" rIns="0" bIns="0" rtlCol="0" anchor="ctr"/>
          <a:lstStyle/>
          <a:p>
            <a:pPr indent="0" marL="0">
              <a:buNone/>
            </a:pPr>
            <a:r>
              <a:rPr lang="en-US" sz="900" spc="120" kern="0" dirty="0">
                <a:solidFill>
                  <a:srgbClr val="6B7787"/>
                </a:solidFill>
                <a:latin typeface="Calibri" pitchFamily="34" charset="0"/>
                <a:ea typeface="Calibri" pitchFamily="34" charset="-122"/>
                <a:cs typeface="Calibri" pitchFamily="34" charset="-120"/>
              </a:rPr>
              <a:t>RMSE</a:t>
            </a:r>
            <a:endParaRPr lang="en-US" sz="900" dirty="0"/>
          </a:p>
        </p:txBody>
      </p:sp>
      <p:sp>
        <p:nvSpPr>
          <p:cNvPr id="24" name="Text 21"/>
          <p:cNvSpPr txBox="1"/>
          <p:nvPr/>
        </p:nvSpPr>
        <p:spPr>
          <a:xfrm>
            <a:off x="3674288" y="4315968"/>
            <a:ext cx="2064944" cy="914400"/>
          </a:xfrm>
          <a:prstGeom prst="rect">
            <a:avLst/>
          </a:prstGeom>
          <a:noFill/>
          <a:ln/>
        </p:spPr>
        <p:txBody>
          <a:bodyPr wrap="square" lIns="0" tIns="0" rIns="0" bIns="0" rtlCol="0" anchor="ctr"/>
          <a:lstStyle/>
          <a:p>
            <a:pPr indent="0" marL="0">
              <a:lnSpc>
                <a:spcPct val="125000"/>
              </a:lnSpc>
              <a:buNone/>
            </a:pPr>
            <a:r>
              <a:rPr lang="en-US" sz="1050" dirty="0">
                <a:solidFill>
                  <a:srgbClr val="1F2A37"/>
                </a:solidFill>
                <a:latin typeface="Calibri" pitchFamily="34" charset="0"/>
                <a:ea typeface="Calibri" pitchFamily="34" charset="-122"/>
                <a:cs typeface="Calibri" pitchFamily="34" charset="-120"/>
              </a:rPr>
              <a:t>Peggiora rispetto a 0,9401: i 29.698 utenti rimessi dentro sono i meno attivi e la densità crolla.</a:t>
            </a:r>
            <a:endParaRPr lang="en-US" sz="1050" dirty="0"/>
          </a:p>
        </p:txBody>
      </p:sp>
      <p:sp>
        <p:nvSpPr>
          <p:cNvPr id="25" name="Text 22"/>
          <p:cNvSpPr txBox="1"/>
          <p:nvPr/>
        </p:nvSpPr>
        <p:spPr>
          <a:xfrm>
            <a:off x="3674288" y="5577840"/>
            <a:ext cx="2064944" cy="237744"/>
          </a:xfrm>
          <a:prstGeom prst="rect">
            <a:avLst/>
          </a:prstGeom>
          <a:noFill/>
          <a:ln/>
        </p:spPr>
        <p:txBody>
          <a:bodyPr wrap="square" lIns="0" tIns="0" rIns="0" bIns="0" rtlCol="0" anchor="ctr"/>
          <a:lstStyle/>
          <a:p>
            <a:pPr indent="0" marL="0">
              <a:buNone/>
            </a:pPr>
            <a:r>
              <a:rPr lang="en-US" sz="900" b="1" spc="120" kern="0" dirty="0">
                <a:solidFill>
                  <a:srgbClr val="1D4E89"/>
                </a:solidFill>
                <a:latin typeface="Calibri" pitchFamily="34" charset="0"/>
                <a:ea typeface="Calibri" pitchFamily="34" charset="-122"/>
                <a:cs typeface="Calibri" pitchFamily="34" charset="-120"/>
              </a:rPr>
              <a:t>I TETTI SONO GIUSTI</a:t>
            </a:r>
            <a:endParaRPr lang="en-US" sz="900" dirty="0"/>
          </a:p>
        </p:txBody>
      </p:sp>
      <p:sp>
        <p:nvSpPr>
          <p:cNvPr id="26" name="Shape 23"/>
          <p:cNvSpPr/>
          <p:nvPr/>
        </p:nvSpPr>
        <p:spPr>
          <a:xfrm>
            <a:off x="6196432" y="1965960"/>
            <a:ext cx="2577008" cy="4023360"/>
          </a:xfrm>
          <a:prstGeom prst="roundRect">
            <a:avLst>
              <a:gd name="adj" fmla="val 2484"/>
            </a:avLst>
          </a:prstGeom>
          <a:solidFill>
            <a:srgbClr val="EDF2F8"/>
          </a:solidFill>
          <a:ln w="12700">
            <a:solidFill>
              <a:srgbClr val="D5DFEA"/>
            </a:solidFill>
            <a:prstDash val="solid"/>
          </a:ln>
        </p:spPr>
      </p:sp>
      <p:sp>
        <p:nvSpPr>
          <p:cNvPr id="27" name="Shape 24"/>
          <p:cNvSpPr/>
          <p:nvPr/>
        </p:nvSpPr>
        <p:spPr>
          <a:xfrm>
            <a:off x="6196432" y="2240280"/>
            <a:ext cx="82296" cy="457200"/>
          </a:xfrm>
          <a:prstGeom prst="rect">
            <a:avLst/>
          </a:prstGeom>
          <a:solidFill>
            <a:srgbClr val="C98218"/>
          </a:solidFill>
          <a:ln w="12700">
            <a:solidFill>
              <a:srgbClr val="C98218"/>
            </a:solidFill>
            <a:prstDash val="solid"/>
          </a:ln>
        </p:spPr>
      </p:sp>
      <p:sp>
        <p:nvSpPr>
          <p:cNvPr id="28" name="Text 25"/>
          <p:cNvSpPr txBox="1"/>
          <p:nvPr/>
        </p:nvSpPr>
        <p:spPr>
          <a:xfrm>
            <a:off x="6452464" y="2194560"/>
            <a:ext cx="2064944" cy="219456"/>
          </a:xfrm>
          <a:prstGeom prst="rect">
            <a:avLst/>
          </a:prstGeom>
          <a:noFill/>
          <a:ln/>
        </p:spPr>
        <p:txBody>
          <a:bodyPr wrap="square" lIns="0" tIns="0" rIns="0" bIns="0" rtlCol="0" anchor="ctr"/>
          <a:lstStyle/>
          <a:p>
            <a:pPr indent="0" marL="0">
              <a:buNone/>
            </a:pPr>
            <a:r>
              <a:rPr lang="en-US" sz="850" b="1" spc="140" kern="0" dirty="0">
                <a:solidFill>
                  <a:srgbClr val="C98218"/>
                </a:solidFill>
                <a:latin typeface="Calibri" pitchFamily="34" charset="0"/>
                <a:ea typeface="Calibri" pitchFamily="34" charset="-122"/>
                <a:cs typeface="Calibri" pitchFamily="34" charset="-120"/>
              </a:rPr>
              <a:t>PARTE 2 · CB</a:t>
            </a:r>
            <a:endParaRPr lang="en-US" sz="850" dirty="0"/>
          </a:p>
        </p:txBody>
      </p:sp>
      <p:sp>
        <p:nvSpPr>
          <p:cNvPr id="29" name="Text 26"/>
          <p:cNvSpPr txBox="1"/>
          <p:nvPr/>
        </p:nvSpPr>
        <p:spPr>
          <a:xfrm>
            <a:off x="6452464" y="2432304"/>
            <a:ext cx="2064944" cy="310896"/>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SBERT all-mpnet</a:t>
            </a:r>
            <a:endParaRPr lang="en-US" sz="1600" dirty="0"/>
          </a:p>
        </p:txBody>
      </p:sp>
      <p:sp>
        <p:nvSpPr>
          <p:cNvPr id="30" name="Text 27"/>
          <p:cNvSpPr txBox="1"/>
          <p:nvPr/>
        </p:nvSpPr>
        <p:spPr>
          <a:xfrm>
            <a:off x="6452464" y="2779776"/>
            <a:ext cx="2064944" cy="365760"/>
          </a:xfrm>
          <a:prstGeom prst="rect">
            <a:avLst/>
          </a:prstGeom>
          <a:noFill/>
          <a:ln/>
        </p:spPr>
        <p:txBody>
          <a:bodyPr wrap="square" lIns="0" tIns="0" rIns="0" bIns="0" rtlCol="0" anchor="ctr"/>
          <a:lstStyle/>
          <a:p>
            <a:pPr indent="0" marL="0">
              <a:lnSpc>
                <a:spcPct val="115000"/>
              </a:lnSpc>
              <a:buNone/>
            </a:pPr>
            <a:r>
              <a:rPr lang="en-US" sz="1000" dirty="0">
                <a:solidFill>
                  <a:srgbClr val="6B7787"/>
                </a:solidFill>
                <a:latin typeface="Calibri" pitchFamily="34" charset="0"/>
                <a:ea typeface="Calibri" pitchFamily="34" charset="-122"/>
                <a:cs typeface="Calibri" pitchFamily="34" charset="-120"/>
              </a:rPr>
              <a:t>embedding costruito per la similarità</a:t>
            </a:r>
            <a:endParaRPr lang="en-US" sz="1000" dirty="0"/>
          </a:p>
        </p:txBody>
      </p:sp>
      <p:sp>
        <p:nvSpPr>
          <p:cNvPr id="31" name="Text 28"/>
          <p:cNvSpPr txBox="1"/>
          <p:nvPr/>
        </p:nvSpPr>
        <p:spPr>
          <a:xfrm>
            <a:off x="6452464" y="3291840"/>
            <a:ext cx="2064944" cy="640080"/>
          </a:xfrm>
          <a:prstGeom prst="rect">
            <a:avLst/>
          </a:prstGeom>
          <a:noFill/>
          <a:ln/>
        </p:spPr>
        <p:txBody>
          <a:bodyPr wrap="square" lIns="0" tIns="0" rIns="0" bIns="0" rtlCol="0" anchor="ctr"/>
          <a:lstStyle/>
          <a:p>
            <a:pPr indent="0" marL="0">
              <a:buNone/>
            </a:pPr>
            <a:r>
              <a:rPr lang="en-US" sz="3000" b="1" dirty="0">
                <a:solidFill>
                  <a:srgbClr val="C98218"/>
                </a:solidFill>
                <a:latin typeface="Cambria" pitchFamily="34" charset="0"/>
                <a:ea typeface="Cambria" pitchFamily="34" charset="-122"/>
                <a:cs typeface="Cambria" pitchFamily="34" charset="-120"/>
              </a:rPr>
              <a:t>0,9837</a:t>
            </a:r>
            <a:endParaRPr lang="en-US" sz="3000" dirty="0"/>
          </a:p>
        </p:txBody>
      </p:sp>
      <p:sp>
        <p:nvSpPr>
          <p:cNvPr id="32" name="Text 29"/>
          <p:cNvSpPr txBox="1"/>
          <p:nvPr/>
        </p:nvSpPr>
        <p:spPr>
          <a:xfrm>
            <a:off x="6452464" y="3950208"/>
            <a:ext cx="2064944" cy="219456"/>
          </a:xfrm>
          <a:prstGeom prst="rect">
            <a:avLst/>
          </a:prstGeom>
          <a:noFill/>
          <a:ln/>
        </p:spPr>
        <p:txBody>
          <a:bodyPr wrap="square" lIns="0" tIns="0" rIns="0" bIns="0" rtlCol="0" anchor="ctr"/>
          <a:lstStyle/>
          <a:p>
            <a:pPr indent="0" marL="0">
              <a:buNone/>
            </a:pPr>
            <a:r>
              <a:rPr lang="en-US" sz="900" spc="120" kern="0" dirty="0">
                <a:solidFill>
                  <a:srgbClr val="6B7787"/>
                </a:solidFill>
                <a:latin typeface="Calibri" pitchFamily="34" charset="0"/>
                <a:ea typeface="Calibri" pitchFamily="34" charset="-122"/>
                <a:cs typeface="Calibri" pitchFamily="34" charset="-120"/>
              </a:rPr>
              <a:t>RMSE</a:t>
            </a:r>
            <a:endParaRPr lang="en-US" sz="900" dirty="0"/>
          </a:p>
        </p:txBody>
      </p:sp>
      <p:sp>
        <p:nvSpPr>
          <p:cNvPr id="33" name="Text 30"/>
          <p:cNvSpPr txBox="1"/>
          <p:nvPr/>
        </p:nvSpPr>
        <p:spPr>
          <a:xfrm>
            <a:off x="6452464" y="4315968"/>
            <a:ext cx="2064944" cy="914400"/>
          </a:xfrm>
          <a:prstGeom prst="rect">
            <a:avLst/>
          </a:prstGeom>
          <a:noFill/>
          <a:ln/>
        </p:spPr>
        <p:txBody>
          <a:bodyPr wrap="square" lIns="0" tIns="0" rIns="0" bIns="0" rtlCol="0" anchor="ctr"/>
          <a:lstStyle/>
          <a:p>
            <a:pPr indent="0" marL="0">
              <a:lnSpc>
                <a:spcPct val="125000"/>
              </a:lnSpc>
              <a:buNone/>
            </a:pPr>
            <a:r>
              <a:rPr lang="en-US" sz="1050" dirty="0">
                <a:solidFill>
                  <a:srgbClr val="1F2A37"/>
                </a:solidFill>
                <a:latin typeface="Calibri" pitchFamily="34" charset="0"/>
                <a:ea typeface="Calibri" pitchFamily="34" charset="-122"/>
                <a:cs typeface="Calibri" pitchFamily="34" charset="-120"/>
              </a:rPr>
              <a:t>In linea con TF-IDF e DistilBERT: il limite non è la rappresentazione, è il contenuto.</a:t>
            </a:r>
            <a:endParaRPr lang="en-US" sz="1050" dirty="0"/>
          </a:p>
        </p:txBody>
      </p:sp>
      <p:sp>
        <p:nvSpPr>
          <p:cNvPr id="34" name="Text 31"/>
          <p:cNvSpPr txBox="1"/>
          <p:nvPr/>
        </p:nvSpPr>
        <p:spPr>
          <a:xfrm>
            <a:off x="6452464" y="5577840"/>
            <a:ext cx="2064944" cy="237744"/>
          </a:xfrm>
          <a:prstGeom prst="rect">
            <a:avLst/>
          </a:prstGeom>
          <a:noFill/>
          <a:ln/>
        </p:spPr>
        <p:txBody>
          <a:bodyPr wrap="square" lIns="0" tIns="0" rIns="0" bIns="0" rtlCol="0" anchor="ctr"/>
          <a:lstStyle/>
          <a:p>
            <a:pPr indent="0" marL="0">
              <a:buNone/>
            </a:pPr>
            <a:r>
              <a:rPr lang="en-US" sz="900" b="1" spc="120" kern="0" dirty="0">
                <a:solidFill>
                  <a:srgbClr val="C98218"/>
                </a:solidFill>
                <a:latin typeface="Calibri" pitchFamily="34" charset="0"/>
                <a:ea typeface="Calibri" pitchFamily="34" charset="-122"/>
                <a:cs typeface="Calibri" pitchFamily="34" charset="-120"/>
              </a:rPr>
              <a:t>TF-IDF BASTA</a:t>
            </a:r>
            <a:endParaRPr lang="en-US" sz="900" dirty="0"/>
          </a:p>
        </p:txBody>
      </p:sp>
      <p:sp>
        <p:nvSpPr>
          <p:cNvPr id="35" name="Shape 32"/>
          <p:cNvSpPr/>
          <p:nvPr/>
        </p:nvSpPr>
        <p:spPr>
          <a:xfrm>
            <a:off x="8974607" y="1965960"/>
            <a:ext cx="2577008" cy="4023360"/>
          </a:xfrm>
          <a:prstGeom prst="roundRect">
            <a:avLst>
              <a:gd name="adj" fmla="val 2484"/>
            </a:avLst>
          </a:prstGeom>
          <a:solidFill>
            <a:srgbClr val="16324F"/>
          </a:solidFill>
          <a:ln w="12700">
            <a:solidFill>
              <a:srgbClr val="16324F"/>
            </a:solidFill>
            <a:prstDash val="solid"/>
          </a:ln>
        </p:spPr>
      </p:sp>
      <p:sp>
        <p:nvSpPr>
          <p:cNvPr id="36" name="Text 33"/>
          <p:cNvSpPr txBox="1"/>
          <p:nvPr/>
        </p:nvSpPr>
        <p:spPr>
          <a:xfrm>
            <a:off x="9230639" y="2194560"/>
            <a:ext cx="2064944" cy="219456"/>
          </a:xfrm>
          <a:prstGeom prst="rect">
            <a:avLst/>
          </a:prstGeom>
          <a:noFill/>
          <a:ln/>
        </p:spPr>
        <p:txBody>
          <a:bodyPr wrap="square" lIns="0" tIns="0" rIns="0" bIns="0" rtlCol="0" anchor="ctr"/>
          <a:lstStyle/>
          <a:p>
            <a:pPr indent="0" marL="0">
              <a:buNone/>
            </a:pPr>
            <a:r>
              <a:rPr lang="en-US" sz="850" b="1" spc="140" kern="0" dirty="0">
                <a:solidFill>
                  <a:srgbClr val="6FC4B7"/>
                </a:solidFill>
                <a:latin typeface="Calibri" pitchFamily="34" charset="0"/>
                <a:ea typeface="Calibri" pitchFamily="34" charset="-122"/>
                <a:cs typeface="Calibri" pitchFamily="34" charset="-120"/>
              </a:rPr>
              <a:t>PARTE 3 · SENT.</a:t>
            </a:r>
            <a:endParaRPr lang="en-US" sz="850" dirty="0"/>
          </a:p>
        </p:txBody>
      </p:sp>
      <p:sp>
        <p:nvSpPr>
          <p:cNvPr id="37" name="Text 34"/>
          <p:cNvSpPr txBox="1"/>
          <p:nvPr/>
        </p:nvSpPr>
        <p:spPr>
          <a:xfrm>
            <a:off x="9230639" y="2432304"/>
            <a:ext cx="2064944"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LinearSVC</a:t>
            </a:r>
            <a:endParaRPr lang="en-US" sz="1600" dirty="0"/>
          </a:p>
        </p:txBody>
      </p:sp>
      <p:sp>
        <p:nvSpPr>
          <p:cNvPr id="38" name="Text 35"/>
          <p:cNvSpPr txBox="1"/>
          <p:nvPr/>
        </p:nvSpPr>
        <p:spPr>
          <a:xfrm>
            <a:off x="9230639" y="2779776"/>
            <a:ext cx="2064944" cy="365760"/>
          </a:xfrm>
          <a:prstGeom prst="rect">
            <a:avLst/>
          </a:prstGeom>
          <a:noFill/>
          <a:ln/>
        </p:spPr>
        <p:txBody>
          <a:bodyPr wrap="square" lIns="0" tIns="0" rIns="0" bIns="0" rtlCol="0" anchor="ctr"/>
          <a:lstStyle/>
          <a:p>
            <a:pPr indent="0" marL="0">
              <a:lnSpc>
                <a:spcPct val="115000"/>
              </a:lnSpc>
              <a:buNone/>
            </a:pPr>
            <a:r>
              <a:rPr lang="en-US" sz="1000" dirty="0">
                <a:solidFill>
                  <a:srgbClr val="BBD0E6"/>
                </a:solidFill>
                <a:latin typeface="Calibri" pitchFamily="34" charset="0"/>
                <a:ea typeface="Calibri" pitchFamily="34" charset="-122"/>
                <a:cs typeface="Calibri" pitchFamily="34" charset="-120"/>
              </a:rPr>
              <a:t>modello lineare sugli embedding</a:t>
            </a:r>
            <a:endParaRPr lang="en-US" sz="1000" dirty="0"/>
          </a:p>
        </p:txBody>
      </p:sp>
      <p:sp>
        <p:nvSpPr>
          <p:cNvPr id="39" name="Text 36"/>
          <p:cNvSpPr txBox="1"/>
          <p:nvPr/>
        </p:nvSpPr>
        <p:spPr>
          <a:xfrm>
            <a:off x="9230639" y="3291840"/>
            <a:ext cx="2064944"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0,708</a:t>
            </a:r>
            <a:endParaRPr lang="en-US" sz="3000" dirty="0"/>
          </a:p>
        </p:txBody>
      </p:sp>
      <p:sp>
        <p:nvSpPr>
          <p:cNvPr id="40" name="Text 37"/>
          <p:cNvSpPr txBox="1"/>
          <p:nvPr/>
        </p:nvSpPr>
        <p:spPr>
          <a:xfrm>
            <a:off x="9230639" y="3950208"/>
            <a:ext cx="2064944" cy="219456"/>
          </a:xfrm>
          <a:prstGeom prst="rect">
            <a:avLst/>
          </a:prstGeom>
          <a:noFill/>
          <a:ln/>
        </p:spPr>
        <p:txBody>
          <a:bodyPr wrap="square" lIns="0" tIns="0" rIns="0" bIns="0" rtlCol="0" anchor="ctr"/>
          <a:lstStyle/>
          <a:p>
            <a:pPr indent="0" marL="0">
              <a:buNone/>
            </a:pPr>
            <a:r>
              <a:rPr lang="en-US" sz="900" spc="120" kern="0" dirty="0">
                <a:solidFill>
                  <a:srgbClr val="BBD0E6"/>
                </a:solidFill>
                <a:latin typeface="Calibri" pitchFamily="34" charset="0"/>
                <a:ea typeface="Calibri" pitchFamily="34" charset="-122"/>
                <a:cs typeface="Calibri" pitchFamily="34" charset="-120"/>
              </a:rPr>
              <a:t>F1 macro</a:t>
            </a:r>
            <a:endParaRPr lang="en-US" sz="900" dirty="0"/>
          </a:p>
        </p:txBody>
      </p:sp>
      <p:sp>
        <p:nvSpPr>
          <p:cNvPr id="41" name="Text 38"/>
          <p:cNvSpPr txBox="1"/>
          <p:nvPr/>
        </p:nvSpPr>
        <p:spPr>
          <a:xfrm>
            <a:off x="9230639" y="4315968"/>
            <a:ext cx="2064944" cy="914400"/>
          </a:xfrm>
          <a:prstGeom prst="rect">
            <a:avLst/>
          </a:prstGeom>
          <a:noFill/>
          <a:ln/>
        </p:spPr>
        <p:txBody>
          <a:bodyPr wrap="square" lIns="0" tIns="0" rIns="0" bIns="0" rtlCol="0" anchor="ctr"/>
          <a:lstStyle/>
          <a:p>
            <a:pPr indent="0" marL="0">
              <a:lnSpc>
                <a:spcPct val="125000"/>
              </a:lnSpc>
              <a:buNone/>
            </a:pPr>
            <a:r>
              <a:rPr lang="en-US" sz="1050" dirty="0">
                <a:solidFill>
                  <a:srgbClr val="E3EDF6"/>
                </a:solidFill>
                <a:latin typeface="Calibri" pitchFamily="34" charset="0"/>
                <a:ea typeface="Calibri" pitchFamily="34" charset="-122"/>
                <a:cs typeface="Calibri" pitchFamily="34" charset="-120"/>
              </a:rPr>
              <a:t>Recall del neutro da 0,22 a 0,51: un lineare ben pesato sblocca la classe difficile.</a:t>
            </a:r>
            <a:endParaRPr lang="en-US" sz="1050" dirty="0"/>
          </a:p>
        </p:txBody>
      </p:sp>
      <p:sp>
        <p:nvSpPr>
          <p:cNvPr id="42" name="Text 39"/>
          <p:cNvSpPr txBox="1"/>
          <p:nvPr/>
        </p:nvSpPr>
        <p:spPr>
          <a:xfrm>
            <a:off x="9230639" y="5577840"/>
            <a:ext cx="2064944" cy="237744"/>
          </a:xfrm>
          <a:prstGeom prst="rect">
            <a:avLst/>
          </a:prstGeom>
          <a:noFill/>
          <a:ln/>
        </p:spPr>
        <p:txBody>
          <a:bodyPr wrap="square" lIns="0" tIns="0" rIns="0" bIns="0" rtlCol="0" anchor="ctr"/>
          <a:lstStyle/>
          <a:p>
            <a:pPr indent="0" marL="0">
              <a:buNone/>
            </a:pPr>
            <a:r>
              <a:rPr lang="en-US" sz="900" b="1" spc="120" kern="0" dirty="0">
                <a:solidFill>
                  <a:srgbClr val="6FC4B7"/>
                </a:solidFill>
                <a:latin typeface="Calibri" pitchFamily="34" charset="0"/>
                <a:ea typeface="Calibri" pitchFamily="34" charset="-122"/>
                <a:cs typeface="Calibri" pitchFamily="34" charset="-120"/>
              </a:rPr>
              <a:t>MIGLIORAMENTO REALE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pic>
        <p:nvPicPr>
          <p:cNvPr id="2" name="Image 0" descr="/home/claude/work/uicons/camera.png">    </p:cNvPr>
          <p:cNvPicPr>
            <a:picLocks noChangeAspect="1"/>
          </p:cNvPicPr>
          <p:nvPr/>
        </p:nvPicPr>
        <p:blipFill>
          <a:blip r:embed="rId1"/>
          <a:stretch>
            <a:fillRect/>
          </a:stretch>
        </p:blipFill>
        <p:spPr>
          <a:xfrm>
            <a:off x="11076127" y="384048"/>
            <a:ext cx="475488" cy="475488"/>
          </a:xfrm>
          <a:prstGeom prst="rect">
            <a:avLst/>
          </a:prstGeom>
        </p:spPr>
      </p:pic>
      <p:sp>
        <p:nvSpPr>
          <p:cNvPr id="3" name="Text 0"/>
          <p:cNvSpPr txBox="1"/>
          <p:nvPr/>
        </p:nvSpPr>
        <p:spPr>
          <a:xfrm>
            <a:off x="640080" y="438912"/>
            <a:ext cx="10088575" cy="237744"/>
          </a:xfrm>
          <a:prstGeom prst="rect">
            <a:avLst/>
          </a:prstGeom>
          <a:noFill/>
          <a:ln/>
        </p:spPr>
        <p:txBody>
          <a:bodyPr wrap="square" lIns="0" tIns="0" rIns="0" bIns="0" rtlCol="0" anchor="ctr"/>
          <a:lstStyle/>
          <a:p>
            <a:pPr indent="0" marL="0">
              <a:buNone/>
            </a:pPr>
            <a:r>
              <a:rPr lang="en-US" sz="1050" b="1" spc="200" kern="0" dirty="0">
                <a:solidFill>
                  <a:srgbClr val="16324F"/>
                </a:solidFill>
                <a:latin typeface="Calibri" pitchFamily="34" charset="0"/>
                <a:ea typeface="Calibri" pitchFamily="34" charset="-122"/>
                <a:cs typeface="Calibri" pitchFamily="34" charset="-120"/>
              </a:rPr>
              <a:t>CHIUSURA</a:t>
            </a:r>
            <a:endParaRPr lang="en-US" sz="1050" dirty="0"/>
          </a:p>
        </p:txBody>
      </p:sp>
      <p:sp>
        <p:nvSpPr>
          <p:cNvPr id="4" name="Text 1"/>
          <p:cNvSpPr txBox="1"/>
          <p:nvPr/>
        </p:nvSpPr>
        <p:spPr>
          <a:xfrm>
            <a:off x="640080" y="731520"/>
            <a:ext cx="10088575" cy="566928"/>
          </a:xfrm>
          <a:prstGeom prst="rect">
            <a:avLst/>
          </a:prstGeom>
          <a:noFill/>
          <a:ln/>
        </p:spPr>
        <p:txBody>
          <a:bodyPr wrap="square" lIns="0" tIns="0" rIns="0" bIns="0" rtlCol="0" anchor="ctr"/>
          <a:lstStyle/>
          <a:p>
            <a:pPr indent="0" marL="0">
              <a:buNone/>
            </a:pPr>
            <a:r>
              <a:rPr lang="en-US" sz="2900" b="1" dirty="0">
                <a:solidFill>
                  <a:srgbClr val="16324F"/>
                </a:solidFill>
                <a:latin typeface="Cambria" pitchFamily="34" charset="0"/>
                <a:ea typeface="Cambria" pitchFamily="34" charset="-122"/>
                <a:cs typeface="Cambria" pitchFamily="34" charset="-120"/>
              </a:rPr>
              <a:t>Tre risultati, tre lezioni</a:t>
            </a:r>
            <a:endParaRPr lang="en-US" sz="2900" dirty="0"/>
          </a:p>
        </p:txBody>
      </p:sp>
      <p:sp>
        <p:nvSpPr>
          <p:cNvPr id="5" name="Text 2"/>
          <p:cNvSpPr txBox="1"/>
          <p:nvPr/>
        </p:nvSpPr>
        <p:spPr>
          <a:xfrm>
            <a:off x="640080" y="1371600"/>
            <a:ext cx="10088575" cy="274320"/>
          </a:xfrm>
          <a:prstGeom prst="rect">
            <a:avLst/>
          </a:prstGeom>
          <a:noFill/>
          <a:ln/>
        </p:spPr>
        <p:txBody>
          <a:bodyPr wrap="square" lIns="0" tIns="0" rIns="0" bIns="0" rtlCol="0" anchor="ctr"/>
          <a:lstStyle/>
          <a:p>
            <a:pPr indent="0" marL="0">
              <a:buNone/>
            </a:pPr>
            <a:r>
              <a:rPr lang="en-US" sz="1250" i="1" dirty="0">
                <a:solidFill>
                  <a:srgbClr val="6B7787"/>
                </a:solidFill>
                <a:latin typeface="Calibri" pitchFamily="34" charset="0"/>
                <a:ea typeface="Calibri" pitchFamily="34" charset="-122"/>
                <a:cs typeface="Calibri" pitchFamily="34" charset="-120"/>
              </a:rPr>
              <a:t>Che cosa ho ottenuto, che cosa ne ho imparato e dove andrei adesso</a:t>
            </a:r>
            <a:endParaRPr lang="en-US" sz="1250" dirty="0"/>
          </a:p>
        </p:txBody>
      </p:sp>
      <p:sp>
        <p:nvSpPr>
          <p:cNvPr id="6" name="Text 3"/>
          <p:cNvSpPr txBox="1"/>
          <p:nvPr/>
        </p:nvSpPr>
        <p:spPr>
          <a:xfrm>
            <a:off x="640080" y="6473952"/>
            <a:ext cx="4572000" cy="237744"/>
          </a:xfrm>
          <a:prstGeom prst="rect">
            <a:avLst/>
          </a:prstGeom>
          <a:noFill/>
          <a:ln/>
        </p:spPr>
        <p:txBody>
          <a:bodyPr wrap="square" lIns="0" tIns="0" rIns="0" bIns="0" rtlCol="0" anchor="ctr"/>
          <a:lstStyle/>
          <a:p>
            <a:pPr indent="0" marL="0">
              <a:buNone/>
            </a:pPr>
            <a:r>
              <a:rPr lang="en-US" sz="900" dirty="0">
                <a:solidFill>
                  <a:srgbClr val="A7B3C1"/>
                </a:solidFill>
                <a:latin typeface="Calibri" pitchFamily="34" charset="0"/>
                <a:ea typeface="Calibri" pitchFamily="34" charset="-122"/>
                <a:cs typeface="Calibri" pitchFamily="34" charset="-120"/>
              </a:rPr>
              <a:t>Progetto MIGA  ·  A. Saverino</a:t>
            </a:r>
            <a:endParaRPr lang="en-US" sz="900" dirty="0"/>
          </a:p>
        </p:txBody>
      </p:sp>
      <p:sp>
        <p:nvSpPr>
          <p:cNvPr id="7" name="Text 4"/>
          <p:cNvSpPr txBox="1"/>
          <p:nvPr/>
        </p:nvSpPr>
        <p:spPr>
          <a:xfrm>
            <a:off x="8808415" y="6473952"/>
            <a:ext cx="2743200" cy="237744"/>
          </a:xfrm>
          <a:prstGeom prst="rect">
            <a:avLst/>
          </a:prstGeom>
          <a:noFill/>
          <a:ln/>
        </p:spPr>
        <p:txBody>
          <a:bodyPr wrap="square" lIns="0" tIns="0" rIns="0" bIns="0" rtlCol="0" anchor="ctr"/>
          <a:lstStyle/>
          <a:p>
            <a:pPr algn="r" indent="0" marL="0">
              <a:buNone/>
            </a:pPr>
            <a:r>
              <a:rPr lang="en-US" sz="900" dirty="0">
                <a:solidFill>
                  <a:srgbClr val="A7B3C1"/>
                </a:solidFill>
                <a:latin typeface="Calibri" pitchFamily="34" charset="0"/>
                <a:ea typeface="Calibri" pitchFamily="34" charset="-122"/>
                <a:cs typeface="Calibri" pitchFamily="34" charset="-120"/>
              </a:rPr>
              <a:t>10 / 10</a:t>
            </a:r>
            <a:endParaRPr lang="en-US" sz="900" dirty="0"/>
          </a:p>
        </p:txBody>
      </p:sp>
      <p:sp>
        <p:nvSpPr>
          <p:cNvPr id="8" name="Shape 5"/>
          <p:cNvSpPr/>
          <p:nvPr/>
        </p:nvSpPr>
        <p:spPr>
          <a:xfrm>
            <a:off x="640080" y="1965960"/>
            <a:ext cx="3503066" cy="1600200"/>
          </a:xfrm>
          <a:prstGeom prst="roundRect">
            <a:avLst>
              <a:gd name="adj" fmla="val 4000"/>
            </a:avLst>
          </a:prstGeom>
          <a:solidFill>
            <a:srgbClr val="EDF2F8"/>
          </a:solidFill>
          <a:ln w="12700">
            <a:solidFill>
              <a:srgbClr val="D5DFEA"/>
            </a:solidFill>
            <a:prstDash val="solid"/>
          </a:ln>
        </p:spPr>
      </p:sp>
      <p:sp>
        <p:nvSpPr>
          <p:cNvPr id="9" name="Shape 6"/>
          <p:cNvSpPr/>
          <p:nvPr/>
        </p:nvSpPr>
        <p:spPr>
          <a:xfrm>
            <a:off x="640080" y="2240280"/>
            <a:ext cx="82296" cy="548640"/>
          </a:xfrm>
          <a:prstGeom prst="rect">
            <a:avLst/>
          </a:prstGeom>
          <a:solidFill>
            <a:srgbClr val="1D4E89"/>
          </a:solidFill>
          <a:ln w="12700">
            <a:solidFill>
              <a:srgbClr val="1D4E89"/>
            </a:solidFill>
            <a:prstDash val="solid"/>
          </a:ln>
        </p:spPr>
      </p:sp>
      <p:sp>
        <p:nvSpPr>
          <p:cNvPr id="10" name="Text 7"/>
          <p:cNvSpPr txBox="1"/>
          <p:nvPr/>
        </p:nvSpPr>
        <p:spPr>
          <a:xfrm>
            <a:off x="914400" y="2157984"/>
            <a:ext cx="2954426" cy="219456"/>
          </a:xfrm>
          <a:prstGeom prst="rect">
            <a:avLst/>
          </a:prstGeom>
          <a:noFill/>
          <a:ln/>
        </p:spPr>
        <p:txBody>
          <a:bodyPr wrap="square" lIns="0" tIns="0" rIns="0" bIns="0" rtlCol="0" anchor="ctr"/>
          <a:lstStyle/>
          <a:p>
            <a:pPr indent="0" marL="0">
              <a:buNone/>
            </a:pPr>
            <a:r>
              <a:rPr lang="en-US" sz="900" b="1" spc="140" kern="0" dirty="0">
                <a:solidFill>
                  <a:srgbClr val="1D4E89"/>
                </a:solidFill>
                <a:latin typeface="Calibri" pitchFamily="34" charset="0"/>
                <a:ea typeface="Calibri" pitchFamily="34" charset="-122"/>
                <a:cs typeface="Calibri" pitchFamily="34" charset="-120"/>
              </a:rPr>
              <a:t>PARTE 1 · CF</a:t>
            </a:r>
            <a:endParaRPr lang="en-US" sz="900" dirty="0"/>
          </a:p>
        </p:txBody>
      </p:sp>
      <p:sp>
        <p:nvSpPr>
          <p:cNvPr id="11" name="Text 8"/>
          <p:cNvSpPr txBox="1"/>
          <p:nvPr/>
        </p:nvSpPr>
        <p:spPr>
          <a:xfrm>
            <a:off x="914400" y="2395728"/>
            <a:ext cx="2954426" cy="310896"/>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SVD</a:t>
            </a:r>
            <a:endParaRPr lang="en-US" sz="1600" dirty="0"/>
          </a:p>
        </p:txBody>
      </p:sp>
      <p:sp>
        <p:nvSpPr>
          <p:cNvPr id="12" name="Text 9"/>
          <p:cNvSpPr txBox="1"/>
          <p:nvPr/>
        </p:nvSpPr>
        <p:spPr>
          <a:xfrm>
            <a:off x="914400" y="2743200"/>
            <a:ext cx="2954426" cy="274320"/>
          </a:xfrm>
          <a:prstGeom prst="rect">
            <a:avLst/>
          </a:prstGeom>
          <a:noFill/>
          <a:ln/>
        </p:spPr>
        <p:txBody>
          <a:bodyPr wrap="square" lIns="0" tIns="0" rIns="0" bIns="0" rtlCol="0" anchor="ctr"/>
          <a:lstStyle/>
          <a:p>
            <a:pPr indent="0" marL="0">
              <a:buNone/>
            </a:pPr>
            <a:r>
              <a:rPr lang="en-US" sz="1250" b="1" dirty="0">
                <a:solidFill>
                  <a:srgbClr val="1D4E89"/>
                </a:solidFill>
                <a:latin typeface="Calibri" pitchFamily="34" charset="0"/>
                <a:ea typeface="Calibri" pitchFamily="34" charset="-122"/>
                <a:cs typeface="Calibri" pitchFamily="34" charset="-120"/>
              </a:rPr>
              <a:t>RMSE 0,9401</a:t>
            </a:r>
            <a:endParaRPr lang="en-US" sz="1250" dirty="0"/>
          </a:p>
        </p:txBody>
      </p:sp>
      <p:sp>
        <p:nvSpPr>
          <p:cNvPr id="13" name="Text 10"/>
          <p:cNvSpPr txBox="1"/>
          <p:nvPr/>
        </p:nvSpPr>
        <p:spPr>
          <a:xfrm>
            <a:off x="914400" y="3035808"/>
            <a:ext cx="2954426" cy="384048"/>
          </a:xfrm>
          <a:prstGeom prst="rect">
            <a:avLst/>
          </a:prstGeom>
          <a:noFill/>
          <a:ln/>
        </p:spPr>
        <p:txBody>
          <a:bodyPr wrap="square" lIns="0" tIns="0" rIns="0" bIns="0" rtlCol="0" anchor="ctr"/>
          <a:lstStyle/>
          <a:p>
            <a:pPr indent="0" marL="0">
              <a:lnSpc>
                <a:spcPct val="115000"/>
              </a:lnSpc>
              <a:buNone/>
            </a:pPr>
            <a:r>
              <a:rPr lang="en-US" sz="1000" dirty="0">
                <a:solidFill>
                  <a:srgbClr val="6B7787"/>
                </a:solidFill>
                <a:latin typeface="Calibri" pitchFamily="34" charset="0"/>
                <a:ea typeface="Calibri" pitchFamily="34" charset="-122"/>
                <a:cs typeface="Calibri" pitchFamily="34" charset="-120"/>
              </a:rPr>
              <a:t>50 fattori latenti · batte il K-NN dell'11,6%</a:t>
            </a:r>
            <a:endParaRPr lang="en-US" sz="1000" dirty="0"/>
          </a:p>
        </p:txBody>
      </p:sp>
      <p:sp>
        <p:nvSpPr>
          <p:cNvPr id="14" name="Shape 11"/>
          <p:cNvSpPr/>
          <p:nvPr/>
        </p:nvSpPr>
        <p:spPr>
          <a:xfrm>
            <a:off x="4344314" y="1965960"/>
            <a:ext cx="3503066" cy="1600200"/>
          </a:xfrm>
          <a:prstGeom prst="roundRect">
            <a:avLst>
              <a:gd name="adj" fmla="val 4000"/>
            </a:avLst>
          </a:prstGeom>
          <a:solidFill>
            <a:srgbClr val="EDF2F8"/>
          </a:solidFill>
          <a:ln w="12700">
            <a:solidFill>
              <a:srgbClr val="D5DFEA"/>
            </a:solidFill>
            <a:prstDash val="solid"/>
          </a:ln>
        </p:spPr>
      </p:sp>
      <p:sp>
        <p:nvSpPr>
          <p:cNvPr id="15" name="Shape 12"/>
          <p:cNvSpPr/>
          <p:nvPr/>
        </p:nvSpPr>
        <p:spPr>
          <a:xfrm>
            <a:off x="4344314" y="2240280"/>
            <a:ext cx="82296" cy="548640"/>
          </a:xfrm>
          <a:prstGeom prst="rect">
            <a:avLst/>
          </a:prstGeom>
          <a:solidFill>
            <a:srgbClr val="C98218"/>
          </a:solidFill>
          <a:ln w="12700">
            <a:solidFill>
              <a:srgbClr val="C98218"/>
            </a:solidFill>
            <a:prstDash val="solid"/>
          </a:ln>
        </p:spPr>
      </p:sp>
      <p:sp>
        <p:nvSpPr>
          <p:cNvPr id="16" name="Text 13"/>
          <p:cNvSpPr txBox="1"/>
          <p:nvPr/>
        </p:nvSpPr>
        <p:spPr>
          <a:xfrm>
            <a:off x="4618634" y="2157984"/>
            <a:ext cx="2954426" cy="219456"/>
          </a:xfrm>
          <a:prstGeom prst="rect">
            <a:avLst/>
          </a:prstGeom>
          <a:noFill/>
          <a:ln/>
        </p:spPr>
        <p:txBody>
          <a:bodyPr wrap="square" lIns="0" tIns="0" rIns="0" bIns="0" rtlCol="0" anchor="ctr"/>
          <a:lstStyle/>
          <a:p>
            <a:pPr indent="0" marL="0">
              <a:buNone/>
            </a:pPr>
            <a:r>
              <a:rPr lang="en-US" sz="900" b="1" spc="140" kern="0" dirty="0">
                <a:solidFill>
                  <a:srgbClr val="C98218"/>
                </a:solidFill>
                <a:latin typeface="Calibri" pitchFamily="34" charset="0"/>
                <a:ea typeface="Calibri" pitchFamily="34" charset="-122"/>
                <a:cs typeface="Calibri" pitchFamily="34" charset="-120"/>
              </a:rPr>
              <a:t>PARTE 2 · CB</a:t>
            </a:r>
            <a:endParaRPr lang="en-US" sz="900" dirty="0"/>
          </a:p>
        </p:txBody>
      </p:sp>
      <p:sp>
        <p:nvSpPr>
          <p:cNvPr id="17" name="Text 14"/>
          <p:cNvSpPr txBox="1"/>
          <p:nvPr/>
        </p:nvSpPr>
        <p:spPr>
          <a:xfrm>
            <a:off x="4618634" y="2395728"/>
            <a:ext cx="2954426" cy="310896"/>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TF-IDF ≈ DistilBERT</a:t>
            </a:r>
            <a:endParaRPr lang="en-US" sz="1600" dirty="0"/>
          </a:p>
        </p:txBody>
      </p:sp>
      <p:sp>
        <p:nvSpPr>
          <p:cNvPr id="18" name="Text 15"/>
          <p:cNvSpPr txBox="1"/>
          <p:nvPr/>
        </p:nvSpPr>
        <p:spPr>
          <a:xfrm>
            <a:off x="4618634" y="2743200"/>
            <a:ext cx="2954426" cy="274320"/>
          </a:xfrm>
          <a:prstGeom prst="rect">
            <a:avLst/>
          </a:prstGeom>
          <a:noFill/>
          <a:ln/>
        </p:spPr>
        <p:txBody>
          <a:bodyPr wrap="square" lIns="0" tIns="0" rIns="0" bIns="0" rtlCol="0" anchor="ctr"/>
          <a:lstStyle/>
          <a:p>
            <a:pPr indent="0" marL="0">
              <a:buNone/>
            </a:pPr>
            <a:r>
              <a:rPr lang="en-US" sz="1250" b="1" dirty="0">
                <a:solidFill>
                  <a:srgbClr val="C98218"/>
                </a:solidFill>
                <a:latin typeface="Calibri" pitchFamily="34" charset="0"/>
                <a:ea typeface="Calibri" pitchFamily="34" charset="-122"/>
                <a:cs typeface="Calibri" pitchFamily="34" charset="-120"/>
              </a:rPr>
              <a:t>RMSE 0,9836</a:t>
            </a:r>
            <a:endParaRPr lang="en-US" sz="1250" dirty="0"/>
          </a:p>
        </p:txBody>
      </p:sp>
      <p:sp>
        <p:nvSpPr>
          <p:cNvPr id="19" name="Text 16"/>
          <p:cNvSpPr txBox="1"/>
          <p:nvPr/>
        </p:nvSpPr>
        <p:spPr>
          <a:xfrm>
            <a:off x="4618634" y="3035808"/>
            <a:ext cx="2954426" cy="384048"/>
          </a:xfrm>
          <a:prstGeom prst="rect">
            <a:avLst/>
          </a:prstGeom>
          <a:noFill/>
          <a:ln/>
        </p:spPr>
        <p:txBody>
          <a:bodyPr wrap="square" lIns="0" tIns="0" rIns="0" bIns="0" rtlCol="0" anchor="ctr"/>
          <a:lstStyle/>
          <a:p>
            <a:pPr indent="0" marL="0">
              <a:lnSpc>
                <a:spcPct val="115000"/>
              </a:lnSpc>
              <a:buNone/>
            </a:pPr>
            <a:r>
              <a:rPr lang="en-US" sz="1000" dirty="0">
                <a:solidFill>
                  <a:srgbClr val="6B7787"/>
                </a:solidFill>
                <a:latin typeface="Calibri" pitchFamily="34" charset="0"/>
                <a:ea typeface="Calibri" pitchFamily="34" charset="-122"/>
                <a:cs typeface="Calibri" pitchFamily="34" charset="-120"/>
              </a:rPr>
              <a:t>pareggio · il CB copre il cold-start che il CF non vede</a:t>
            </a:r>
            <a:endParaRPr lang="en-US" sz="1000" dirty="0"/>
          </a:p>
        </p:txBody>
      </p:sp>
      <p:sp>
        <p:nvSpPr>
          <p:cNvPr id="20" name="Shape 17"/>
          <p:cNvSpPr/>
          <p:nvPr/>
        </p:nvSpPr>
        <p:spPr>
          <a:xfrm>
            <a:off x="8048549" y="1965960"/>
            <a:ext cx="3503066" cy="1600200"/>
          </a:xfrm>
          <a:prstGeom prst="roundRect">
            <a:avLst>
              <a:gd name="adj" fmla="val 4000"/>
            </a:avLst>
          </a:prstGeom>
          <a:solidFill>
            <a:srgbClr val="EDF2F8"/>
          </a:solidFill>
          <a:ln w="12700">
            <a:solidFill>
              <a:srgbClr val="D5DFEA"/>
            </a:solidFill>
            <a:prstDash val="solid"/>
          </a:ln>
        </p:spPr>
      </p:sp>
      <p:sp>
        <p:nvSpPr>
          <p:cNvPr id="21" name="Shape 18"/>
          <p:cNvSpPr/>
          <p:nvPr/>
        </p:nvSpPr>
        <p:spPr>
          <a:xfrm>
            <a:off x="8048549" y="2240280"/>
            <a:ext cx="82296" cy="548640"/>
          </a:xfrm>
          <a:prstGeom prst="rect">
            <a:avLst/>
          </a:prstGeom>
          <a:solidFill>
            <a:srgbClr val="1B8476"/>
          </a:solidFill>
          <a:ln w="12700">
            <a:solidFill>
              <a:srgbClr val="1B8476"/>
            </a:solidFill>
            <a:prstDash val="solid"/>
          </a:ln>
        </p:spPr>
      </p:sp>
      <p:sp>
        <p:nvSpPr>
          <p:cNvPr id="22" name="Text 19"/>
          <p:cNvSpPr txBox="1"/>
          <p:nvPr/>
        </p:nvSpPr>
        <p:spPr>
          <a:xfrm>
            <a:off x="8322869" y="2157984"/>
            <a:ext cx="2954426" cy="219456"/>
          </a:xfrm>
          <a:prstGeom prst="rect">
            <a:avLst/>
          </a:prstGeom>
          <a:noFill/>
          <a:ln/>
        </p:spPr>
        <p:txBody>
          <a:bodyPr wrap="square" lIns="0" tIns="0" rIns="0" bIns="0" rtlCol="0" anchor="ctr"/>
          <a:lstStyle/>
          <a:p>
            <a:pPr indent="0" marL="0">
              <a:buNone/>
            </a:pPr>
            <a:r>
              <a:rPr lang="en-US" sz="900" b="1" spc="140" kern="0" dirty="0">
                <a:solidFill>
                  <a:srgbClr val="1B8476"/>
                </a:solidFill>
                <a:latin typeface="Calibri" pitchFamily="34" charset="0"/>
                <a:ea typeface="Calibri" pitchFamily="34" charset="-122"/>
                <a:cs typeface="Calibri" pitchFamily="34" charset="-120"/>
              </a:rPr>
              <a:t>PARTE 3 · SENTIMENT</a:t>
            </a:r>
            <a:endParaRPr lang="en-US" sz="900" dirty="0"/>
          </a:p>
        </p:txBody>
      </p:sp>
      <p:sp>
        <p:nvSpPr>
          <p:cNvPr id="23" name="Text 20"/>
          <p:cNvSpPr txBox="1"/>
          <p:nvPr/>
        </p:nvSpPr>
        <p:spPr>
          <a:xfrm>
            <a:off x="8322869" y="2395728"/>
            <a:ext cx="2954426" cy="310896"/>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Random Forest → LLM</a:t>
            </a:r>
            <a:endParaRPr lang="en-US" sz="1600" dirty="0"/>
          </a:p>
        </p:txBody>
      </p:sp>
      <p:sp>
        <p:nvSpPr>
          <p:cNvPr id="24" name="Text 21"/>
          <p:cNvSpPr txBox="1"/>
          <p:nvPr/>
        </p:nvSpPr>
        <p:spPr>
          <a:xfrm>
            <a:off x="8322869" y="2743200"/>
            <a:ext cx="2954426" cy="274320"/>
          </a:xfrm>
          <a:prstGeom prst="rect">
            <a:avLst/>
          </a:prstGeom>
          <a:noFill/>
          <a:ln/>
        </p:spPr>
        <p:txBody>
          <a:bodyPr wrap="square" lIns="0" tIns="0" rIns="0" bIns="0" rtlCol="0" anchor="ctr"/>
          <a:lstStyle/>
          <a:p>
            <a:pPr indent="0" marL="0">
              <a:buNone/>
            </a:pPr>
            <a:r>
              <a:rPr lang="en-US" sz="1250" b="1" dirty="0">
                <a:solidFill>
                  <a:srgbClr val="1B8476"/>
                </a:solidFill>
                <a:latin typeface="Calibri" pitchFamily="34" charset="0"/>
                <a:ea typeface="Calibri" pitchFamily="34" charset="-122"/>
                <a:cs typeface="Calibri" pitchFamily="34" charset="-120"/>
              </a:rPr>
              <a:t>F1 0,572 → 0,754</a:t>
            </a:r>
            <a:endParaRPr lang="en-US" sz="1250" dirty="0"/>
          </a:p>
        </p:txBody>
      </p:sp>
      <p:sp>
        <p:nvSpPr>
          <p:cNvPr id="25" name="Text 22"/>
          <p:cNvSpPr txBox="1"/>
          <p:nvPr/>
        </p:nvSpPr>
        <p:spPr>
          <a:xfrm>
            <a:off x="8322869" y="3035808"/>
            <a:ext cx="2954426" cy="384048"/>
          </a:xfrm>
          <a:prstGeom prst="rect">
            <a:avLst/>
          </a:prstGeom>
          <a:noFill/>
          <a:ln/>
        </p:spPr>
        <p:txBody>
          <a:bodyPr wrap="square" lIns="0" tIns="0" rIns="0" bIns="0" rtlCol="0" anchor="ctr"/>
          <a:lstStyle/>
          <a:p>
            <a:pPr indent="0" marL="0">
              <a:lnSpc>
                <a:spcPct val="115000"/>
              </a:lnSpc>
              <a:buNone/>
            </a:pPr>
            <a:r>
              <a:rPr lang="en-US" sz="1000" dirty="0">
                <a:solidFill>
                  <a:srgbClr val="6B7787"/>
                </a:solidFill>
                <a:latin typeface="Calibri" pitchFamily="34" charset="0"/>
                <a:ea typeface="Calibri" pitchFamily="34" charset="-122"/>
                <a:cs typeface="Calibri" pitchFamily="34" charset="-120"/>
              </a:rPr>
              <a:t>sulle stesse 300 recensioni, lo zero-shot sblocca il neutro</a:t>
            </a:r>
            <a:endParaRPr lang="en-US" sz="1000" dirty="0"/>
          </a:p>
        </p:txBody>
      </p:sp>
      <p:sp>
        <p:nvSpPr>
          <p:cNvPr id="26" name="Shape 23"/>
          <p:cNvSpPr/>
          <p:nvPr/>
        </p:nvSpPr>
        <p:spPr>
          <a:xfrm>
            <a:off x="640080" y="3749040"/>
            <a:ext cx="10911535" cy="1737360"/>
          </a:xfrm>
          <a:prstGeom prst="roundRect">
            <a:avLst>
              <a:gd name="adj" fmla="val 3684"/>
            </a:avLst>
          </a:prstGeom>
          <a:solidFill>
            <a:srgbClr val="16324F"/>
          </a:solidFill>
          <a:ln w="12700">
            <a:solidFill>
              <a:srgbClr val="16324F"/>
            </a:solidFill>
            <a:prstDash val="solid"/>
          </a:ln>
        </p:spPr>
      </p:sp>
      <p:sp>
        <p:nvSpPr>
          <p:cNvPr id="27" name="Text 24"/>
          <p:cNvSpPr txBox="1"/>
          <p:nvPr/>
        </p:nvSpPr>
        <p:spPr>
          <a:xfrm>
            <a:off x="960120" y="3931920"/>
            <a:ext cx="4572000" cy="219456"/>
          </a:xfrm>
          <a:prstGeom prst="rect">
            <a:avLst/>
          </a:prstGeom>
          <a:noFill/>
          <a:ln/>
        </p:spPr>
        <p:txBody>
          <a:bodyPr wrap="square" lIns="0" tIns="0" rIns="0" bIns="0" rtlCol="0" anchor="ctr"/>
          <a:lstStyle/>
          <a:p>
            <a:pPr indent="0" marL="0">
              <a:buNone/>
            </a:pPr>
            <a:r>
              <a:rPr lang="en-US" sz="900" b="1" spc="160" kern="0" dirty="0">
                <a:solidFill>
                  <a:srgbClr val="7FB0DE"/>
                </a:solidFill>
                <a:latin typeface="Calibri" pitchFamily="34" charset="0"/>
                <a:ea typeface="Calibri" pitchFamily="34" charset="-122"/>
                <a:cs typeface="Calibri" pitchFamily="34" charset="-120"/>
              </a:rPr>
              <a:t>TRE LEZIONI METODOLOGICHE</a:t>
            </a:r>
            <a:endParaRPr lang="en-US" sz="900" dirty="0"/>
          </a:p>
        </p:txBody>
      </p:sp>
      <p:sp>
        <p:nvSpPr>
          <p:cNvPr id="28" name="Text 25"/>
          <p:cNvSpPr txBox="1"/>
          <p:nvPr/>
        </p:nvSpPr>
        <p:spPr>
          <a:xfrm>
            <a:off x="960120" y="4261104"/>
            <a:ext cx="457200" cy="310896"/>
          </a:xfrm>
          <a:prstGeom prst="rect">
            <a:avLst/>
          </a:prstGeom>
          <a:noFill/>
          <a:ln/>
        </p:spPr>
        <p:txBody>
          <a:bodyPr wrap="square" lIns="0" tIns="0" rIns="0" bIns="0" rtlCol="0" anchor="ctr"/>
          <a:lstStyle/>
          <a:p>
            <a:pPr indent="0" marL="0">
              <a:buNone/>
            </a:pPr>
            <a:r>
              <a:rPr lang="en-US" sz="1900" b="1" dirty="0">
                <a:solidFill>
                  <a:srgbClr val="5D89B4"/>
                </a:solidFill>
                <a:latin typeface="Cambria" pitchFamily="34" charset="0"/>
                <a:ea typeface="Cambria" pitchFamily="34" charset="-122"/>
                <a:cs typeface="Cambria" pitchFamily="34" charset="-120"/>
              </a:rPr>
              <a:t>01</a:t>
            </a:r>
            <a:endParaRPr lang="en-US" sz="1900" dirty="0"/>
          </a:p>
        </p:txBody>
      </p:sp>
      <p:sp>
        <p:nvSpPr>
          <p:cNvPr id="29" name="Text 26"/>
          <p:cNvSpPr txBox="1"/>
          <p:nvPr/>
        </p:nvSpPr>
        <p:spPr>
          <a:xfrm>
            <a:off x="1463040" y="4261104"/>
            <a:ext cx="274320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Il modello complesso non vince sempre</a:t>
            </a:r>
            <a:endParaRPr lang="en-US" sz="1150" dirty="0"/>
          </a:p>
        </p:txBody>
      </p:sp>
      <p:sp>
        <p:nvSpPr>
          <p:cNvPr id="30" name="Text 27"/>
          <p:cNvSpPr txBox="1"/>
          <p:nvPr/>
        </p:nvSpPr>
        <p:spPr>
          <a:xfrm>
            <a:off x="1463040" y="4626864"/>
            <a:ext cx="2743200" cy="640080"/>
          </a:xfrm>
          <a:prstGeom prst="rect">
            <a:avLst/>
          </a:prstGeom>
          <a:noFill/>
          <a:ln/>
        </p:spPr>
        <p:txBody>
          <a:bodyPr wrap="square" lIns="0" tIns="0" rIns="0" bIns="0" rtlCol="0" anchor="ctr"/>
          <a:lstStyle/>
          <a:p>
            <a:pPr indent="0" marL="0">
              <a:lnSpc>
                <a:spcPct val="120000"/>
              </a:lnSpc>
              <a:buNone/>
            </a:pPr>
            <a:r>
              <a:rPr lang="en-US" sz="1000" dirty="0">
                <a:solidFill>
                  <a:srgbClr val="9DB4CB"/>
                </a:solidFill>
                <a:latin typeface="Calibri" pitchFamily="34" charset="0"/>
                <a:ea typeface="Calibri" pitchFamily="34" charset="-122"/>
                <a:cs typeface="Calibri" pitchFamily="34" charset="-120"/>
              </a:rPr>
              <a:t>Il TF-IDF sparso pareggia i transformer, e sulla previsione dei voti l'SVD batte tutto il resto.</a:t>
            </a:r>
            <a:endParaRPr lang="en-US" sz="1000" dirty="0"/>
          </a:p>
        </p:txBody>
      </p:sp>
      <p:sp>
        <p:nvSpPr>
          <p:cNvPr id="31" name="Text 28"/>
          <p:cNvSpPr txBox="1"/>
          <p:nvPr/>
        </p:nvSpPr>
        <p:spPr>
          <a:xfrm>
            <a:off x="4480560" y="4261104"/>
            <a:ext cx="457200" cy="310896"/>
          </a:xfrm>
          <a:prstGeom prst="rect">
            <a:avLst/>
          </a:prstGeom>
          <a:noFill/>
          <a:ln/>
        </p:spPr>
        <p:txBody>
          <a:bodyPr wrap="square" lIns="0" tIns="0" rIns="0" bIns="0" rtlCol="0" anchor="ctr"/>
          <a:lstStyle/>
          <a:p>
            <a:pPr indent="0" marL="0">
              <a:buNone/>
            </a:pPr>
            <a:r>
              <a:rPr lang="en-US" sz="1900" b="1" dirty="0">
                <a:solidFill>
                  <a:srgbClr val="5D89B4"/>
                </a:solidFill>
                <a:latin typeface="Cambria" pitchFamily="34" charset="0"/>
                <a:ea typeface="Cambria" pitchFamily="34" charset="-122"/>
                <a:cs typeface="Cambria" pitchFamily="34" charset="-120"/>
              </a:rPr>
              <a:t>02</a:t>
            </a:r>
            <a:endParaRPr lang="en-US" sz="1900" dirty="0"/>
          </a:p>
        </p:txBody>
      </p:sp>
      <p:sp>
        <p:nvSpPr>
          <p:cNvPr id="32" name="Text 29"/>
          <p:cNvSpPr txBox="1"/>
          <p:nvPr/>
        </p:nvSpPr>
        <p:spPr>
          <a:xfrm>
            <a:off x="4983480" y="4261104"/>
            <a:ext cx="274320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 classi rare serve una metrica onesta</a:t>
            </a:r>
            <a:endParaRPr lang="en-US" sz="1150" dirty="0"/>
          </a:p>
        </p:txBody>
      </p:sp>
      <p:sp>
        <p:nvSpPr>
          <p:cNvPr id="33" name="Text 30"/>
          <p:cNvSpPr txBox="1"/>
          <p:nvPr/>
        </p:nvSpPr>
        <p:spPr>
          <a:xfrm>
            <a:off x="4983480" y="4626864"/>
            <a:ext cx="2743200" cy="640080"/>
          </a:xfrm>
          <a:prstGeom prst="rect">
            <a:avLst/>
          </a:prstGeom>
          <a:noFill/>
          <a:ln/>
        </p:spPr>
        <p:txBody>
          <a:bodyPr wrap="square" lIns="0" tIns="0" rIns="0" bIns="0" rtlCol="0" anchor="ctr"/>
          <a:lstStyle/>
          <a:p>
            <a:pPr indent="0" marL="0">
              <a:lnSpc>
                <a:spcPct val="120000"/>
              </a:lnSpc>
              <a:buNone/>
            </a:pPr>
            <a:r>
              <a:rPr lang="en-US" sz="1000" dirty="0">
                <a:solidFill>
                  <a:srgbClr val="9DB4CB"/>
                </a:solidFill>
                <a:latin typeface="Calibri" pitchFamily="34" charset="0"/>
                <a:ea typeface="Calibri" pitchFamily="34" charset="-122"/>
                <a:cs typeface="Calibri" pitchFamily="34" charset="-120"/>
              </a:rPr>
              <a:t>La F1 macro al posto dell'accuracy: chi ignora le classi piccole viene punito, non premiato.</a:t>
            </a:r>
            <a:endParaRPr lang="en-US" sz="1000" dirty="0"/>
          </a:p>
        </p:txBody>
      </p:sp>
      <p:sp>
        <p:nvSpPr>
          <p:cNvPr id="34" name="Text 31"/>
          <p:cNvSpPr txBox="1"/>
          <p:nvPr/>
        </p:nvSpPr>
        <p:spPr>
          <a:xfrm>
            <a:off x="8001000" y="4261104"/>
            <a:ext cx="457200" cy="310896"/>
          </a:xfrm>
          <a:prstGeom prst="rect">
            <a:avLst/>
          </a:prstGeom>
          <a:noFill/>
          <a:ln/>
        </p:spPr>
        <p:txBody>
          <a:bodyPr wrap="square" lIns="0" tIns="0" rIns="0" bIns="0" rtlCol="0" anchor="ctr"/>
          <a:lstStyle/>
          <a:p>
            <a:pPr indent="0" marL="0">
              <a:buNone/>
            </a:pPr>
            <a:r>
              <a:rPr lang="en-US" sz="1900" b="1" dirty="0">
                <a:solidFill>
                  <a:srgbClr val="5D89B4"/>
                </a:solidFill>
                <a:latin typeface="Cambria" pitchFamily="34" charset="0"/>
                <a:ea typeface="Cambria" pitchFamily="34" charset="-122"/>
                <a:cs typeface="Cambria" pitchFamily="34" charset="-120"/>
              </a:rPr>
              <a:t>03</a:t>
            </a:r>
            <a:endParaRPr lang="en-US" sz="1900" dirty="0"/>
          </a:p>
        </p:txBody>
      </p:sp>
      <p:sp>
        <p:nvSpPr>
          <p:cNvPr id="35" name="Text 32"/>
          <p:cNvSpPr txBox="1"/>
          <p:nvPr/>
        </p:nvSpPr>
        <p:spPr>
          <a:xfrm>
            <a:off x="8503920" y="4261104"/>
            <a:ext cx="274320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Le scelte vanno verificate, non assunte</a:t>
            </a:r>
            <a:endParaRPr lang="en-US" sz="1150" dirty="0"/>
          </a:p>
        </p:txBody>
      </p:sp>
      <p:sp>
        <p:nvSpPr>
          <p:cNvPr id="36" name="Text 33"/>
          <p:cNvSpPr txBox="1"/>
          <p:nvPr/>
        </p:nvSpPr>
        <p:spPr>
          <a:xfrm>
            <a:off x="8503920" y="4626864"/>
            <a:ext cx="2743200" cy="640080"/>
          </a:xfrm>
          <a:prstGeom prst="rect">
            <a:avLst/>
          </a:prstGeom>
          <a:noFill/>
          <a:ln/>
        </p:spPr>
        <p:txBody>
          <a:bodyPr wrap="square" lIns="0" tIns="0" rIns="0" bIns="0" rtlCol="0" anchor="ctr"/>
          <a:lstStyle/>
          <a:p>
            <a:pPr indent="0" marL="0">
              <a:lnSpc>
                <a:spcPct val="120000"/>
              </a:lnSpc>
              <a:buNone/>
            </a:pPr>
            <a:r>
              <a:rPr lang="en-US" sz="1000" dirty="0">
                <a:solidFill>
                  <a:srgbClr val="9DB4CB"/>
                </a:solidFill>
                <a:latin typeface="Calibri" pitchFamily="34" charset="0"/>
                <a:ea typeface="Calibri" pitchFamily="34" charset="-122"/>
                <a:cs typeface="Calibri" pitchFamily="34" charset="-120"/>
              </a:rPr>
              <a:t>I tetti dimensionali erano un ripiego di memoria: il test dedicato li ha promossi a scelta giusta.</a:t>
            </a:r>
            <a:endParaRPr lang="en-US" sz="1000" dirty="0"/>
          </a:p>
        </p:txBody>
      </p:sp>
      <p:sp>
        <p:nvSpPr>
          <p:cNvPr id="37" name="Shape 34"/>
          <p:cNvSpPr/>
          <p:nvPr/>
        </p:nvSpPr>
        <p:spPr>
          <a:xfrm>
            <a:off x="640080" y="5669280"/>
            <a:ext cx="10911535" cy="566928"/>
          </a:xfrm>
          <a:prstGeom prst="roundRect">
            <a:avLst>
              <a:gd name="adj" fmla="val 11290"/>
            </a:avLst>
          </a:prstGeom>
          <a:solidFill>
            <a:srgbClr val="F3F7FB"/>
          </a:solidFill>
          <a:ln w="12700">
            <a:solidFill>
              <a:srgbClr val="D5DFEA"/>
            </a:solidFill>
            <a:prstDash val="solid"/>
          </a:ln>
        </p:spPr>
      </p:sp>
      <p:sp>
        <p:nvSpPr>
          <p:cNvPr id="38" name="Text 35"/>
          <p:cNvSpPr txBox="1"/>
          <p:nvPr/>
        </p:nvSpPr>
        <p:spPr>
          <a:xfrm>
            <a:off x="914400" y="5669280"/>
            <a:ext cx="1645920" cy="566928"/>
          </a:xfrm>
          <a:prstGeom prst="rect">
            <a:avLst/>
          </a:prstGeom>
          <a:noFill/>
          <a:ln/>
        </p:spPr>
        <p:txBody>
          <a:bodyPr wrap="square" lIns="0" tIns="0" rIns="0" bIns="0" rtlCol="0" anchor="ctr"/>
          <a:lstStyle/>
          <a:p>
            <a:pPr indent="0" marL="0">
              <a:buNone/>
            </a:pPr>
            <a:r>
              <a:rPr lang="en-US" sz="900" b="1" spc="140" kern="0" dirty="0">
                <a:solidFill>
                  <a:srgbClr val="6B7787"/>
                </a:solidFill>
                <a:latin typeface="Calibri" pitchFamily="34" charset="0"/>
                <a:ea typeface="Calibri" pitchFamily="34" charset="-122"/>
                <a:cs typeface="Calibri" pitchFamily="34" charset="-120"/>
              </a:rPr>
              <a:t>PROSSIMI PASSI</a:t>
            </a:r>
            <a:endParaRPr lang="en-US" sz="900" dirty="0"/>
          </a:p>
        </p:txBody>
      </p:sp>
      <p:sp>
        <p:nvSpPr>
          <p:cNvPr id="39" name="Text 36"/>
          <p:cNvSpPr txBox="1"/>
          <p:nvPr/>
        </p:nvSpPr>
        <p:spPr>
          <a:xfrm>
            <a:off x="2651760" y="5669280"/>
            <a:ext cx="8625535" cy="566928"/>
          </a:xfrm>
          <a:prstGeom prst="rect">
            <a:avLst/>
          </a:prstGeom>
          <a:noFill/>
          <a:ln/>
        </p:spPr>
        <p:txBody>
          <a:bodyPr wrap="square" lIns="0" tIns="0" rIns="0" bIns="0" rtlCol="0" anchor="ctr"/>
          <a:lstStyle/>
          <a:p>
            <a:pPr indent="0" marL="0">
              <a:buNone/>
            </a:pPr>
            <a:r>
              <a:rPr lang="en-US" sz="1150" dirty="0">
                <a:solidFill>
                  <a:srgbClr val="1F2A37"/>
                </a:solidFill>
                <a:latin typeface="Calibri" pitchFamily="34" charset="0"/>
                <a:ea typeface="Calibri" pitchFamily="34" charset="-122"/>
                <a:cs typeface="Calibri" pitchFamily="34" charset="-120"/>
              </a:rPr>
              <a:t>sistema ibrido CF + content-based  ·  classificatore lineare pesato per il sentiment  ·  LLM few-shot su un campione più ampio</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di raccomandazione e analisi del sentiment</dc:title>
  <dc:subject>PptxGenJS Presentation</dc:subject>
  <dc:creator>Andrea Saverino</dc:creator>
  <cp:lastModifiedBy>Andrea Saverino</cp:lastModifiedBy>
  <cp:revision>1</cp:revision>
  <dcterms:created xsi:type="dcterms:W3CDTF">2026-09-05T12:51:49Z</dcterms:created>
  <dcterms:modified xsi:type="dcterms:W3CDTF">2026-09-05T12:51:49Z</dcterms:modified>
</cp:coreProperties>
</file>